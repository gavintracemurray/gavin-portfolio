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 id="2147483675" r:id="rId2"/>
  </p:sldMasterIdLst>
  <p:notesMasterIdLst>
    <p:notesMasterId r:id="rId27"/>
  </p:notesMasterIdLst>
  <p:sldIdLst>
    <p:sldId id="256" r:id="rId3"/>
    <p:sldId id="257" r:id="rId4"/>
    <p:sldId id="307" r:id="rId5"/>
    <p:sldId id="259" r:id="rId6"/>
    <p:sldId id="305" r:id="rId7"/>
    <p:sldId id="291" r:id="rId8"/>
    <p:sldId id="293" r:id="rId9"/>
    <p:sldId id="294" r:id="rId10"/>
    <p:sldId id="296" r:id="rId11"/>
    <p:sldId id="297" r:id="rId12"/>
    <p:sldId id="295" r:id="rId13"/>
    <p:sldId id="298" r:id="rId14"/>
    <p:sldId id="299" r:id="rId15"/>
    <p:sldId id="300" r:id="rId16"/>
    <p:sldId id="261" r:id="rId17"/>
    <p:sldId id="306" r:id="rId18"/>
    <p:sldId id="263" r:id="rId19"/>
    <p:sldId id="301" r:id="rId20"/>
    <p:sldId id="302" r:id="rId21"/>
    <p:sldId id="304" r:id="rId22"/>
    <p:sldId id="308" r:id="rId23"/>
    <p:sldId id="310" r:id="rId24"/>
    <p:sldId id="303" r:id="rId25"/>
    <p:sldId id="290" r:id="rId26"/>
  </p:sldIdLst>
  <p:sldSz cx="9144000" cy="5143500" type="screen16x9"/>
  <p:notesSz cx="6858000" cy="9144000"/>
  <p:embeddedFontLst>
    <p:embeddedFont>
      <p:font typeface="Abadi" panose="020B0604020104020204" pitchFamily="34" charset="0"/>
      <p:regular r:id="rId28"/>
    </p:embeddedFont>
    <p:embeddedFont>
      <p:font typeface="Cambria" panose="02040503050406030204" pitchFamily="18" charset="0"/>
      <p:regular r:id="rId29"/>
      <p:bold r:id="rId30"/>
      <p:italic r:id="rId31"/>
      <p:boldItalic r:id="rId32"/>
    </p:embeddedFont>
    <p:embeddedFont>
      <p:font typeface="Cambria Math" panose="02040503050406030204" pitchFamily="18" charset="0"/>
      <p:regular r:id="rId33"/>
    </p:embeddedFont>
    <p:embeddedFont>
      <p:font typeface="Fira Sans Extra Condensed Medium" panose="020B0604020202020204" charset="0"/>
      <p:regular r:id="rId34"/>
      <p:bold r:id="rId35"/>
      <p:italic r:id="rId36"/>
      <p:boldItalic r:id="rId37"/>
    </p:embeddedFont>
    <p:embeddedFont>
      <p:font typeface="Nunito Light" pitchFamily="2" charset="0"/>
      <p:regular r:id="rId38"/>
      <p:italic r:id="rId39"/>
    </p:embeddedFont>
    <p:embeddedFont>
      <p:font typeface="Nunito Sans" pitchFamily="2" charset="0"/>
      <p:regular r:id="rId40"/>
      <p:bold r:id="rId41"/>
      <p:italic r:id="rId42"/>
      <p:boldItalic r:id="rId43"/>
    </p:embeddedFont>
    <p:embeddedFont>
      <p:font typeface="Nunito Sans Light" pitchFamily="2" charset="0"/>
      <p:regular r:id="rId44"/>
      <p:bold r:id="rId45"/>
      <p:italic r:id="rId46"/>
      <p:boldItalic r:id="rId47"/>
    </p:embeddedFont>
    <p:embeddedFont>
      <p:font typeface="Nunito Sans SemiBold" pitchFamily="2" charset="0"/>
      <p:bold r:id="rId48"/>
      <p:boldItalic r:id="rId49"/>
    </p:embeddedFont>
    <p:embeddedFont>
      <p:font typeface="Proxima Nova" panose="020B0604020202020204" charset="0"/>
      <p:regular r:id="rId50"/>
      <p:bold r:id="rId51"/>
      <p:italic r:id="rId52"/>
      <p:boldItalic r:id="rId53"/>
    </p:embeddedFont>
    <p:embeddedFont>
      <p:font typeface="Proxima Nova Semibold" panose="020B0604020202020204" charset="0"/>
      <p:regular r:id="rId54"/>
      <p:bold r:id="rId55"/>
      <p:boldItalic r:id="rId56"/>
    </p:embeddedFont>
    <p:embeddedFont>
      <p:font typeface="Roboto Condensed Light" panose="02000000000000000000" pitchFamily="2" charset="0"/>
      <p:regular r:id="rId57"/>
      <p: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D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225D4D-442F-4C41-8114-E150F3811608}">
  <a:tblStyle styleId="{B6225D4D-442F-4C41-8114-E150F381160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43" y="9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2.fntdata"/><Relationship Id="rId21" Type="http://schemas.openxmlformats.org/officeDocument/2006/relationships/slide" Target="slides/slide19.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font" Target="fonts/font23.fntdata"/><Relationship Id="rId55" Type="http://schemas.openxmlformats.org/officeDocument/2006/relationships/font" Target="fonts/font28.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2.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font" Target="fonts/font26.fntdata"/><Relationship Id="rId58" Type="http://schemas.openxmlformats.org/officeDocument/2006/relationships/font" Target="fonts/font31.fntdata"/><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56" Type="http://schemas.openxmlformats.org/officeDocument/2006/relationships/font" Target="fonts/font29.fntdata"/><Relationship Id="rId8" Type="http://schemas.openxmlformats.org/officeDocument/2006/relationships/slide" Target="slides/slide6.xml"/><Relationship Id="rId51" Type="http://schemas.openxmlformats.org/officeDocument/2006/relationships/font" Target="fonts/font2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14.fntdata"/><Relationship Id="rId54" Type="http://schemas.openxmlformats.org/officeDocument/2006/relationships/font" Target="fonts/font27.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57" Type="http://schemas.openxmlformats.org/officeDocument/2006/relationships/font" Target="fonts/font30.fntdata"/><Relationship Id="rId10" Type="http://schemas.openxmlformats.org/officeDocument/2006/relationships/slide" Target="slides/slide8.xml"/><Relationship Id="rId31" Type="http://schemas.openxmlformats.org/officeDocument/2006/relationships/font" Target="fonts/font4.fntdata"/><Relationship Id="rId44" Type="http://schemas.openxmlformats.org/officeDocument/2006/relationships/font" Target="fonts/font17.fntdata"/><Relationship Id="rId52" Type="http://schemas.openxmlformats.org/officeDocument/2006/relationships/font" Target="fonts/font25.fntdata"/><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6ba719071f_1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6ba719071f_1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7592669a8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7592669a8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133C1B3B-DCB6-3F72-F369-0147E402AF1C}"/>
            </a:ext>
          </a:extLst>
        </p:cNvPr>
        <p:cNvGrpSpPr/>
        <p:nvPr/>
      </p:nvGrpSpPr>
      <p:grpSpPr>
        <a:xfrm>
          <a:off x="0" y="0"/>
          <a:ext cx="0" cy="0"/>
          <a:chOff x="0" y="0"/>
          <a:chExt cx="0" cy="0"/>
        </a:xfrm>
      </p:grpSpPr>
      <p:sp>
        <p:nvSpPr>
          <p:cNvPr id="187" name="Google Shape;187;g7592669a89_0_10:notes">
            <a:extLst>
              <a:ext uri="{FF2B5EF4-FFF2-40B4-BE49-F238E27FC236}">
                <a16:creationId xmlns:a16="http://schemas.microsoft.com/office/drawing/2014/main" id="{B7D98056-7EAD-C57E-2954-039EC4FF30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7592669a89_0_10:notes">
            <a:extLst>
              <a:ext uri="{FF2B5EF4-FFF2-40B4-BE49-F238E27FC236}">
                <a16:creationId xmlns:a16="http://schemas.microsoft.com/office/drawing/2014/main" id="{AFB8270F-36FB-062C-CDC2-BAE2C9E63B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8992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4f68be72e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4f68be72e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3B17AFE2-ADB0-1335-ACA0-F8ACC45FEF66}"/>
            </a:ext>
          </a:extLst>
        </p:cNvPr>
        <p:cNvGrpSpPr/>
        <p:nvPr/>
      </p:nvGrpSpPr>
      <p:grpSpPr>
        <a:xfrm>
          <a:off x="0" y="0"/>
          <a:ext cx="0" cy="0"/>
          <a:chOff x="0" y="0"/>
          <a:chExt cx="0" cy="0"/>
        </a:xfrm>
      </p:grpSpPr>
      <p:sp>
        <p:nvSpPr>
          <p:cNvPr id="254" name="Google Shape;254;g34f68be72e9_0_15:notes">
            <a:extLst>
              <a:ext uri="{FF2B5EF4-FFF2-40B4-BE49-F238E27FC236}">
                <a16:creationId xmlns:a16="http://schemas.microsoft.com/office/drawing/2014/main" id="{B30670BF-8478-2242-EE2A-9333B2BBF7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4f68be72e9_0_15:notes">
            <a:extLst>
              <a:ext uri="{FF2B5EF4-FFF2-40B4-BE49-F238E27FC236}">
                <a16:creationId xmlns:a16="http://schemas.microsoft.com/office/drawing/2014/main" id="{9E612BC7-6196-AB7C-0B8D-773F320B59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1620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1: Goal Capture the distribution of where on the field kicks tend to happen</a:t>
            </a:r>
          </a:p>
          <a:p>
            <a:r>
              <a:rPr lang="en-US" dirty="0"/>
              <a:t>2. We don’t have the exact distances from the data only how many fall into yardage bins.</a:t>
            </a:r>
          </a:p>
          <a:p>
            <a:pPr marL="158750" indent="0">
              <a:buNone/>
            </a:pPr>
            <a:endParaRPr lang="en-US" dirty="0"/>
          </a:p>
        </p:txBody>
      </p:sp>
    </p:spTree>
    <p:extLst>
      <p:ext uri="{BB962C8B-B14F-4D97-AF65-F5344CB8AC3E}">
        <p14:creationId xmlns:p14="http://schemas.microsoft.com/office/powerpoint/2010/main" val="2173784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don’t know the exact distances only what bin they fall into. So for each bin, we calculate the probability a kick falls into a bin by integrating the Beta curve over that bin. i.e. the difference between the Beta CDF at the bin edges.  This tells us how likely kicks are from each yardage range. These bin probabilities </a:t>
            </a:r>
            <a:r>
              <a:rPr lang="en-US" dirty="0" err="1"/>
              <a:t>ϕk</a:t>
            </a:r>
            <a:r>
              <a:rPr lang="en-US" dirty="0"/>
              <a:t>\</a:t>
            </a:r>
            <a:r>
              <a:rPr lang="en-US" dirty="0" err="1"/>
              <a:t>phi_kϕk</a:t>
            </a:r>
            <a:r>
              <a:rPr lang="en-US" dirty="0"/>
              <a:t>​ represent how field goal attempts are distributed across the field.</a:t>
            </a:r>
          </a:p>
        </p:txBody>
      </p:sp>
    </p:spTree>
    <p:extLst>
      <p:ext uri="{BB962C8B-B14F-4D97-AF65-F5344CB8AC3E}">
        <p14:creationId xmlns:p14="http://schemas.microsoft.com/office/powerpoint/2010/main" val="2946008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Multinomial </a:t>
            </a:r>
            <a:r>
              <a:rPr lang="en-US" dirty="0" err="1"/>
              <a:t>bc</a:t>
            </a:r>
            <a:r>
              <a:rPr lang="en-US" dirty="0"/>
              <a:t> </a:t>
            </a:r>
            <a:r>
              <a:rPr lang="en-US" dirty="0" err="1"/>
              <a:t>theres</a:t>
            </a:r>
            <a:r>
              <a:rPr lang="en-US" dirty="0"/>
              <a:t> a fixed # of </a:t>
            </a:r>
            <a:r>
              <a:rPr lang="en-US" dirty="0" err="1"/>
              <a:t>fgs</a:t>
            </a:r>
            <a:r>
              <a:rPr lang="en-US" dirty="0"/>
              <a:t> into non overlapping bins, where each attempt must fall into exactly one bin. Binomial </a:t>
            </a:r>
            <a:r>
              <a:rPr lang="en-US" dirty="0" err="1"/>
              <a:t>bc</a:t>
            </a:r>
            <a:r>
              <a:rPr lang="en-US" dirty="0"/>
              <a:t> number of kicks and number of successes</a:t>
            </a:r>
          </a:p>
        </p:txBody>
      </p:sp>
    </p:spTree>
    <p:extLst>
      <p:ext uri="{BB962C8B-B14F-4D97-AF65-F5344CB8AC3E}">
        <p14:creationId xmlns:p14="http://schemas.microsoft.com/office/powerpoint/2010/main" val="1635084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988E6-599B-9694-461E-DE93ECF87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3AC7A-9958-1124-3283-1C5EA7CB285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C2DF775-4A20-6236-A4E5-3B680729D7AF}"/>
              </a:ext>
            </a:extLst>
          </p:cNvPr>
          <p:cNvSpPr>
            <a:spLocks noGrp="1"/>
          </p:cNvSpPr>
          <p:nvPr>
            <p:ph type="body" idx="1"/>
          </p:nvPr>
        </p:nvSpPr>
        <p:spPr/>
        <p:txBody>
          <a:bodyPr/>
          <a:lstStyle/>
          <a:p>
            <a:pPr marL="158750" indent="0">
              <a:buNone/>
            </a:pPr>
            <a:r>
              <a:rPr lang="en-US" dirty="0"/>
              <a:t>Phi = Probability that a random attempt falls into bin k</a:t>
            </a:r>
          </a:p>
        </p:txBody>
      </p:sp>
    </p:spTree>
    <p:extLst>
      <p:ext uri="{BB962C8B-B14F-4D97-AF65-F5344CB8AC3E}">
        <p14:creationId xmlns:p14="http://schemas.microsoft.com/office/powerpoint/2010/main" val="3684329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CD84C-82BE-B0D3-08A8-2C41ECF45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2B3DB-3916-50C8-F78B-5F371D93B7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C63DDAE-47D2-7DC1-A91C-A67421E8F276}"/>
              </a:ext>
            </a:extLst>
          </p:cNvPr>
          <p:cNvSpPr>
            <a:spLocks noGrp="1"/>
          </p:cNvSpPr>
          <p:nvPr>
            <p:ph type="body" idx="1"/>
          </p:nvPr>
        </p:nvSpPr>
        <p:spPr/>
        <p:txBody>
          <a:bodyPr/>
          <a:lstStyle/>
          <a:p>
            <a:r>
              <a:rPr lang="en-US" dirty="0"/>
              <a:t>Probability of making a kick depends smoothly on distance through this logistic curve</a:t>
            </a:r>
          </a:p>
          <a:p>
            <a:r>
              <a:rPr lang="en-US" dirty="0"/>
              <a:t>This defines the </a:t>
            </a:r>
            <a:r>
              <a:rPr lang="en-US" b="1" dirty="0"/>
              <a:t>probability of a made field goal</a:t>
            </a:r>
            <a:r>
              <a:rPr lang="en-US" dirty="0"/>
              <a:t> in bin k, weighted by the attempt distribution and the success probability.</a:t>
            </a:r>
          </a:p>
          <a:p>
            <a:endParaRPr lang="en-US" dirty="0"/>
          </a:p>
          <a:p>
            <a:r>
              <a:rPr lang="en-US" dirty="0"/>
              <a:t>Expected value over the bin because we don’t know the exact x (distance) only the bin. Gives us an average chance of success for each bin based on distance</a:t>
            </a:r>
          </a:p>
        </p:txBody>
      </p:sp>
    </p:spTree>
    <p:extLst>
      <p:ext uri="{BB962C8B-B14F-4D97-AF65-F5344CB8AC3E}">
        <p14:creationId xmlns:p14="http://schemas.microsoft.com/office/powerpoint/2010/main" val="1720743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t>
            </a:r>
            <a:r>
              <a:rPr lang="en-US" b="1" dirty="0"/>
              <a:t>By inferring the parameters, we use the observed kicking data to estimate the most likely shape of the attempt distances and the success probability curve.</a:t>
            </a:r>
            <a:r>
              <a:rPr lang="en-US" dirty="0"/>
              <a:t>“</a:t>
            </a:r>
          </a:p>
          <a:p>
            <a:endParaRPr lang="en-US" dirty="0"/>
          </a:p>
        </p:txBody>
      </p:sp>
    </p:spTree>
    <p:extLst>
      <p:ext uri="{BB962C8B-B14F-4D97-AF65-F5344CB8AC3E}">
        <p14:creationId xmlns:p14="http://schemas.microsoft.com/office/powerpoint/2010/main" val="1275585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FAE52-EBB6-D680-203D-F001D0CC1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382E5-0940-53F3-C51D-3D08A1060D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3451B17-07B0-7C42-1B1C-586C2ADA1DAF}"/>
              </a:ext>
            </a:extLst>
          </p:cNvPr>
          <p:cNvSpPr>
            <a:spLocks noGrp="1"/>
          </p:cNvSpPr>
          <p:nvPr>
            <p:ph type="body" idx="1"/>
          </p:nvPr>
        </p:nvSpPr>
        <p:spPr/>
        <p:txBody>
          <a:bodyPr/>
          <a:lstStyle/>
          <a:p>
            <a:r>
              <a:rPr lang="en-US" dirty="0"/>
              <a:t>We don’t know the exact distances only what bin they fall into. So for each bin, we calculate the probability a kick falls into a bin by integrating the Beta curve over that bin. i.e. the difference between the Beta CDF at the bin edges.</a:t>
            </a:r>
          </a:p>
        </p:txBody>
      </p:sp>
    </p:spTree>
    <p:extLst>
      <p:ext uri="{BB962C8B-B14F-4D97-AF65-F5344CB8AC3E}">
        <p14:creationId xmlns:p14="http://schemas.microsoft.com/office/powerpoint/2010/main" val="3850947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14E20-AB15-E737-4B94-3945A34C6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BF293-77CA-4F57-0503-CCBF8B12D50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7C2983E-58E8-C95C-22A9-8A61BBEC186A}"/>
              </a:ext>
            </a:extLst>
          </p:cNvPr>
          <p:cNvSpPr>
            <a:spLocks noGrp="1"/>
          </p:cNvSpPr>
          <p:nvPr>
            <p:ph type="body" idx="1"/>
          </p:nvPr>
        </p:nvSpPr>
        <p:spPr/>
        <p:txBody>
          <a:bodyPr/>
          <a:lstStyle/>
          <a:p>
            <a:pPr>
              <a:buNone/>
            </a:pPr>
            <a:r>
              <a:rPr lang="en-US" b="1" dirty="0"/>
              <a:t>Binomial term</a:t>
            </a:r>
            <a:r>
              <a:rPr lang="en-US" dirty="0"/>
              <a:t>: models the number of made kicks </a:t>
            </a:r>
            <a:r>
              <a:rPr lang="en-US" dirty="0" err="1"/>
              <a:t>mk</a:t>
            </a:r>
            <a:r>
              <a:rPr lang="en-US" dirty="0"/>
              <a:t> given attempts </a:t>
            </a:r>
            <a:r>
              <a:rPr lang="en-US" dirty="0" err="1"/>
              <a:t>nk</a:t>
            </a:r>
            <a:r>
              <a:rPr lang="en-US" dirty="0"/>
              <a:t> and success probability pk​ (from logistic function).</a:t>
            </a:r>
          </a:p>
          <a:p>
            <a:r>
              <a:rPr lang="en-US" b="1" dirty="0"/>
              <a:t>Multinomial term</a:t>
            </a:r>
            <a:r>
              <a:rPr lang="en-US" dirty="0"/>
              <a:t>: models the number of attempts in each bin </a:t>
            </a:r>
            <a:r>
              <a:rPr lang="en-US" dirty="0" err="1"/>
              <a:t>nkn_knk</a:t>
            </a:r>
            <a:r>
              <a:rPr lang="en-US" dirty="0"/>
              <a:t>​ based on the probability </a:t>
            </a:r>
            <a:r>
              <a:rPr lang="el-GR" dirty="0"/>
              <a:t>ϕ</a:t>
            </a:r>
            <a:r>
              <a:rPr lang="en-US" dirty="0"/>
              <a:t>k​ (from Beta distribution).</a:t>
            </a:r>
          </a:p>
        </p:txBody>
      </p:sp>
    </p:spTree>
    <p:extLst>
      <p:ext uri="{BB962C8B-B14F-4D97-AF65-F5344CB8AC3E}">
        <p14:creationId xmlns:p14="http://schemas.microsoft.com/office/powerpoint/2010/main" val="961010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A15F4-F3A6-54B7-F9F7-5FD7B77EA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EB2A5-BEE0-074C-B7FD-BAD6A27E140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05A595C-F0D6-0ED3-9E83-C7D21A03A9AE}"/>
              </a:ext>
            </a:extLst>
          </p:cNvPr>
          <p:cNvSpPr>
            <a:spLocks noGrp="1"/>
          </p:cNvSpPr>
          <p:nvPr>
            <p:ph type="body" idx="1"/>
          </p:nvPr>
        </p:nvSpPr>
        <p:spPr/>
        <p:txBody>
          <a:bodyPr/>
          <a:lstStyle/>
          <a:p>
            <a:r>
              <a:rPr lang="en-US" dirty="0"/>
              <a:t>The </a:t>
            </a:r>
            <a:r>
              <a:rPr lang="en-US" b="1" dirty="0"/>
              <a:t>posterior distribution</a:t>
            </a:r>
            <a:r>
              <a:rPr lang="en-US" dirty="0"/>
              <a:t> is </a:t>
            </a:r>
            <a:r>
              <a:rPr lang="en-US" b="1" dirty="0"/>
              <a:t>too complex</a:t>
            </a:r>
            <a:r>
              <a:rPr lang="en-US" dirty="0"/>
              <a:t> to compute directly. You want a </a:t>
            </a:r>
            <a:r>
              <a:rPr lang="en-US" b="1" dirty="0"/>
              <a:t>Gaussian (normal)</a:t>
            </a:r>
            <a:r>
              <a:rPr lang="en-US" dirty="0"/>
              <a:t> approximation centered at the </a:t>
            </a:r>
            <a:r>
              <a:rPr lang="en-US" b="1" dirty="0"/>
              <a:t>most likely value</a:t>
            </a:r>
            <a:r>
              <a:rPr lang="en-US" dirty="0"/>
              <a:t> (MAP estimate).</a:t>
            </a:r>
          </a:p>
          <a:p>
            <a:endParaRPr lang="en-US" dirty="0"/>
          </a:p>
          <a:p>
            <a:pPr>
              <a:buNone/>
            </a:pPr>
            <a:r>
              <a:rPr lang="en-US" dirty="0"/>
              <a:t>You plug this log-posterior into an optimizer like </a:t>
            </a:r>
            <a:r>
              <a:rPr lang="en-US" dirty="0" err="1"/>
              <a:t>fminunc</a:t>
            </a:r>
            <a:r>
              <a:rPr lang="en-US" dirty="0"/>
              <a:t>.</a:t>
            </a:r>
          </a:p>
          <a:p>
            <a:pPr>
              <a:buNone/>
            </a:pPr>
            <a:r>
              <a:rPr lang="en-US" dirty="0"/>
              <a:t>It finds the </a:t>
            </a:r>
            <a:r>
              <a:rPr lang="en-US" b="1" dirty="0"/>
              <a:t>MAP estimate</a:t>
            </a:r>
            <a:r>
              <a:rPr lang="en-US" dirty="0"/>
              <a:t> = values of (γ₀, γ₁, α, β) that </a:t>
            </a:r>
            <a:r>
              <a:rPr lang="en-US" b="1" dirty="0"/>
              <a:t>maximize</a:t>
            </a:r>
            <a:r>
              <a:rPr lang="en-US" dirty="0"/>
              <a:t> the posterior.</a:t>
            </a:r>
          </a:p>
          <a:p>
            <a:r>
              <a:rPr lang="en-US" dirty="0"/>
              <a:t>Around that mode, you can </a:t>
            </a:r>
            <a:r>
              <a:rPr lang="en-US" b="1" dirty="0"/>
              <a:t>approximate uncertainty</a:t>
            </a:r>
            <a:r>
              <a:rPr lang="en-US" dirty="0"/>
              <a:t> using a </a:t>
            </a:r>
            <a:r>
              <a:rPr lang="en-US" b="1" dirty="0"/>
              <a:t>Gaussian shape</a:t>
            </a:r>
            <a:r>
              <a:rPr lang="en-US" dirty="0"/>
              <a:t> (via the Hessian matrix).</a:t>
            </a:r>
          </a:p>
          <a:p>
            <a:endParaRPr lang="en-US" dirty="0"/>
          </a:p>
        </p:txBody>
      </p:sp>
    </p:spTree>
    <p:extLst>
      <p:ext uri="{BB962C8B-B14F-4D97-AF65-F5344CB8AC3E}">
        <p14:creationId xmlns:p14="http://schemas.microsoft.com/office/powerpoint/2010/main" val="2433594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4f68be72e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4f68be72e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A16035CA-3927-4179-F10E-B3C24571A639}"/>
            </a:ext>
          </a:extLst>
        </p:cNvPr>
        <p:cNvGrpSpPr/>
        <p:nvPr/>
      </p:nvGrpSpPr>
      <p:grpSpPr>
        <a:xfrm>
          <a:off x="0" y="0"/>
          <a:ext cx="0" cy="0"/>
          <a:chOff x="0" y="0"/>
          <a:chExt cx="0" cy="0"/>
        </a:xfrm>
      </p:grpSpPr>
      <p:sp>
        <p:nvSpPr>
          <p:cNvPr id="265" name="Google Shape;265;g34f68be72e9_0_20:notes">
            <a:extLst>
              <a:ext uri="{FF2B5EF4-FFF2-40B4-BE49-F238E27FC236}">
                <a16:creationId xmlns:a16="http://schemas.microsoft.com/office/drawing/2014/main" id="{CE289D45-C9EB-1C9A-81A7-EC399267A1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4f68be72e9_0_20:notes">
            <a:extLst>
              <a:ext uri="{FF2B5EF4-FFF2-40B4-BE49-F238E27FC236}">
                <a16:creationId xmlns:a16="http://schemas.microsoft.com/office/drawing/2014/main" id="{3CCD4425-0B26-4B6A-8D45-781F2A2DB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2239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4f68be72e9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4f68be72e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a:extLst>
            <a:ext uri="{FF2B5EF4-FFF2-40B4-BE49-F238E27FC236}">
              <a16:creationId xmlns:a16="http://schemas.microsoft.com/office/drawing/2014/main" id="{B8A95E94-3024-FF86-B053-BF832D8F25EB}"/>
            </a:ext>
          </a:extLst>
        </p:cNvPr>
        <p:cNvGrpSpPr/>
        <p:nvPr/>
      </p:nvGrpSpPr>
      <p:grpSpPr>
        <a:xfrm>
          <a:off x="0" y="0"/>
          <a:ext cx="0" cy="0"/>
          <a:chOff x="0" y="0"/>
          <a:chExt cx="0" cy="0"/>
        </a:xfrm>
      </p:grpSpPr>
      <p:sp>
        <p:nvSpPr>
          <p:cNvPr id="289" name="Google Shape;289;g34f68be72e9_0_35:notes">
            <a:extLst>
              <a:ext uri="{FF2B5EF4-FFF2-40B4-BE49-F238E27FC236}">
                <a16:creationId xmlns:a16="http://schemas.microsoft.com/office/drawing/2014/main" id="{77969B3E-BCCA-5502-9C4D-1C981F7CE0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4f68be72e9_0_35:notes">
            <a:extLst>
              <a:ext uri="{FF2B5EF4-FFF2-40B4-BE49-F238E27FC236}">
                <a16:creationId xmlns:a16="http://schemas.microsoft.com/office/drawing/2014/main" id="{C8C3B010-EEE8-E4A0-89EF-6A84EABDFF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6279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a:extLst>
            <a:ext uri="{FF2B5EF4-FFF2-40B4-BE49-F238E27FC236}">
              <a16:creationId xmlns:a16="http://schemas.microsoft.com/office/drawing/2014/main" id="{CBAB6C8B-09ED-9CB8-1447-87893C8FD58E}"/>
            </a:ext>
          </a:extLst>
        </p:cNvPr>
        <p:cNvGrpSpPr/>
        <p:nvPr/>
      </p:nvGrpSpPr>
      <p:grpSpPr>
        <a:xfrm>
          <a:off x="0" y="0"/>
          <a:ext cx="0" cy="0"/>
          <a:chOff x="0" y="0"/>
          <a:chExt cx="0" cy="0"/>
        </a:xfrm>
      </p:grpSpPr>
      <p:sp>
        <p:nvSpPr>
          <p:cNvPr id="289" name="Google Shape;289;g34f68be72e9_0_35:notes">
            <a:extLst>
              <a:ext uri="{FF2B5EF4-FFF2-40B4-BE49-F238E27FC236}">
                <a16:creationId xmlns:a16="http://schemas.microsoft.com/office/drawing/2014/main" id="{B616BABE-A5A7-3902-61AD-7C5B0AB7E2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4f68be72e9_0_35:notes">
            <a:extLst>
              <a:ext uri="{FF2B5EF4-FFF2-40B4-BE49-F238E27FC236}">
                <a16:creationId xmlns:a16="http://schemas.microsoft.com/office/drawing/2014/main" id="{256B3CF9-5954-62D1-CBCE-F9A7CD1B96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24696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E375C39A-AF84-58E1-8674-84F4D26341D6}"/>
            </a:ext>
          </a:extLst>
        </p:cNvPr>
        <p:cNvGrpSpPr/>
        <p:nvPr/>
      </p:nvGrpSpPr>
      <p:grpSpPr>
        <a:xfrm>
          <a:off x="0" y="0"/>
          <a:ext cx="0" cy="0"/>
          <a:chOff x="0" y="0"/>
          <a:chExt cx="0" cy="0"/>
        </a:xfrm>
      </p:grpSpPr>
      <p:sp>
        <p:nvSpPr>
          <p:cNvPr id="187" name="Google Shape;187;g7592669a89_0_10:notes">
            <a:extLst>
              <a:ext uri="{FF2B5EF4-FFF2-40B4-BE49-F238E27FC236}">
                <a16:creationId xmlns:a16="http://schemas.microsoft.com/office/drawing/2014/main" id="{5A5BD478-F347-545D-1A4D-E3D33295AF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7592669a89_0_10:notes">
            <a:extLst>
              <a:ext uri="{FF2B5EF4-FFF2-40B4-BE49-F238E27FC236}">
                <a16:creationId xmlns:a16="http://schemas.microsoft.com/office/drawing/2014/main" id="{7E6CBB61-1714-B9B7-6C8F-2A87D7349A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04515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4"/>
        <p:cNvGrpSpPr/>
        <p:nvPr/>
      </p:nvGrpSpPr>
      <p:grpSpPr>
        <a:xfrm>
          <a:off x="0" y="0"/>
          <a:ext cx="0" cy="0"/>
          <a:chOff x="0" y="0"/>
          <a:chExt cx="0" cy="0"/>
        </a:xfrm>
      </p:grpSpPr>
      <p:sp>
        <p:nvSpPr>
          <p:cNvPr id="1725" name="Google Shape;1725;SLIDES_API1083275102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6" name="Google Shape;1726;SLIDES_API108327510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flipH="1">
            <a:off x="1871850" y="777375"/>
            <a:ext cx="5400300" cy="12648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6000"/>
              <a:buNone/>
              <a:defRPr sz="5200">
                <a:solidFill>
                  <a:schemeClr val="accent2"/>
                </a:solidFill>
                <a:latin typeface="Abadi" panose="020F0502020204030204" pitchFamily="34" charset="0"/>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dirty="0"/>
          </a:p>
        </p:txBody>
      </p:sp>
      <p:sp>
        <p:nvSpPr>
          <p:cNvPr id="10" name="Google Shape;10;p2"/>
          <p:cNvSpPr txBox="1">
            <a:spLocks noGrp="1"/>
          </p:cNvSpPr>
          <p:nvPr>
            <p:ph type="subTitle" idx="1"/>
          </p:nvPr>
        </p:nvSpPr>
        <p:spPr>
          <a:xfrm flipH="1">
            <a:off x="2167950" y="497056"/>
            <a:ext cx="4808100" cy="67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lt1"/>
                </a:solidFill>
              </a:defRPr>
            </a:lvl1pPr>
            <a:lvl2pPr lvl="1" rtl="0">
              <a:lnSpc>
                <a:spcPct val="100000"/>
              </a:lnSpc>
              <a:spcBef>
                <a:spcPts val="0"/>
              </a:spcBef>
              <a:spcAft>
                <a:spcPts val="0"/>
              </a:spcAft>
              <a:buSzPts val="1400"/>
              <a:buNone/>
              <a:defRPr sz="1400"/>
            </a:lvl2pPr>
            <a:lvl3pPr lvl="2" rtl="0">
              <a:lnSpc>
                <a:spcPct val="100000"/>
              </a:lnSpc>
              <a:spcBef>
                <a:spcPts val="0"/>
              </a:spcBef>
              <a:spcAft>
                <a:spcPts val="0"/>
              </a:spcAft>
              <a:buSzPts val="1400"/>
              <a:buNone/>
              <a:defRPr sz="1400"/>
            </a:lvl3pPr>
            <a:lvl4pPr lvl="3" rtl="0">
              <a:lnSpc>
                <a:spcPct val="100000"/>
              </a:lnSpc>
              <a:spcBef>
                <a:spcPts val="0"/>
              </a:spcBef>
              <a:spcAft>
                <a:spcPts val="0"/>
              </a:spcAft>
              <a:buSzPts val="1400"/>
              <a:buNone/>
              <a:defRPr sz="1400"/>
            </a:lvl4pPr>
            <a:lvl5pPr lvl="4" rtl="0">
              <a:lnSpc>
                <a:spcPct val="100000"/>
              </a:lnSpc>
              <a:spcBef>
                <a:spcPts val="0"/>
              </a:spcBef>
              <a:spcAft>
                <a:spcPts val="0"/>
              </a:spcAft>
              <a:buSzPts val="1400"/>
              <a:buNone/>
              <a:defRPr sz="1400"/>
            </a:lvl5pPr>
            <a:lvl6pPr lvl="5" rtl="0">
              <a:lnSpc>
                <a:spcPct val="100000"/>
              </a:lnSpc>
              <a:spcBef>
                <a:spcPts val="0"/>
              </a:spcBef>
              <a:spcAft>
                <a:spcPts val="0"/>
              </a:spcAft>
              <a:buSzPts val="1400"/>
              <a:buNone/>
              <a:defRPr sz="1400"/>
            </a:lvl6pPr>
            <a:lvl7pPr lvl="6" rtl="0">
              <a:lnSpc>
                <a:spcPct val="100000"/>
              </a:lnSpc>
              <a:spcBef>
                <a:spcPts val="0"/>
              </a:spcBef>
              <a:spcAft>
                <a:spcPts val="0"/>
              </a:spcAft>
              <a:buSzPts val="1400"/>
              <a:buNone/>
              <a:defRPr sz="1400"/>
            </a:lvl7pPr>
            <a:lvl8pPr lvl="7" rtl="0">
              <a:lnSpc>
                <a:spcPct val="100000"/>
              </a:lnSpc>
              <a:spcBef>
                <a:spcPts val="0"/>
              </a:spcBef>
              <a:spcAft>
                <a:spcPts val="0"/>
              </a:spcAft>
              <a:buSzPts val="1400"/>
              <a:buNone/>
              <a:defRPr sz="1400"/>
            </a:lvl8pPr>
            <a:lvl9pPr lvl="8" rtl="0">
              <a:lnSpc>
                <a:spcPct val="100000"/>
              </a:lnSpc>
              <a:spcBef>
                <a:spcPts val="0"/>
              </a:spcBef>
              <a:spcAft>
                <a:spcPts val="0"/>
              </a:spcAft>
              <a:buSzPts val="1400"/>
              <a:buNone/>
              <a:defRPr sz="14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7"/>
          <p:cNvSpPr txBox="1">
            <a:spLocks noGrp="1"/>
          </p:cNvSpPr>
          <p:nvPr>
            <p:ph type="ctrTitle"/>
          </p:nvPr>
        </p:nvSpPr>
        <p:spPr>
          <a:xfrm>
            <a:off x="915800" y="503467"/>
            <a:ext cx="2489100" cy="128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2800"/>
              <a:buNone/>
              <a:defRPr sz="3000">
                <a:solidFill>
                  <a:schemeClr val="lt1"/>
                </a:solidFill>
                <a:latin typeface="Abadi" panose="020F0502020204030204" pitchFamily="34" charset="0"/>
              </a:defRPr>
            </a:lvl1pPr>
            <a:lvl2pPr lvl="1" algn="r" rtl="0">
              <a:spcBef>
                <a:spcPts val="0"/>
              </a:spcBef>
              <a:spcAft>
                <a:spcPts val="0"/>
              </a:spcAft>
              <a:buClr>
                <a:srgbClr val="000000"/>
              </a:buClr>
              <a:buSzPts val="1600"/>
              <a:buNone/>
              <a:defRPr sz="1600">
                <a:solidFill>
                  <a:srgbClr val="000000"/>
                </a:solidFill>
              </a:defRPr>
            </a:lvl2pPr>
            <a:lvl3pPr lvl="2" algn="r" rtl="0">
              <a:spcBef>
                <a:spcPts val="0"/>
              </a:spcBef>
              <a:spcAft>
                <a:spcPts val="0"/>
              </a:spcAft>
              <a:buClr>
                <a:srgbClr val="000000"/>
              </a:buClr>
              <a:buSzPts val="1600"/>
              <a:buNone/>
              <a:defRPr sz="1600">
                <a:solidFill>
                  <a:srgbClr val="000000"/>
                </a:solidFill>
              </a:defRPr>
            </a:lvl3pPr>
            <a:lvl4pPr lvl="3" algn="r" rtl="0">
              <a:spcBef>
                <a:spcPts val="0"/>
              </a:spcBef>
              <a:spcAft>
                <a:spcPts val="0"/>
              </a:spcAft>
              <a:buClr>
                <a:srgbClr val="000000"/>
              </a:buClr>
              <a:buSzPts val="1600"/>
              <a:buNone/>
              <a:defRPr sz="1600">
                <a:solidFill>
                  <a:srgbClr val="000000"/>
                </a:solidFill>
              </a:defRPr>
            </a:lvl4pPr>
            <a:lvl5pPr lvl="4" algn="r" rtl="0">
              <a:spcBef>
                <a:spcPts val="0"/>
              </a:spcBef>
              <a:spcAft>
                <a:spcPts val="0"/>
              </a:spcAft>
              <a:buClr>
                <a:srgbClr val="000000"/>
              </a:buClr>
              <a:buSzPts val="1600"/>
              <a:buNone/>
              <a:defRPr sz="1600">
                <a:solidFill>
                  <a:srgbClr val="000000"/>
                </a:solidFill>
              </a:defRPr>
            </a:lvl5pPr>
            <a:lvl6pPr lvl="5" algn="r" rtl="0">
              <a:spcBef>
                <a:spcPts val="0"/>
              </a:spcBef>
              <a:spcAft>
                <a:spcPts val="0"/>
              </a:spcAft>
              <a:buClr>
                <a:srgbClr val="000000"/>
              </a:buClr>
              <a:buSzPts val="1600"/>
              <a:buNone/>
              <a:defRPr sz="1600">
                <a:solidFill>
                  <a:srgbClr val="000000"/>
                </a:solidFill>
              </a:defRPr>
            </a:lvl6pPr>
            <a:lvl7pPr lvl="6" algn="r" rtl="0">
              <a:spcBef>
                <a:spcPts val="0"/>
              </a:spcBef>
              <a:spcAft>
                <a:spcPts val="0"/>
              </a:spcAft>
              <a:buClr>
                <a:srgbClr val="000000"/>
              </a:buClr>
              <a:buSzPts val="1600"/>
              <a:buNone/>
              <a:defRPr sz="1600">
                <a:solidFill>
                  <a:srgbClr val="000000"/>
                </a:solidFill>
              </a:defRPr>
            </a:lvl7pPr>
            <a:lvl8pPr lvl="7" algn="r" rtl="0">
              <a:spcBef>
                <a:spcPts val="0"/>
              </a:spcBef>
              <a:spcAft>
                <a:spcPts val="0"/>
              </a:spcAft>
              <a:buClr>
                <a:srgbClr val="000000"/>
              </a:buClr>
              <a:buSzPts val="1600"/>
              <a:buNone/>
              <a:defRPr sz="1600">
                <a:solidFill>
                  <a:srgbClr val="000000"/>
                </a:solidFill>
              </a:defRPr>
            </a:lvl8pPr>
            <a:lvl9pPr lvl="8" algn="r" rtl="0">
              <a:spcBef>
                <a:spcPts val="0"/>
              </a:spcBef>
              <a:spcAft>
                <a:spcPts val="0"/>
              </a:spcAft>
              <a:buClr>
                <a:srgbClr val="000000"/>
              </a:buClr>
              <a:buSzPts val="1600"/>
              <a:buNone/>
              <a:defRPr sz="1600">
                <a:solidFill>
                  <a:srgbClr val="000000"/>
                </a:solidFill>
              </a:defRPr>
            </a:lvl9pPr>
          </a:lstStyle>
          <a:p>
            <a:endParaRPr dirty="0"/>
          </a:p>
        </p:txBody>
      </p:sp>
      <p:sp>
        <p:nvSpPr>
          <p:cNvPr id="28" name="Google Shape;28;p7"/>
          <p:cNvSpPr txBox="1">
            <a:spLocks noGrp="1"/>
          </p:cNvSpPr>
          <p:nvPr>
            <p:ph type="subTitle" idx="1"/>
          </p:nvPr>
        </p:nvSpPr>
        <p:spPr>
          <a:xfrm>
            <a:off x="915650" y="2324539"/>
            <a:ext cx="2489400" cy="178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800"/>
              <a:buNone/>
              <a:defRPr sz="1600">
                <a:solidFill>
                  <a:schemeClr val="accent1"/>
                </a:solidFill>
              </a:defRPr>
            </a:lvl1pPr>
            <a:lvl2pPr lvl="1" algn="r" rtl="0">
              <a:lnSpc>
                <a:spcPct val="100000"/>
              </a:lnSpc>
              <a:spcBef>
                <a:spcPts val="0"/>
              </a:spcBef>
              <a:spcAft>
                <a:spcPts val="0"/>
              </a:spcAft>
              <a:buClr>
                <a:srgbClr val="000000"/>
              </a:buClr>
              <a:buSzPts val="1400"/>
              <a:buNone/>
              <a:defRPr>
                <a:solidFill>
                  <a:srgbClr val="000000"/>
                </a:solidFill>
              </a:defRPr>
            </a:lvl2pPr>
            <a:lvl3pPr lvl="2" algn="r" rtl="0">
              <a:lnSpc>
                <a:spcPct val="100000"/>
              </a:lnSpc>
              <a:spcBef>
                <a:spcPts val="0"/>
              </a:spcBef>
              <a:spcAft>
                <a:spcPts val="0"/>
              </a:spcAft>
              <a:buClr>
                <a:srgbClr val="000000"/>
              </a:buClr>
              <a:buSzPts val="1400"/>
              <a:buNone/>
              <a:defRPr>
                <a:solidFill>
                  <a:srgbClr val="000000"/>
                </a:solidFill>
              </a:defRPr>
            </a:lvl3pPr>
            <a:lvl4pPr lvl="3" algn="r" rtl="0">
              <a:lnSpc>
                <a:spcPct val="100000"/>
              </a:lnSpc>
              <a:spcBef>
                <a:spcPts val="0"/>
              </a:spcBef>
              <a:spcAft>
                <a:spcPts val="0"/>
              </a:spcAft>
              <a:buClr>
                <a:srgbClr val="000000"/>
              </a:buClr>
              <a:buSzPts val="1400"/>
              <a:buNone/>
              <a:defRPr>
                <a:solidFill>
                  <a:srgbClr val="000000"/>
                </a:solidFill>
              </a:defRPr>
            </a:lvl4pPr>
            <a:lvl5pPr lvl="4" algn="r" rtl="0">
              <a:lnSpc>
                <a:spcPct val="100000"/>
              </a:lnSpc>
              <a:spcBef>
                <a:spcPts val="0"/>
              </a:spcBef>
              <a:spcAft>
                <a:spcPts val="0"/>
              </a:spcAft>
              <a:buClr>
                <a:srgbClr val="000000"/>
              </a:buClr>
              <a:buSzPts val="1400"/>
              <a:buNone/>
              <a:defRPr>
                <a:solidFill>
                  <a:srgbClr val="000000"/>
                </a:solidFill>
              </a:defRPr>
            </a:lvl5pPr>
            <a:lvl6pPr lvl="5" algn="r" rtl="0">
              <a:lnSpc>
                <a:spcPct val="100000"/>
              </a:lnSpc>
              <a:spcBef>
                <a:spcPts val="0"/>
              </a:spcBef>
              <a:spcAft>
                <a:spcPts val="0"/>
              </a:spcAft>
              <a:buClr>
                <a:srgbClr val="000000"/>
              </a:buClr>
              <a:buSzPts val="1400"/>
              <a:buNone/>
              <a:defRPr>
                <a:solidFill>
                  <a:srgbClr val="000000"/>
                </a:solidFill>
              </a:defRPr>
            </a:lvl6pPr>
            <a:lvl7pPr lvl="6" algn="r" rtl="0">
              <a:lnSpc>
                <a:spcPct val="100000"/>
              </a:lnSpc>
              <a:spcBef>
                <a:spcPts val="0"/>
              </a:spcBef>
              <a:spcAft>
                <a:spcPts val="0"/>
              </a:spcAft>
              <a:buClr>
                <a:srgbClr val="000000"/>
              </a:buClr>
              <a:buSzPts val="1400"/>
              <a:buNone/>
              <a:defRPr>
                <a:solidFill>
                  <a:srgbClr val="000000"/>
                </a:solidFill>
              </a:defRPr>
            </a:lvl7pPr>
            <a:lvl8pPr lvl="7" algn="r" rtl="0">
              <a:lnSpc>
                <a:spcPct val="100000"/>
              </a:lnSpc>
              <a:spcBef>
                <a:spcPts val="0"/>
              </a:spcBef>
              <a:spcAft>
                <a:spcPts val="0"/>
              </a:spcAft>
              <a:buClr>
                <a:srgbClr val="000000"/>
              </a:buClr>
              <a:buSzPts val="1400"/>
              <a:buNone/>
              <a:defRPr>
                <a:solidFill>
                  <a:srgbClr val="000000"/>
                </a:solidFill>
              </a:defRPr>
            </a:lvl8pPr>
            <a:lvl9pPr lvl="8" algn="r" rtl="0">
              <a:lnSpc>
                <a:spcPct val="100000"/>
              </a:lnSpc>
              <a:spcBef>
                <a:spcPts val="0"/>
              </a:spcBef>
              <a:spcAft>
                <a:spcPts val="0"/>
              </a:spcAft>
              <a:buClr>
                <a:srgbClr val="000000"/>
              </a:buClr>
              <a:buSzPts val="1400"/>
              <a:buNone/>
              <a:defRPr>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4200"/>
              <a:buNone/>
              <a:defRPr sz="4200">
                <a:solidFill>
                  <a:schemeClr val="lt1"/>
                </a:solidFill>
                <a:latin typeface="Abadi" panose="020F0502020204030204" pitchFamily="34" charset="0"/>
              </a:defRPr>
            </a:lvl1pPr>
            <a:lvl2pPr lvl="1" algn="ctr">
              <a:spcBef>
                <a:spcPts val="0"/>
              </a:spcBef>
              <a:spcAft>
                <a:spcPts val="0"/>
              </a:spcAft>
              <a:buClr>
                <a:schemeClr val="lt1"/>
              </a:buClr>
              <a:buSzPts val="4200"/>
              <a:buNone/>
              <a:defRPr sz="4200">
                <a:solidFill>
                  <a:schemeClr val="lt1"/>
                </a:solidFill>
              </a:defRPr>
            </a:lvl2pPr>
            <a:lvl3pPr lvl="2" algn="ctr">
              <a:spcBef>
                <a:spcPts val="0"/>
              </a:spcBef>
              <a:spcAft>
                <a:spcPts val="0"/>
              </a:spcAft>
              <a:buClr>
                <a:schemeClr val="lt1"/>
              </a:buClr>
              <a:buSzPts val="4200"/>
              <a:buNone/>
              <a:defRPr sz="4200">
                <a:solidFill>
                  <a:schemeClr val="lt1"/>
                </a:solidFill>
              </a:defRPr>
            </a:lvl3pPr>
            <a:lvl4pPr lvl="3" algn="ctr">
              <a:spcBef>
                <a:spcPts val="0"/>
              </a:spcBef>
              <a:spcAft>
                <a:spcPts val="0"/>
              </a:spcAft>
              <a:buClr>
                <a:schemeClr val="lt1"/>
              </a:buClr>
              <a:buSzPts val="4200"/>
              <a:buNone/>
              <a:defRPr sz="4200">
                <a:solidFill>
                  <a:schemeClr val="lt1"/>
                </a:solidFill>
              </a:defRPr>
            </a:lvl4pPr>
            <a:lvl5pPr lvl="4" algn="ctr">
              <a:spcBef>
                <a:spcPts val="0"/>
              </a:spcBef>
              <a:spcAft>
                <a:spcPts val="0"/>
              </a:spcAft>
              <a:buClr>
                <a:schemeClr val="lt1"/>
              </a:buClr>
              <a:buSzPts val="4200"/>
              <a:buNone/>
              <a:defRPr sz="4200">
                <a:solidFill>
                  <a:schemeClr val="lt1"/>
                </a:solidFill>
              </a:defRPr>
            </a:lvl5pPr>
            <a:lvl6pPr lvl="5" algn="ctr">
              <a:spcBef>
                <a:spcPts val="0"/>
              </a:spcBef>
              <a:spcAft>
                <a:spcPts val="0"/>
              </a:spcAft>
              <a:buClr>
                <a:schemeClr val="lt1"/>
              </a:buClr>
              <a:buSzPts val="4200"/>
              <a:buNone/>
              <a:defRPr sz="4200">
                <a:solidFill>
                  <a:schemeClr val="lt1"/>
                </a:solidFill>
              </a:defRPr>
            </a:lvl6pPr>
            <a:lvl7pPr lvl="6" algn="ctr">
              <a:spcBef>
                <a:spcPts val="0"/>
              </a:spcBef>
              <a:spcAft>
                <a:spcPts val="0"/>
              </a:spcAft>
              <a:buClr>
                <a:schemeClr val="lt1"/>
              </a:buClr>
              <a:buSzPts val="4200"/>
              <a:buNone/>
              <a:defRPr sz="4200">
                <a:solidFill>
                  <a:schemeClr val="lt1"/>
                </a:solidFill>
              </a:defRPr>
            </a:lvl7pPr>
            <a:lvl8pPr lvl="7" algn="ctr">
              <a:spcBef>
                <a:spcPts val="0"/>
              </a:spcBef>
              <a:spcAft>
                <a:spcPts val="0"/>
              </a:spcAft>
              <a:buClr>
                <a:schemeClr val="lt1"/>
              </a:buClr>
              <a:buSzPts val="4200"/>
              <a:buNone/>
              <a:defRPr sz="4200">
                <a:solidFill>
                  <a:schemeClr val="lt1"/>
                </a:solidFill>
              </a:defRPr>
            </a:lvl8pPr>
            <a:lvl9pPr lvl="8" algn="ctr">
              <a:spcBef>
                <a:spcPts val="0"/>
              </a:spcBef>
              <a:spcAft>
                <a:spcPts val="0"/>
              </a:spcAft>
              <a:buClr>
                <a:schemeClr val="lt1"/>
              </a:buClr>
              <a:buSzPts val="4200"/>
              <a:buNone/>
              <a:defRPr sz="4200">
                <a:solidFill>
                  <a:schemeClr val="lt1"/>
                </a:solidFill>
              </a:defRPr>
            </a:lvl9pPr>
          </a:lstStyle>
          <a:p>
            <a:endParaRPr dirty="0"/>
          </a:p>
        </p:txBody>
      </p:sp>
      <p:sp>
        <p:nvSpPr>
          <p:cNvPr id="33" name="Google Shape;33;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100"/>
              <a:buNone/>
              <a:defRPr sz="2100">
                <a:solidFill>
                  <a:schemeClr val="accent1"/>
                </a:solidFill>
              </a:defRPr>
            </a:lvl1pPr>
            <a:lvl2pPr lvl="1" algn="ctr">
              <a:lnSpc>
                <a:spcPct val="100000"/>
              </a:lnSpc>
              <a:spcBef>
                <a:spcPts val="0"/>
              </a:spcBef>
              <a:spcAft>
                <a:spcPts val="0"/>
              </a:spcAft>
              <a:buClr>
                <a:schemeClr val="accent1"/>
              </a:buClr>
              <a:buSzPts val="2100"/>
              <a:buNone/>
              <a:defRPr sz="2100">
                <a:solidFill>
                  <a:schemeClr val="accent1"/>
                </a:solidFill>
              </a:defRPr>
            </a:lvl2pPr>
            <a:lvl3pPr lvl="2" algn="ctr">
              <a:lnSpc>
                <a:spcPct val="100000"/>
              </a:lnSpc>
              <a:spcBef>
                <a:spcPts val="0"/>
              </a:spcBef>
              <a:spcAft>
                <a:spcPts val="0"/>
              </a:spcAft>
              <a:buClr>
                <a:schemeClr val="accent1"/>
              </a:buClr>
              <a:buSzPts val="2100"/>
              <a:buNone/>
              <a:defRPr sz="2100">
                <a:solidFill>
                  <a:schemeClr val="accent1"/>
                </a:solidFill>
              </a:defRPr>
            </a:lvl3pPr>
            <a:lvl4pPr lvl="3" algn="ctr">
              <a:lnSpc>
                <a:spcPct val="100000"/>
              </a:lnSpc>
              <a:spcBef>
                <a:spcPts val="0"/>
              </a:spcBef>
              <a:spcAft>
                <a:spcPts val="0"/>
              </a:spcAft>
              <a:buClr>
                <a:schemeClr val="accent1"/>
              </a:buClr>
              <a:buSzPts val="2100"/>
              <a:buNone/>
              <a:defRPr sz="2100">
                <a:solidFill>
                  <a:schemeClr val="accent1"/>
                </a:solidFill>
              </a:defRPr>
            </a:lvl4pPr>
            <a:lvl5pPr lvl="4" algn="ctr">
              <a:lnSpc>
                <a:spcPct val="100000"/>
              </a:lnSpc>
              <a:spcBef>
                <a:spcPts val="0"/>
              </a:spcBef>
              <a:spcAft>
                <a:spcPts val="0"/>
              </a:spcAft>
              <a:buClr>
                <a:schemeClr val="accent1"/>
              </a:buClr>
              <a:buSzPts val="2100"/>
              <a:buNone/>
              <a:defRPr sz="2100">
                <a:solidFill>
                  <a:schemeClr val="accent1"/>
                </a:solidFill>
              </a:defRPr>
            </a:lvl5pPr>
            <a:lvl6pPr lvl="5" algn="ctr">
              <a:lnSpc>
                <a:spcPct val="100000"/>
              </a:lnSpc>
              <a:spcBef>
                <a:spcPts val="0"/>
              </a:spcBef>
              <a:spcAft>
                <a:spcPts val="0"/>
              </a:spcAft>
              <a:buClr>
                <a:schemeClr val="accent1"/>
              </a:buClr>
              <a:buSzPts val="2100"/>
              <a:buNone/>
              <a:defRPr sz="2100">
                <a:solidFill>
                  <a:schemeClr val="accent1"/>
                </a:solidFill>
              </a:defRPr>
            </a:lvl6pPr>
            <a:lvl7pPr lvl="6" algn="ctr">
              <a:lnSpc>
                <a:spcPct val="100000"/>
              </a:lnSpc>
              <a:spcBef>
                <a:spcPts val="0"/>
              </a:spcBef>
              <a:spcAft>
                <a:spcPts val="0"/>
              </a:spcAft>
              <a:buClr>
                <a:schemeClr val="accent1"/>
              </a:buClr>
              <a:buSzPts val="2100"/>
              <a:buNone/>
              <a:defRPr sz="2100">
                <a:solidFill>
                  <a:schemeClr val="accent1"/>
                </a:solidFill>
              </a:defRPr>
            </a:lvl7pPr>
            <a:lvl8pPr lvl="7" algn="ctr">
              <a:lnSpc>
                <a:spcPct val="100000"/>
              </a:lnSpc>
              <a:spcBef>
                <a:spcPts val="0"/>
              </a:spcBef>
              <a:spcAft>
                <a:spcPts val="0"/>
              </a:spcAft>
              <a:buClr>
                <a:schemeClr val="accent1"/>
              </a:buClr>
              <a:buSzPts val="2100"/>
              <a:buNone/>
              <a:defRPr sz="2100">
                <a:solidFill>
                  <a:schemeClr val="accent1"/>
                </a:solidFill>
              </a:defRPr>
            </a:lvl8pPr>
            <a:lvl9pPr lvl="8" algn="ctr">
              <a:lnSpc>
                <a:spcPct val="100000"/>
              </a:lnSpc>
              <a:spcBef>
                <a:spcPts val="0"/>
              </a:spcBef>
              <a:spcAft>
                <a:spcPts val="0"/>
              </a:spcAft>
              <a:buClr>
                <a:schemeClr val="accent1"/>
              </a:buClr>
              <a:buSzPts val="2100"/>
              <a:buNone/>
              <a:defRPr sz="2100">
                <a:solidFill>
                  <a:schemeClr val="accent1"/>
                </a:solidFill>
              </a:defRPr>
            </a:lvl9pPr>
          </a:lstStyle>
          <a:p>
            <a:endParaRPr/>
          </a:p>
        </p:txBody>
      </p:sp>
      <p:sp>
        <p:nvSpPr>
          <p:cNvPr id="34" name="Google Shape;34;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2"/>
              </a:buClr>
              <a:buSzPts val="12000"/>
              <a:buNone/>
              <a:defRPr sz="12000">
                <a:solidFill>
                  <a:schemeClr val="accent2"/>
                </a:solidFill>
                <a:latin typeface="Abadi" panose="020F0502020204030204" pitchFamily="34" charset="0"/>
              </a:defRPr>
            </a:lvl1pPr>
            <a:lvl2pPr lvl="1" algn="ctr">
              <a:spcBef>
                <a:spcPts val="0"/>
              </a:spcBef>
              <a:spcAft>
                <a:spcPts val="0"/>
              </a:spcAft>
              <a:buClr>
                <a:schemeClr val="accent2"/>
              </a:buClr>
              <a:buSzPts val="12000"/>
              <a:buNone/>
              <a:defRPr sz="12000">
                <a:solidFill>
                  <a:schemeClr val="accent2"/>
                </a:solidFill>
              </a:defRPr>
            </a:lvl2pPr>
            <a:lvl3pPr lvl="2" algn="ctr">
              <a:spcBef>
                <a:spcPts val="0"/>
              </a:spcBef>
              <a:spcAft>
                <a:spcPts val="0"/>
              </a:spcAft>
              <a:buClr>
                <a:schemeClr val="accent2"/>
              </a:buClr>
              <a:buSzPts val="12000"/>
              <a:buNone/>
              <a:defRPr sz="12000">
                <a:solidFill>
                  <a:schemeClr val="accent2"/>
                </a:solidFill>
              </a:defRPr>
            </a:lvl3pPr>
            <a:lvl4pPr lvl="3" algn="ctr">
              <a:spcBef>
                <a:spcPts val="0"/>
              </a:spcBef>
              <a:spcAft>
                <a:spcPts val="0"/>
              </a:spcAft>
              <a:buClr>
                <a:schemeClr val="accent2"/>
              </a:buClr>
              <a:buSzPts val="12000"/>
              <a:buNone/>
              <a:defRPr sz="12000">
                <a:solidFill>
                  <a:schemeClr val="accent2"/>
                </a:solidFill>
              </a:defRPr>
            </a:lvl4pPr>
            <a:lvl5pPr lvl="4" algn="ctr">
              <a:spcBef>
                <a:spcPts val="0"/>
              </a:spcBef>
              <a:spcAft>
                <a:spcPts val="0"/>
              </a:spcAft>
              <a:buClr>
                <a:schemeClr val="accent2"/>
              </a:buClr>
              <a:buSzPts val="12000"/>
              <a:buNone/>
              <a:defRPr sz="12000">
                <a:solidFill>
                  <a:schemeClr val="accent2"/>
                </a:solidFill>
              </a:defRPr>
            </a:lvl5pPr>
            <a:lvl6pPr lvl="5" algn="ctr">
              <a:spcBef>
                <a:spcPts val="0"/>
              </a:spcBef>
              <a:spcAft>
                <a:spcPts val="0"/>
              </a:spcAft>
              <a:buClr>
                <a:schemeClr val="accent2"/>
              </a:buClr>
              <a:buSzPts val="12000"/>
              <a:buNone/>
              <a:defRPr sz="12000">
                <a:solidFill>
                  <a:schemeClr val="accent2"/>
                </a:solidFill>
              </a:defRPr>
            </a:lvl6pPr>
            <a:lvl7pPr lvl="6" algn="ctr">
              <a:spcBef>
                <a:spcPts val="0"/>
              </a:spcBef>
              <a:spcAft>
                <a:spcPts val="0"/>
              </a:spcAft>
              <a:buClr>
                <a:schemeClr val="accent2"/>
              </a:buClr>
              <a:buSzPts val="12000"/>
              <a:buNone/>
              <a:defRPr sz="12000">
                <a:solidFill>
                  <a:schemeClr val="accent2"/>
                </a:solidFill>
              </a:defRPr>
            </a:lvl7pPr>
            <a:lvl8pPr lvl="7" algn="ctr">
              <a:spcBef>
                <a:spcPts val="0"/>
              </a:spcBef>
              <a:spcAft>
                <a:spcPts val="0"/>
              </a:spcAft>
              <a:buClr>
                <a:schemeClr val="accent2"/>
              </a:buClr>
              <a:buSzPts val="12000"/>
              <a:buNone/>
              <a:defRPr sz="12000">
                <a:solidFill>
                  <a:schemeClr val="accent2"/>
                </a:solidFill>
              </a:defRPr>
            </a:lvl8pPr>
            <a:lvl9pPr lvl="8" algn="ctr">
              <a:spcBef>
                <a:spcPts val="0"/>
              </a:spcBef>
              <a:spcAft>
                <a:spcPts val="0"/>
              </a:spcAft>
              <a:buClr>
                <a:schemeClr val="accent2"/>
              </a:buClr>
              <a:buSzPts val="12000"/>
              <a:buNone/>
              <a:defRPr sz="12000">
                <a:solidFill>
                  <a:schemeClr val="accent2"/>
                </a:solidFill>
              </a:defRPr>
            </a:lvl9pPr>
          </a:lstStyle>
          <a:p>
            <a:r>
              <a:rPr dirty="0"/>
              <a:t>xx%</a:t>
            </a:r>
          </a:p>
        </p:txBody>
      </p:sp>
      <p:sp>
        <p:nvSpPr>
          <p:cNvPr id="40" name="Google Shape;40;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accent1"/>
              </a:buClr>
              <a:buSzPts val="1800"/>
              <a:buChar char="●"/>
              <a:defRPr>
                <a:solidFill>
                  <a:schemeClr val="accent1"/>
                </a:solidFill>
              </a:defRPr>
            </a:lvl1pPr>
            <a:lvl2pPr marL="914400" lvl="1" indent="-317500" algn="ctr">
              <a:spcBef>
                <a:spcPts val="1600"/>
              </a:spcBef>
              <a:spcAft>
                <a:spcPts val="0"/>
              </a:spcAft>
              <a:buClr>
                <a:schemeClr val="accent1"/>
              </a:buClr>
              <a:buSzPts val="1400"/>
              <a:buChar char="○"/>
              <a:defRPr>
                <a:solidFill>
                  <a:schemeClr val="accent1"/>
                </a:solidFill>
              </a:defRPr>
            </a:lvl2pPr>
            <a:lvl3pPr marL="1371600" lvl="2" indent="-317500" algn="ctr">
              <a:spcBef>
                <a:spcPts val="1600"/>
              </a:spcBef>
              <a:spcAft>
                <a:spcPts val="0"/>
              </a:spcAft>
              <a:buClr>
                <a:schemeClr val="accent1"/>
              </a:buClr>
              <a:buSzPts val="1400"/>
              <a:buChar char="■"/>
              <a:defRPr>
                <a:solidFill>
                  <a:schemeClr val="accent1"/>
                </a:solidFill>
              </a:defRPr>
            </a:lvl3pPr>
            <a:lvl4pPr marL="1828800" lvl="3" indent="-317500" algn="ctr">
              <a:spcBef>
                <a:spcPts val="1600"/>
              </a:spcBef>
              <a:spcAft>
                <a:spcPts val="0"/>
              </a:spcAft>
              <a:buClr>
                <a:schemeClr val="accent1"/>
              </a:buClr>
              <a:buSzPts val="1400"/>
              <a:buChar char="●"/>
              <a:defRPr>
                <a:solidFill>
                  <a:schemeClr val="accent1"/>
                </a:solidFill>
              </a:defRPr>
            </a:lvl4pPr>
            <a:lvl5pPr marL="2286000" lvl="4" indent="-317500" algn="ctr">
              <a:spcBef>
                <a:spcPts val="1600"/>
              </a:spcBef>
              <a:spcAft>
                <a:spcPts val="0"/>
              </a:spcAft>
              <a:buClr>
                <a:schemeClr val="accent1"/>
              </a:buClr>
              <a:buSzPts val="1400"/>
              <a:buChar char="○"/>
              <a:defRPr>
                <a:solidFill>
                  <a:schemeClr val="accent1"/>
                </a:solidFill>
              </a:defRPr>
            </a:lvl5pPr>
            <a:lvl6pPr marL="2743200" lvl="5" indent="-317500" algn="ctr">
              <a:spcBef>
                <a:spcPts val="1600"/>
              </a:spcBef>
              <a:spcAft>
                <a:spcPts val="0"/>
              </a:spcAft>
              <a:buClr>
                <a:schemeClr val="accent1"/>
              </a:buClr>
              <a:buSzPts val="1400"/>
              <a:buChar char="■"/>
              <a:defRPr>
                <a:solidFill>
                  <a:schemeClr val="accent1"/>
                </a:solidFill>
              </a:defRPr>
            </a:lvl6pPr>
            <a:lvl7pPr marL="3200400" lvl="6" indent="-317500" algn="ctr">
              <a:spcBef>
                <a:spcPts val="1600"/>
              </a:spcBef>
              <a:spcAft>
                <a:spcPts val="0"/>
              </a:spcAft>
              <a:buClr>
                <a:schemeClr val="accent1"/>
              </a:buClr>
              <a:buSzPts val="1400"/>
              <a:buChar char="●"/>
              <a:defRPr>
                <a:solidFill>
                  <a:schemeClr val="accent1"/>
                </a:solidFill>
              </a:defRPr>
            </a:lvl7pPr>
            <a:lvl8pPr marL="3657600" lvl="7" indent="-317500" algn="ctr">
              <a:spcBef>
                <a:spcPts val="1600"/>
              </a:spcBef>
              <a:spcAft>
                <a:spcPts val="0"/>
              </a:spcAft>
              <a:buClr>
                <a:schemeClr val="accent1"/>
              </a:buClr>
              <a:buSzPts val="1400"/>
              <a:buChar char="○"/>
              <a:defRPr>
                <a:solidFill>
                  <a:schemeClr val="accent1"/>
                </a:solidFill>
              </a:defRPr>
            </a:lvl8pPr>
            <a:lvl9pPr marL="4114800" lvl="8" indent="-317500" algn="ctr">
              <a:spcBef>
                <a:spcPts val="1600"/>
              </a:spcBef>
              <a:spcAft>
                <a:spcPts val="1600"/>
              </a:spcAft>
              <a:buClr>
                <a:schemeClr val="accent1"/>
              </a:buClr>
              <a:buSzPts val="1400"/>
              <a:buChar char="■"/>
              <a:defRPr>
                <a:solidFill>
                  <a:schemeClr val="accen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2"/>
          <p:cNvSpPr txBox="1">
            <a:spLocks noGrp="1"/>
          </p:cNvSpPr>
          <p:nvPr>
            <p:ph type="ctrTitle"/>
          </p:nvPr>
        </p:nvSpPr>
        <p:spPr>
          <a:xfrm>
            <a:off x="720000" y="3310214"/>
            <a:ext cx="2322300" cy="357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000">
                <a:solidFill>
                  <a:schemeClr val="lt1"/>
                </a:solidFill>
                <a:latin typeface="Abadi" panose="020F0502020204030204" pitchFamily="34" charset="0"/>
              </a:defRPr>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dirty="0"/>
          </a:p>
        </p:txBody>
      </p:sp>
      <p:sp>
        <p:nvSpPr>
          <p:cNvPr id="43" name="Google Shape;43;p12"/>
          <p:cNvSpPr txBox="1">
            <a:spLocks noGrp="1"/>
          </p:cNvSpPr>
          <p:nvPr>
            <p:ph type="subTitle" idx="1"/>
          </p:nvPr>
        </p:nvSpPr>
        <p:spPr>
          <a:xfrm>
            <a:off x="768607" y="3518514"/>
            <a:ext cx="22251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 name="Google Shape;44;p12"/>
          <p:cNvSpPr txBox="1">
            <a:spLocks noGrp="1"/>
          </p:cNvSpPr>
          <p:nvPr>
            <p:ph type="title" idx="2" hasCustomPrompt="1"/>
          </p:nvPr>
        </p:nvSpPr>
        <p:spPr>
          <a:xfrm>
            <a:off x="1493557" y="2722271"/>
            <a:ext cx="7752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latin typeface="Abadi" panose="020F0502020204030204" pitchFamily="34" charset="0"/>
              </a:defRPr>
            </a:lvl1pPr>
            <a:lvl2pPr lvl="1"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rPr dirty="0"/>
              <a:t>xx%</a:t>
            </a:r>
          </a:p>
        </p:txBody>
      </p:sp>
      <p:sp>
        <p:nvSpPr>
          <p:cNvPr id="45" name="Google Shape;45;p12"/>
          <p:cNvSpPr txBox="1">
            <a:spLocks noGrp="1"/>
          </p:cNvSpPr>
          <p:nvPr>
            <p:ph type="ctrTitle" idx="3"/>
          </p:nvPr>
        </p:nvSpPr>
        <p:spPr>
          <a:xfrm>
            <a:off x="5925450" y="1939901"/>
            <a:ext cx="2322300" cy="357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000">
                <a:solidFill>
                  <a:schemeClr val="lt1"/>
                </a:solidFill>
                <a:latin typeface="Abadi" panose="020F0502020204030204" pitchFamily="34" charset="0"/>
              </a:defRPr>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dirty="0"/>
          </a:p>
        </p:txBody>
      </p:sp>
      <p:sp>
        <p:nvSpPr>
          <p:cNvPr id="46" name="Google Shape;46;p12"/>
          <p:cNvSpPr txBox="1">
            <a:spLocks noGrp="1"/>
          </p:cNvSpPr>
          <p:nvPr>
            <p:ph type="subTitle" idx="4"/>
          </p:nvPr>
        </p:nvSpPr>
        <p:spPr>
          <a:xfrm>
            <a:off x="5925453" y="2133082"/>
            <a:ext cx="23223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7" name="Google Shape;47;p12"/>
          <p:cNvSpPr txBox="1">
            <a:spLocks noGrp="1"/>
          </p:cNvSpPr>
          <p:nvPr>
            <p:ph type="title" idx="5" hasCustomPrompt="1"/>
          </p:nvPr>
        </p:nvSpPr>
        <p:spPr>
          <a:xfrm>
            <a:off x="6784353" y="1362663"/>
            <a:ext cx="6045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latin typeface="Abadi" panose="020F0502020204030204" pitchFamily="34" charset="0"/>
              </a:defRPr>
            </a:lvl1pPr>
            <a:lvl2pPr lvl="1"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rPr dirty="0"/>
              <a:t>xx%</a:t>
            </a:r>
          </a:p>
        </p:txBody>
      </p:sp>
      <p:sp>
        <p:nvSpPr>
          <p:cNvPr id="48" name="Google Shape;48;p12"/>
          <p:cNvSpPr txBox="1">
            <a:spLocks noGrp="1"/>
          </p:cNvSpPr>
          <p:nvPr>
            <p:ph type="ctrTitle" idx="6"/>
          </p:nvPr>
        </p:nvSpPr>
        <p:spPr>
          <a:xfrm>
            <a:off x="3410850" y="1939901"/>
            <a:ext cx="2322300" cy="357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000">
                <a:solidFill>
                  <a:schemeClr val="lt1"/>
                </a:solidFill>
                <a:latin typeface="Abadi" panose="020F0502020204030204" pitchFamily="34" charset="0"/>
              </a:defRPr>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dirty="0"/>
          </a:p>
        </p:txBody>
      </p:sp>
      <p:sp>
        <p:nvSpPr>
          <p:cNvPr id="49" name="Google Shape;49;p12"/>
          <p:cNvSpPr txBox="1">
            <a:spLocks noGrp="1"/>
          </p:cNvSpPr>
          <p:nvPr>
            <p:ph type="subTitle" idx="7"/>
          </p:nvPr>
        </p:nvSpPr>
        <p:spPr>
          <a:xfrm>
            <a:off x="3410850" y="2133082"/>
            <a:ext cx="23223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 name="Google Shape;50;p12"/>
          <p:cNvSpPr txBox="1">
            <a:spLocks noGrp="1"/>
          </p:cNvSpPr>
          <p:nvPr>
            <p:ph type="title" idx="8" hasCustomPrompt="1"/>
          </p:nvPr>
        </p:nvSpPr>
        <p:spPr>
          <a:xfrm>
            <a:off x="4235250" y="1362663"/>
            <a:ext cx="6735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latin typeface="Abadi" panose="020F0502020204030204" pitchFamily="34" charset="0"/>
              </a:defRPr>
            </a:lvl1pPr>
            <a:lvl2pPr lvl="1"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rPr dirty="0"/>
              <a:t>xx%</a:t>
            </a:r>
          </a:p>
        </p:txBody>
      </p:sp>
      <p:sp>
        <p:nvSpPr>
          <p:cNvPr id="51" name="Google Shape;51;p12"/>
          <p:cNvSpPr txBox="1">
            <a:spLocks noGrp="1"/>
          </p:cNvSpPr>
          <p:nvPr>
            <p:ph type="ctrTitle" idx="9"/>
          </p:nvPr>
        </p:nvSpPr>
        <p:spPr>
          <a:xfrm>
            <a:off x="5925449" y="3310214"/>
            <a:ext cx="2322300" cy="357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000">
                <a:solidFill>
                  <a:schemeClr val="lt1"/>
                </a:solidFill>
                <a:latin typeface="Abadi" panose="020F0502020204030204" pitchFamily="34" charset="0"/>
              </a:defRPr>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dirty="0"/>
          </a:p>
        </p:txBody>
      </p:sp>
      <p:sp>
        <p:nvSpPr>
          <p:cNvPr id="52" name="Google Shape;52;p12"/>
          <p:cNvSpPr txBox="1">
            <a:spLocks noGrp="1"/>
          </p:cNvSpPr>
          <p:nvPr>
            <p:ph type="subTitle" idx="13"/>
          </p:nvPr>
        </p:nvSpPr>
        <p:spPr>
          <a:xfrm>
            <a:off x="5925453" y="3518514"/>
            <a:ext cx="23223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 name="Google Shape;53;p12"/>
          <p:cNvSpPr txBox="1">
            <a:spLocks noGrp="1"/>
          </p:cNvSpPr>
          <p:nvPr>
            <p:ph type="title" idx="14" hasCustomPrompt="1"/>
          </p:nvPr>
        </p:nvSpPr>
        <p:spPr>
          <a:xfrm>
            <a:off x="6784353" y="2722271"/>
            <a:ext cx="6045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latin typeface="Abadi" panose="020F0502020204030204" pitchFamily="34" charset="0"/>
              </a:defRPr>
            </a:lvl1pPr>
            <a:lvl2pPr lvl="1"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rPr dirty="0"/>
              <a:t>xx%</a:t>
            </a:r>
          </a:p>
        </p:txBody>
      </p:sp>
      <p:sp>
        <p:nvSpPr>
          <p:cNvPr id="54" name="Google Shape;54;p12"/>
          <p:cNvSpPr txBox="1">
            <a:spLocks noGrp="1"/>
          </p:cNvSpPr>
          <p:nvPr>
            <p:ph type="ctrTitle" idx="15"/>
          </p:nvPr>
        </p:nvSpPr>
        <p:spPr>
          <a:xfrm>
            <a:off x="624257" y="392332"/>
            <a:ext cx="3729900" cy="61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3000">
                <a:solidFill>
                  <a:schemeClr val="lt1"/>
                </a:solidFill>
                <a:latin typeface="Abadi" panose="020F0502020204030204" pitchFamily="34" charset="0"/>
              </a:defRPr>
            </a:lvl1pPr>
            <a:lvl2pPr lvl="1" algn="ctr" rtl="0">
              <a:spcBef>
                <a:spcPts val="0"/>
              </a:spcBef>
              <a:spcAft>
                <a:spcPts val="0"/>
              </a:spcAft>
              <a:buSzPts val="1100"/>
              <a:buNone/>
              <a:defRPr sz="1100"/>
            </a:lvl2pPr>
            <a:lvl3pPr lvl="2" algn="ctr" rtl="0">
              <a:spcBef>
                <a:spcPts val="0"/>
              </a:spcBef>
              <a:spcAft>
                <a:spcPts val="0"/>
              </a:spcAft>
              <a:buSzPts val="1100"/>
              <a:buNone/>
              <a:defRPr sz="1100"/>
            </a:lvl3pPr>
            <a:lvl4pPr lvl="3" algn="ctr" rtl="0">
              <a:spcBef>
                <a:spcPts val="0"/>
              </a:spcBef>
              <a:spcAft>
                <a:spcPts val="0"/>
              </a:spcAft>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dirty="0"/>
          </a:p>
        </p:txBody>
      </p:sp>
      <p:sp>
        <p:nvSpPr>
          <p:cNvPr id="55" name="Google Shape;55;p12"/>
          <p:cNvSpPr txBox="1">
            <a:spLocks noGrp="1"/>
          </p:cNvSpPr>
          <p:nvPr>
            <p:ph type="ctrTitle" idx="16"/>
          </p:nvPr>
        </p:nvSpPr>
        <p:spPr>
          <a:xfrm>
            <a:off x="1036050" y="1939901"/>
            <a:ext cx="1690200" cy="357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000">
                <a:solidFill>
                  <a:schemeClr val="lt1"/>
                </a:solidFill>
                <a:latin typeface="Abadi" panose="020F0502020204030204" pitchFamily="34" charset="0"/>
              </a:defRPr>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dirty="0"/>
          </a:p>
        </p:txBody>
      </p:sp>
      <p:sp>
        <p:nvSpPr>
          <p:cNvPr id="56" name="Google Shape;56;p12"/>
          <p:cNvSpPr txBox="1">
            <a:spLocks noGrp="1"/>
          </p:cNvSpPr>
          <p:nvPr>
            <p:ph type="subTitle" idx="17"/>
          </p:nvPr>
        </p:nvSpPr>
        <p:spPr>
          <a:xfrm>
            <a:off x="720007" y="2133082"/>
            <a:ext cx="23223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7" name="Google Shape;57;p12"/>
          <p:cNvSpPr txBox="1">
            <a:spLocks noGrp="1"/>
          </p:cNvSpPr>
          <p:nvPr>
            <p:ph type="title" idx="18" hasCustomPrompt="1"/>
          </p:nvPr>
        </p:nvSpPr>
        <p:spPr>
          <a:xfrm>
            <a:off x="1544407" y="1362663"/>
            <a:ext cx="6735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latin typeface="Abadi" panose="020F0502020204030204" pitchFamily="34" charset="0"/>
              </a:defRPr>
            </a:lvl1pPr>
            <a:lvl2pPr lvl="1"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rPr dirty="0"/>
              <a:t>xx%</a:t>
            </a:r>
          </a:p>
        </p:txBody>
      </p:sp>
      <p:sp>
        <p:nvSpPr>
          <p:cNvPr id="58" name="Google Shape;58;p12"/>
          <p:cNvSpPr txBox="1">
            <a:spLocks noGrp="1"/>
          </p:cNvSpPr>
          <p:nvPr>
            <p:ph type="ctrTitle" idx="19"/>
          </p:nvPr>
        </p:nvSpPr>
        <p:spPr>
          <a:xfrm>
            <a:off x="3410844" y="3310214"/>
            <a:ext cx="2322300" cy="357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000">
                <a:solidFill>
                  <a:schemeClr val="lt1"/>
                </a:solidFill>
                <a:latin typeface="Abadi" panose="020F0502020204030204" pitchFamily="34" charset="0"/>
              </a:defRPr>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dirty="0"/>
          </a:p>
        </p:txBody>
      </p:sp>
      <p:sp>
        <p:nvSpPr>
          <p:cNvPr id="59" name="Google Shape;59;p12"/>
          <p:cNvSpPr txBox="1">
            <a:spLocks noGrp="1"/>
          </p:cNvSpPr>
          <p:nvPr>
            <p:ph type="subTitle" idx="20"/>
          </p:nvPr>
        </p:nvSpPr>
        <p:spPr>
          <a:xfrm>
            <a:off x="3410850" y="3518514"/>
            <a:ext cx="23223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 name="Google Shape;60;p12"/>
          <p:cNvSpPr txBox="1">
            <a:spLocks noGrp="1"/>
          </p:cNvSpPr>
          <p:nvPr>
            <p:ph type="title" idx="21" hasCustomPrompt="1"/>
          </p:nvPr>
        </p:nvSpPr>
        <p:spPr>
          <a:xfrm>
            <a:off x="4288050" y="2722271"/>
            <a:ext cx="5679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accent2"/>
                </a:solidFill>
                <a:latin typeface="Abadi" panose="020F0502020204030204" pitchFamily="34" charset="0"/>
              </a:defRPr>
            </a:lvl1pPr>
            <a:lvl2pPr lvl="1"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rPr dirty="0"/>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long list">
  <p:cSld name="CUSTOM_5">
    <p:bg>
      <p:bgPr>
        <a:blipFill>
          <a:blip r:embed="rId2">
            <a:alphaModFix/>
          </a:blip>
          <a:stretch>
            <a:fillRect/>
          </a:stretch>
        </a:blipFill>
        <a:effectLst/>
      </p:bgPr>
    </p:bg>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607626" y="395717"/>
            <a:ext cx="4355100" cy="572700"/>
          </a:xfrm>
          <a:prstGeom prst="rect">
            <a:avLst/>
          </a:prstGeom>
        </p:spPr>
        <p:txBody>
          <a:bodyPr spcFirstLastPara="1" wrap="square" lIns="91425" tIns="91425" rIns="91425" bIns="91425" anchor="t" anchorCtr="0">
            <a:noAutofit/>
          </a:bodyPr>
          <a:lstStyle>
            <a:lvl1pPr lvl="0">
              <a:spcBef>
                <a:spcPts val="0"/>
              </a:spcBef>
              <a:spcAft>
                <a:spcPts val="0"/>
              </a:spcAft>
              <a:buNone/>
              <a:defRPr>
                <a:solidFill>
                  <a:schemeClr val="lt1"/>
                </a:solidFill>
                <a:latin typeface="Abadi" panose="020F0502020204030204" pitchFamily="34" charset="0"/>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a:endParaRPr dirty="0"/>
          </a:p>
        </p:txBody>
      </p:sp>
      <p:sp>
        <p:nvSpPr>
          <p:cNvPr id="121" name="Google Shape;121;p21"/>
          <p:cNvSpPr txBox="1">
            <a:spLocks noGrp="1"/>
          </p:cNvSpPr>
          <p:nvPr>
            <p:ph type="body" idx="1"/>
          </p:nvPr>
        </p:nvSpPr>
        <p:spPr>
          <a:xfrm>
            <a:off x="635976" y="1043725"/>
            <a:ext cx="7788000" cy="36951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accent2"/>
              </a:buClr>
              <a:buSzPts val="1200"/>
              <a:buFont typeface="Nunito Sans SemiBold"/>
              <a:buAutoNum type="arabicPeriod"/>
              <a:defRPr sz="1200"/>
            </a:lvl1pPr>
            <a:lvl2pPr marL="914400" lvl="1" indent="-304800" rtl="0">
              <a:spcBef>
                <a:spcPts val="1600"/>
              </a:spcBef>
              <a:spcAft>
                <a:spcPts val="0"/>
              </a:spcAft>
              <a:buSzPts val="1200"/>
              <a:buFont typeface="Roboto Condensed Light"/>
              <a:buAutoNum type="alphaLcPeriod"/>
              <a:defRPr/>
            </a:lvl2pPr>
            <a:lvl3pPr marL="1371600" lvl="2" indent="-304800" rtl="0">
              <a:spcBef>
                <a:spcPts val="1600"/>
              </a:spcBef>
              <a:spcAft>
                <a:spcPts val="0"/>
              </a:spcAft>
              <a:buSzPts val="1200"/>
              <a:buFont typeface="Roboto Condensed Light"/>
              <a:buAutoNum type="romanLcPeriod"/>
              <a:defRPr/>
            </a:lvl3pPr>
            <a:lvl4pPr marL="1828800" lvl="3" indent="-304800" rtl="0">
              <a:spcBef>
                <a:spcPts val="1600"/>
              </a:spcBef>
              <a:spcAft>
                <a:spcPts val="0"/>
              </a:spcAft>
              <a:buSzPts val="1200"/>
              <a:buFont typeface="Roboto Condensed Light"/>
              <a:buAutoNum type="arabicPeriod"/>
              <a:defRPr/>
            </a:lvl4pPr>
            <a:lvl5pPr marL="2286000" lvl="4" indent="-304800" rtl="0">
              <a:spcBef>
                <a:spcPts val="1600"/>
              </a:spcBef>
              <a:spcAft>
                <a:spcPts val="0"/>
              </a:spcAft>
              <a:buSzPts val="1200"/>
              <a:buFont typeface="Roboto Condensed Light"/>
              <a:buAutoNum type="alphaLcPeriod"/>
              <a:defRPr/>
            </a:lvl5pPr>
            <a:lvl6pPr marL="2743200" lvl="5" indent="-304800" rtl="0">
              <a:spcBef>
                <a:spcPts val="1600"/>
              </a:spcBef>
              <a:spcAft>
                <a:spcPts val="0"/>
              </a:spcAft>
              <a:buSzPts val="1200"/>
              <a:buFont typeface="Roboto Condensed Light"/>
              <a:buAutoNum type="romanLcPeriod"/>
              <a:defRPr/>
            </a:lvl6pPr>
            <a:lvl7pPr marL="3200400" lvl="6" indent="-304800" rtl="0">
              <a:spcBef>
                <a:spcPts val="1600"/>
              </a:spcBef>
              <a:spcAft>
                <a:spcPts val="0"/>
              </a:spcAft>
              <a:buSzPts val="1200"/>
              <a:buFont typeface="Roboto Condensed Light"/>
              <a:buAutoNum type="arabicPeriod"/>
              <a:defRPr/>
            </a:lvl7pPr>
            <a:lvl8pPr marL="3657600" lvl="7" indent="-304800" rtl="0">
              <a:spcBef>
                <a:spcPts val="1600"/>
              </a:spcBef>
              <a:spcAft>
                <a:spcPts val="0"/>
              </a:spcAft>
              <a:buSzPts val="1200"/>
              <a:buFont typeface="Roboto Condensed Light"/>
              <a:buAutoNum type="alphaLcPeriod"/>
              <a:defRPr/>
            </a:lvl8pPr>
            <a:lvl9pPr marL="4114800" lvl="8" indent="-304800" rtl="0">
              <a:spcBef>
                <a:spcPts val="1600"/>
              </a:spcBef>
              <a:spcAft>
                <a:spcPts val="1600"/>
              </a:spcAft>
              <a:buSzPts val="1200"/>
              <a:buFont typeface="Roboto Condensed Light"/>
              <a:buAutoNum type="romanLcPeriod"/>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Resources">
  <p:cSld name="CUSTOM_5_1">
    <p:bg>
      <p:bgPr>
        <a:blipFill>
          <a:blip r:embed="rId2">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622279" y="392748"/>
            <a:ext cx="43551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3000">
                <a:solidFill>
                  <a:schemeClr val="lt1"/>
                </a:solidFill>
                <a:latin typeface="Abadi" panose="020F0502020204030204" pitchFamily="34" charset="0"/>
              </a:defRPr>
            </a:lvl1pPr>
            <a:lvl2pPr lvl="1" rtl="0">
              <a:spcBef>
                <a:spcPts val="0"/>
              </a:spcBef>
              <a:spcAft>
                <a:spcPts val="0"/>
              </a:spcAft>
              <a:buNone/>
              <a:defRPr sz="3000">
                <a:solidFill>
                  <a:schemeClr val="lt1"/>
                </a:solidFill>
              </a:defRPr>
            </a:lvl2pPr>
            <a:lvl3pPr lvl="2" rtl="0">
              <a:spcBef>
                <a:spcPts val="0"/>
              </a:spcBef>
              <a:spcAft>
                <a:spcPts val="0"/>
              </a:spcAft>
              <a:buNone/>
              <a:defRPr sz="3000">
                <a:solidFill>
                  <a:schemeClr val="lt1"/>
                </a:solidFill>
              </a:defRPr>
            </a:lvl3pPr>
            <a:lvl4pPr lvl="3" rtl="0">
              <a:spcBef>
                <a:spcPts val="0"/>
              </a:spcBef>
              <a:spcAft>
                <a:spcPts val="0"/>
              </a:spcAft>
              <a:buNone/>
              <a:defRPr sz="3000">
                <a:solidFill>
                  <a:schemeClr val="lt1"/>
                </a:solidFill>
              </a:defRPr>
            </a:lvl4pPr>
            <a:lvl5pPr lvl="4" rtl="0">
              <a:spcBef>
                <a:spcPts val="0"/>
              </a:spcBef>
              <a:spcAft>
                <a:spcPts val="0"/>
              </a:spcAft>
              <a:buNone/>
              <a:defRPr sz="3000">
                <a:solidFill>
                  <a:schemeClr val="lt1"/>
                </a:solidFill>
              </a:defRPr>
            </a:lvl5pPr>
            <a:lvl6pPr lvl="5" rtl="0">
              <a:spcBef>
                <a:spcPts val="0"/>
              </a:spcBef>
              <a:spcAft>
                <a:spcPts val="0"/>
              </a:spcAft>
              <a:buNone/>
              <a:defRPr sz="3000">
                <a:solidFill>
                  <a:schemeClr val="lt1"/>
                </a:solidFill>
              </a:defRPr>
            </a:lvl6pPr>
            <a:lvl7pPr lvl="6" rtl="0">
              <a:spcBef>
                <a:spcPts val="0"/>
              </a:spcBef>
              <a:spcAft>
                <a:spcPts val="0"/>
              </a:spcAft>
              <a:buNone/>
              <a:defRPr sz="3000">
                <a:solidFill>
                  <a:schemeClr val="lt1"/>
                </a:solidFill>
              </a:defRPr>
            </a:lvl7pPr>
            <a:lvl8pPr lvl="7" rtl="0">
              <a:spcBef>
                <a:spcPts val="0"/>
              </a:spcBef>
              <a:spcAft>
                <a:spcPts val="0"/>
              </a:spcAft>
              <a:buNone/>
              <a:defRPr sz="3000">
                <a:solidFill>
                  <a:schemeClr val="lt1"/>
                </a:solidFill>
              </a:defRPr>
            </a:lvl8pPr>
            <a:lvl9pPr lvl="8" rtl="0">
              <a:spcBef>
                <a:spcPts val="0"/>
              </a:spcBef>
              <a:spcAft>
                <a:spcPts val="0"/>
              </a:spcAft>
              <a:buNone/>
              <a:defRPr sz="3000">
                <a:solidFill>
                  <a:schemeClr val="lt1"/>
                </a:solidFill>
              </a:defRPr>
            </a:lvl9pPr>
          </a:lstStyle>
          <a:p>
            <a:endParaRPr dirty="0"/>
          </a:p>
        </p:txBody>
      </p:sp>
      <p:sp>
        <p:nvSpPr>
          <p:cNvPr id="124" name="Google Shape;124;p22"/>
          <p:cNvSpPr txBox="1">
            <a:spLocks noGrp="1"/>
          </p:cNvSpPr>
          <p:nvPr>
            <p:ph type="body" idx="1"/>
          </p:nvPr>
        </p:nvSpPr>
        <p:spPr>
          <a:xfrm>
            <a:off x="604325" y="1268806"/>
            <a:ext cx="3196800" cy="3695100"/>
          </a:xfrm>
          <a:prstGeom prst="rect">
            <a:avLst/>
          </a:prstGeom>
        </p:spPr>
        <p:txBody>
          <a:bodyPr spcFirstLastPara="1" wrap="square" lIns="91425" tIns="91425" rIns="91425" bIns="91425" anchor="t" anchorCtr="0">
            <a:noAutofit/>
          </a:bodyPr>
          <a:lstStyle>
            <a:lvl1pPr marL="457200" lvl="0" indent="-279400" rtl="0">
              <a:lnSpc>
                <a:spcPct val="100000"/>
              </a:lnSpc>
              <a:spcBef>
                <a:spcPts val="300"/>
              </a:spcBef>
              <a:spcAft>
                <a:spcPts val="0"/>
              </a:spcAft>
              <a:buSzPts val="800"/>
              <a:buFont typeface="Nunito Light"/>
              <a:buChar char="●"/>
              <a:defRPr sz="1200"/>
            </a:lvl1pPr>
            <a:lvl2pPr marL="914400" lvl="1" indent="-304800" rtl="0">
              <a:spcBef>
                <a:spcPts val="0"/>
              </a:spcBef>
              <a:spcAft>
                <a:spcPts val="0"/>
              </a:spcAft>
              <a:buSzPts val="1200"/>
              <a:buFont typeface="Nunito Light"/>
              <a:buChar char="○"/>
              <a:defRPr/>
            </a:lvl2pPr>
            <a:lvl3pPr marL="1371600" lvl="2" indent="-304800" rtl="0">
              <a:spcBef>
                <a:spcPts val="1600"/>
              </a:spcBef>
              <a:spcAft>
                <a:spcPts val="0"/>
              </a:spcAft>
              <a:buSzPts val="1200"/>
              <a:buFont typeface="Nunito Light"/>
              <a:buChar char="■"/>
              <a:defRPr/>
            </a:lvl3pPr>
            <a:lvl4pPr marL="1828800" lvl="3" indent="-304800" rtl="0">
              <a:spcBef>
                <a:spcPts val="1600"/>
              </a:spcBef>
              <a:spcAft>
                <a:spcPts val="0"/>
              </a:spcAft>
              <a:buSzPts val="1200"/>
              <a:buFont typeface="Nunito Light"/>
              <a:buChar char="●"/>
              <a:defRPr/>
            </a:lvl4pPr>
            <a:lvl5pPr marL="2286000" lvl="4" indent="-304800" rtl="0">
              <a:spcBef>
                <a:spcPts val="1600"/>
              </a:spcBef>
              <a:spcAft>
                <a:spcPts val="0"/>
              </a:spcAft>
              <a:buSzPts val="1200"/>
              <a:buFont typeface="Nunito Light"/>
              <a:buChar char="○"/>
              <a:defRPr/>
            </a:lvl5pPr>
            <a:lvl6pPr marL="2743200" lvl="5" indent="-304800" rtl="0">
              <a:spcBef>
                <a:spcPts val="1600"/>
              </a:spcBef>
              <a:spcAft>
                <a:spcPts val="0"/>
              </a:spcAft>
              <a:buSzPts val="1200"/>
              <a:buFont typeface="Nunito Light"/>
              <a:buChar char="■"/>
              <a:defRPr/>
            </a:lvl6pPr>
            <a:lvl7pPr marL="3200400" lvl="6" indent="-304800" rtl="0">
              <a:spcBef>
                <a:spcPts val="1600"/>
              </a:spcBef>
              <a:spcAft>
                <a:spcPts val="0"/>
              </a:spcAft>
              <a:buSzPts val="1200"/>
              <a:buFont typeface="Nunito Light"/>
              <a:buChar char="●"/>
              <a:defRPr/>
            </a:lvl7pPr>
            <a:lvl8pPr marL="3657600" lvl="7" indent="-304800" rtl="0">
              <a:spcBef>
                <a:spcPts val="1600"/>
              </a:spcBef>
              <a:spcAft>
                <a:spcPts val="0"/>
              </a:spcAft>
              <a:buSzPts val="1200"/>
              <a:buFont typeface="Nunito Light"/>
              <a:buChar char="○"/>
              <a:defRPr/>
            </a:lvl8pPr>
            <a:lvl9pPr marL="4114800" lvl="8" indent="-304800" rtl="0">
              <a:spcBef>
                <a:spcPts val="1600"/>
              </a:spcBef>
              <a:spcAft>
                <a:spcPts val="1600"/>
              </a:spcAft>
              <a:buSzPts val="1200"/>
              <a:buFont typeface="Nunito Light"/>
              <a:buChar char="■"/>
              <a:defRPr/>
            </a:lvl9pPr>
          </a:lstStyle>
          <a:p>
            <a:endParaRPr/>
          </a:p>
        </p:txBody>
      </p:sp>
      <p:sp>
        <p:nvSpPr>
          <p:cNvPr id="125" name="Google Shape;125;p22"/>
          <p:cNvSpPr txBox="1">
            <a:spLocks noGrp="1"/>
          </p:cNvSpPr>
          <p:nvPr>
            <p:ph type="body" idx="2"/>
          </p:nvPr>
        </p:nvSpPr>
        <p:spPr>
          <a:xfrm>
            <a:off x="4626925" y="588981"/>
            <a:ext cx="3346800" cy="3695100"/>
          </a:xfrm>
          <a:prstGeom prst="rect">
            <a:avLst/>
          </a:prstGeom>
        </p:spPr>
        <p:txBody>
          <a:bodyPr spcFirstLastPara="1" wrap="square" lIns="91425" tIns="91425" rIns="91425" bIns="91425" anchor="t" anchorCtr="0">
            <a:noAutofit/>
          </a:bodyPr>
          <a:lstStyle>
            <a:lvl1pPr marL="457200" lvl="0" indent="-279400" rtl="0">
              <a:lnSpc>
                <a:spcPct val="100000"/>
              </a:lnSpc>
              <a:spcBef>
                <a:spcPts val="0"/>
              </a:spcBef>
              <a:spcAft>
                <a:spcPts val="0"/>
              </a:spcAft>
              <a:buSzPts val="800"/>
              <a:buFont typeface="Nunito Light"/>
              <a:buChar char="●"/>
              <a:defRPr sz="1200"/>
            </a:lvl1pPr>
            <a:lvl2pPr marL="914400" lvl="1" indent="-304800" rtl="0">
              <a:spcBef>
                <a:spcPts val="1600"/>
              </a:spcBef>
              <a:spcAft>
                <a:spcPts val="0"/>
              </a:spcAft>
              <a:buSzPts val="1200"/>
              <a:buFont typeface="Nunito Light"/>
              <a:buChar char="○"/>
              <a:defRPr/>
            </a:lvl2pPr>
            <a:lvl3pPr marL="1371600" lvl="2" indent="-304800" rtl="0">
              <a:spcBef>
                <a:spcPts val="1600"/>
              </a:spcBef>
              <a:spcAft>
                <a:spcPts val="0"/>
              </a:spcAft>
              <a:buSzPts val="1200"/>
              <a:buFont typeface="Nunito Light"/>
              <a:buChar char="■"/>
              <a:defRPr/>
            </a:lvl3pPr>
            <a:lvl4pPr marL="1828800" lvl="3" indent="-304800" rtl="0">
              <a:spcBef>
                <a:spcPts val="1600"/>
              </a:spcBef>
              <a:spcAft>
                <a:spcPts val="0"/>
              </a:spcAft>
              <a:buSzPts val="1200"/>
              <a:buFont typeface="Nunito Light"/>
              <a:buChar char="●"/>
              <a:defRPr/>
            </a:lvl4pPr>
            <a:lvl5pPr marL="2286000" lvl="4" indent="-304800" rtl="0">
              <a:spcBef>
                <a:spcPts val="1600"/>
              </a:spcBef>
              <a:spcAft>
                <a:spcPts val="0"/>
              </a:spcAft>
              <a:buSzPts val="1200"/>
              <a:buFont typeface="Nunito Light"/>
              <a:buChar char="○"/>
              <a:defRPr/>
            </a:lvl5pPr>
            <a:lvl6pPr marL="2743200" lvl="5" indent="-304800" rtl="0">
              <a:spcBef>
                <a:spcPts val="1600"/>
              </a:spcBef>
              <a:spcAft>
                <a:spcPts val="0"/>
              </a:spcAft>
              <a:buSzPts val="1200"/>
              <a:buFont typeface="Nunito Light"/>
              <a:buChar char="■"/>
              <a:defRPr/>
            </a:lvl6pPr>
            <a:lvl7pPr marL="3200400" lvl="6" indent="-304800" rtl="0">
              <a:spcBef>
                <a:spcPts val="1600"/>
              </a:spcBef>
              <a:spcAft>
                <a:spcPts val="0"/>
              </a:spcAft>
              <a:buSzPts val="1200"/>
              <a:buFont typeface="Nunito Light"/>
              <a:buChar char="●"/>
              <a:defRPr/>
            </a:lvl7pPr>
            <a:lvl8pPr marL="3657600" lvl="7" indent="-304800" rtl="0">
              <a:spcBef>
                <a:spcPts val="1600"/>
              </a:spcBef>
              <a:spcAft>
                <a:spcPts val="0"/>
              </a:spcAft>
              <a:buSzPts val="1200"/>
              <a:buFont typeface="Nunito Light"/>
              <a:buChar char="○"/>
              <a:defRPr/>
            </a:lvl8pPr>
            <a:lvl9pPr marL="4114800" lvl="8" indent="-304800" rtl="0">
              <a:spcBef>
                <a:spcPts val="1600"/>
              </a:spcBef>
              <a:spcAft>
                <a:spcPts val="1600"/>
              </a:spcAft>
              <a:buSzPts val="1200"/>
              <a:buFont typeface="Nunito Light"/>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3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1pPr>
            <a:lvl2pPr lvl="1">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2pPr>
            <a:lvl3pPr lvl="2">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3pPr>
            <a:lvl4pPr lvl="3">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4pPr>
            <a:lvl5pPr lvl="4">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5pPr>
            <a:lvl6pPr lvl="5">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6pPr>
            <a:lvl7pPr lvl="6">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7pPr>
            <a:lvl8pPr lvl="7">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8pPr>
            <a:lvl9pPr lvl="8">
              <a:spcBef>
                <a:spcPts val="0"/>
              </a:spcBef>
              <a:spcAft>
                <a:spcPts val="0"/>
              </a:spcAft>
              <a:buClr>
                <a:schemeClr val="dk1"/>
              </a:buClr>
              <a:buSzPts val="2800"/>
              <a:buFont typeface="Big Shoulders Display"/>
              <a:buNone/>
              <a:defRPr sz="2800" b="1">
                <a:solidFill>
                  <a:schemeClr val="dk1"/>
                </a:solidFill>
                <a:latin typeface="Big Shoulders Display"/>
                <a:ea typeface="Big Shoulders Display"/>
                <a:cs typeface="Big Shoulders Display"/>
                <a:sym typeface="Big Shoulders Display"/>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Nunito Sans Light"/>
              <a:buChar char="●"/>
              <a:defRPr sz="1800">
                <a:solidFill>
                  <a:schemeClr val="dk1"/>
                </a:solidFill>
                <a:latin typeface="Nunito Sans Light"/>
                <a:ea typeface="Nunito Sans Light"/>
                <a:cs typeface="Nunito Sans Light"/>
                <a:sym typeface="Nunito Sans Light"/>
              </a:defRPr>
            </a:lvl1pPr>
            <a:lvl2pPr marL="914400" lvl="1" indent="-3175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2pPr>
            <a:lvl3pPr marL="1371600" lvl="2" indent="-3175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3pPr>
            <a:lvl4pPr marL="1828800" lvl="3" indent="-3175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4pPr>
            <a:lvl5pPr marL="2286000" lvl="4" indent="-3175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5pPr>
            <a:lvl6pPr marL="2743200" lvl="5" indent="-3175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6pPr>
            <a:lvl7pPr marL="3200400" lvl="6" indent="-3175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7pPr>
            <a:lvl8pPr marL="3657600" lvl="7" indent="-3175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8pPr>
            <a:lvl9pPr marL="4114800" lvl="8" indent="-317500">
              <a:lnSpc>
                <a:spcPct val="115000"/>
              </a:lnSpc>
              <a:spcBef>
                <a:spcPts val="1600"/>
              </a:spcBef>
              <a:spcAft>
                <a:spcPts val="160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5" r:id="rId3"/>
    <p:sldLayoutId id="2147483657" r:id="rId4"/>
    <p:sldLayoutId id="2147483658" r:id="rId5"/>
    <p:sldLayoutId id="2147483667" r:id="rId6"/>
    <p:sldLayoutId id="2147483668" r:id="rId7"/>
    <p:sldLayoutId id="2147483672"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33"/>
        <p:cNvGrpSpPr/>
        <p:nvPr/>
      </p:nvGrpSpPr>
      <p:grpSpPr>
        <a:xfrm>
          <a:off x="0" y="0"/>
          <a:ext cx="0" cy="0"/>
          <a:chOff x="0" y="0"/>
          <a:chExt cx="0" cy="0"/>
        </a:xfrm>
      </p:grpSpPr>
      <p:sp>
        <p:nvSpPr>
          <p:cNvPr id="134" name="Google Shape;134;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35" name="Google Shape;135;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pro-football-reference.com/years/2024/#kicking" TargetMode="Externa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21.xml"/><Relationship Id="rId1" Type="http://schemas.openxmlformats.org/officeDocument/2006/relationships/slideLayout" Target="../slideLayouts/slideLayout9.xml"/><Relationship Id="rId5" Type="http://schemas.openxmlformats.org/officeDocument/2006/relationships/hyperlink" Target="http://bit.ly/30B07Gq" TargetMode="External"/><Relationship Id="rId4" Type="http://schemas.openxmlformats.org/officeDocument/2006/relationships/hyperlink" Target="http://bit.ly/33VAFh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9"/>
          <p:cNvSpPr txBox="1">
            <a:spLocks noGrp="1"/>
          </p:cNvSpPr>
          <p:nvPr>
            <p:ph type="ctrTitle"/>
          </p:nvPr>
        </p:nvSpPr>
        <p:spPr>
          <a:xfrm flipH="1">
            <a:off x="1871850" y="641775"/>
            <a:ext cx="5400300" cy="126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a:t>Bayesian analysis of field goal attempts in American football</a:t>
            </a:r>
            <a:endParaRPr sz="3500" dirty="0"/>
          </a:p>
        </p:txBody>
      </p:sp>
      <p:grpSp>
        <p:nvGrpSpPr>
          <p:cNvPr id="142" name="Google Shape;142;p29"/>
          <p:cNvGrpSpPr/>
          <p:nvPr/>
        </p:nvGrpSpPr>
        <p:grpSpPr>
          <a:xfrm>
            <a:off x="2586537" y="1860883"/>
            <a:ext cx="3970926" cy="3506948"/>
            <a:chOff x="871500" y="3643775"/>
            <a:chExt cx="1327625" cy="1172500"/>
          </a:xfrm>
        </p:grpSpPr>
        <p:sp>
          <p:nvSpPr>
            <p:cNvPr id="143" name="Google Shape;143;p29"/>
            <p:cNvSpPr/>
            <p:nvPr/>
          </p:nvSpPr>
          <p:spPr>
            <a:xfrm>
              <a:off x="876525" y="3938975"/>
              <a:ext cx="1299275" cy="802175"/>
            </a:xfrm>
            <a:custGeom>
              <a:avLst/>
              <a:gdLst/>
              <a:ahLst/>
              <a:cxnLst/>
              <a:rect l="l" t="t" r="r" b="b"/>
              <a:pathLst>
                <a:path w="51971" h="32087" extrusionOk="0">
                  <a:moveTo>
                    <a:pt x="26160" y="1"/>
                  </a:moveTo>
                  <a:cubicBezTo>
                    <a:pt x="23857" y="1"/>
                    <a:pt x="21551" y="138"/>
                    <a:pt x="19250" y="395"/>
                  </a:cubicBezTo>
                  <a:cubicBezTo>
                    <a:pt x="14704" y="903"/>
                    <a:pt x="9824" y="1877"/>
                    <a:pt x="6349" y="5078"/>
                  </a:cubicBezTo>
                  <a:cubicBezTo>
                    <a:pt x="6037" y="5366"/>
                    <a:pt x="5740" y="5667"/>
                    <a:pt x="5458" y="5984"/>
                  </a:cubicBezTo>
                  <a:cubicBezTo>
                    <a:pt x="3641" y="8031"/>
                    <a:pt x="2510" y="10577"/>
                    <a:pt x="1511" y="13095"/>
                  </a:cubicBezTo>
                  <a:cubicBezTo>
                    <a:pt x="818" y="14838"/>
                    <a:pt x="168" y="16635"/>
                    <a:pt x="70" y="18508"/>
                  </a:cubicBezTo>
                  <a:cubicBezTo>
                    <a:pt x="1" y="19885"/>
                    <a:pt x="499" y="21046"/>
                    <a:pt x="642" y="22359"/>
                  </a:cubicBezTo>
                  <a:cubicBezTo>
                    <a:pt x="796" y="23795"/>
                    <a:pt x="619" y="25369"/>
                    <a:pt x="619" y="26819"/>
                  </a:cubicBezTo>
                  <a:lnTo>
                    <a:pt x="619" y="32087"/>
                  </a:lnTo>
                  <a:lnTo>
                    <a:pt x="51561" y="32087"/>
                  </a:lnTo>
                  <a:lnTo>
                    <a:pt x="51561" y="26819"/>
                  </a:lnTo>
                  <a:cubicBezTo>
                    <a:pt x="51561" y="23027"/>
                    <a:pt x="51971" y="19286"/>
                    <a:pt x="51109" y="15547"/>
                  </a:cubicBezTo>
                  <a:cubicBezTo>
                    <a:pt x="50034" y="10893"/>
                    <a:pt x="47904" y="5876"/>
                    <a:pt x="43605" y="3412"/>
                  </a:cubicBezTo>
                  <a:cubicBezTo>
                    <a:pt x="41384" y="2138"/>
                    <a:pt x="38873" y="1453"/>
                    <a:pt x="36359" y="962"/>
                  </a:cubicBezTo>
                  <a:cubicBezTo>
                    <a:pt x="32983" y="302"/>
                    <a:pt x="29575" y="1"/>
                    <a:pt x="26160" y="1"/>
                  </a:cubicBezTo>
                  <a:close/>
                </a:path>
              </a:pathLst>
            </a:custGeom>
            <a:solidFill>
              <a:srgbClr val="1D2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9"/>
            <p:cNvSpPr/>
            <p:nvPr/>
          </p:nvSpPr>
          <p:spPr>
            <a:xfrm>
              <a:off x="1176975" y="4533175"/>
              <a:ext cx="703600" cy="207975"/>
            </a:xfrm>
            <a:custGeom>
              <a:avLst/>
              <a:gdLst/>
              <a:ahLst/>
              <a:cxnLst/>
              <a:rect l="l" t="t" r="r" b="b"/>
              <a:pathLst>
                <a:path w="28144" h="8319" extrusionOk="0">
                  <a:moveTo>
                    <a:pt x="1" y="0"/>
                  </a:moveTo>
                  <a:lnTo>
                    <a:pt x="1" y="8319"/>
                  </a:lnTo>
                  <a:lnTo>
                    <a:pt x="28144" y="8319"/>
                  </a:lnTo>
                  <a:lnTo>
                    <a:pt x="2814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9"/>
            <p:cNvSpPr/>
            <p:nvPr/>
          </p:nvSpPr>
          <p:spPr>
            <a:xfrm>
              <a:off x="871500" y="4290350"/>
              <a:ext cx="341525" cy="233975"/>
            </a:xfrm>
            <a:custGeom>
              <a:avLst/>
              <a:gdLst/>
              <a:ahLst/>
              <a:cxnLst/>
              <a:rect l="l" t="t" r="r" b="b"/>
              <a:pathLst>
                <a:path w="13661" h="9359" extrusionOk="0">
                  <a:moveTo>
                    <a:pt x="6978" y="0"/>
                  </a:moveTo>
                  <a:cubicBezTo>
                    <a:pt x="5545" y="0"/>
                    <a:pt x="4084" y="308"/>
                    <a:pt x="2875" y="975"/>
                  </a:cubicBezTo>
                  <a:cubicBezTo>
                    <a:pt x="1577" y="1691"/>
                    <a:pt x="568" y="2820"/>
                    <a:pt x="185" y="4433"/>
                  </a:cubicBezTo>
                  <a:cubicBezTo>
                    <a:pt x="42" y="5027"/>
                    <a:pt x="1" y="5663"/>
                    <a:pt x="197" y="6242"/>
                  </a:cubicBezTo>
                  <a:cubicBezTo>
                    <a:pt x="763" y="7911"/>
                    <a:pt x="2731" y="7993"/>
                    <a:pt x="4289" y="7993"/>
                  </a:cubicBezTo>
                  <a:cubicBezTo>
                    <a:pt x="4458" y="7993"/>
                    <a:pt x="4623" y="7992"/>
                    <a:pt x="4781" y="7992"/>
                  </a:cubicBezTo>
                  <a:cubicBezTo>
                    <a:pt x="4813" y="7992"/>
                    <a:pt x="4844" y="7992"/>
                    <a:pt x="4876" y="7992"/>
                  </a:cubicBezTo>
                  <a:cubicBezTo>
                    <a:pt x="4887" y="7992"/>
                    <a:pt x="4899" y="7992"/>
                    <a:pt x="4910" y="7992"/>
                  </a:cubicBezTo>
                  <a:cubicBezTo>
                    <a:pt x="5727" y="7992"/>
                    <a:pt x="6543" y="7911"/>
                    <a:pt x="7360" y="7911"/>
                  </a:cubicBezTo>
                  <a:cubicBezTo>
                    <a:pt x="7393" y="7911"/>
                    <a:pt x="7427" y="7911"/>
                    <a:pt x="7460" y="7911"/>
                  </a:cubicBezTo>
                  <a:cubicBezTo>
                    <a:pt x="8990" y="7920"/>
                    <a:pt x="10027" y="9359"/>
                    <a:pt x="11363" y="9359"/>
                  </a:cubicBezTo>
                  <a:cubicBezTo>
                    <a:pt x="11603" y="9359"/>
                    <a:pt x="11853" y="9312"/>
                    <a:pt x="12117" y="9203"/>
                  </a:cubicBezTo>
                  <a:cubicBezTo>
                    <a:pt x="13661" y="8562"/>
                    <a:pt x="13494" y="6358"/>
                    <a:pt x="13221" y="5017"/>
                  </a:cubicBezTo>
                  <a:cubicBezTo>
                    <a:pt x="13003" y="3942"/>
                    <a:pt x="12608" y="2882"/>
                    <a:pt x="11908" y="2037"/>
                  </a:cubicBezTo>
                  <a:cubicBezTo>
                    <a:pt x="10865" y="783"/>
                    <a:pt x="9223" y="123"/>
                    <a:pt x="7598" y="20"/>
                  </a:cubicBezTo>
                  <a:cubicBezTo>
                    <a:pt x="7392" y="7"/>
                    <a:pt x="7185" y="0"/>
                    <a:pt x="6978" y="0"/>
                  </a:cubicBezTo>
                  <a:close/>
                </a:path>
              </a:pathLst>
            </a:custGeom>
            <a:solidFill>
              <a:srgbClr val="DEA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9"/>
            <p:cNvSpPr/>
            <p:nvPr/>
          </p:nvSpPr>
          <p:spPr>
            <a:xfrm>
              <a:off x="1854850" y="4299225"/>
              <a:ext cx="326050" cy="233950"/>
            </a:xfrm>
            <a:custGeom>
              <a:avLst/>
              <a:gdLst/>
              <a:ahLst/>
              <a:cxnLst/>
              <a:rect l="l" t="t" r="r" b="b"/>
              <a:pathLst>
                <a:path w="13042" h="9358" extrusionOk="0">
                  <a:moveTo>
                    <a:pt x="6651" y="1"/>
                  </a:moveTo>
                  <a:cubicBezTo>
                    <a:pt x="5286" y="1"/>
                    <a:pt x="3897" y="308"/>
                    <a:pt x="2744" y="975"/>
                  </a:cubicBezTo>
                  <a:cubicBezTo>
                    <a:pt x="1507" y="1692"/>
                    <a:pt x="543" y="2821"/>
                    <a:pt x="174" y="4432"/>
                  </a:cubicBezTo>
                  <a:cubicBezTo>
                    <a:pt x="39" y="5026"/>
                    <a:pt x="0" y="5664"/>
                    <a:pt x="189" y="6243"/>
                  </a:cubicBezTo>
                  <a:cubicBezTo>
                    <a:pt x="729" y="7910"/>
                    <a:pt x="2607" y="7992"/>
                    <a:pt x="4092" y="7992"/>
                  </a:cubicBezTo>
                  <a:cubicBezTo>
                    <a:pt x="4254" y="7992"/>
                    <a:pt x="4411" y="7991"/>
                    <a:pt x="4561" y="7991"/>
                  </a:cubicBezTo>
                  <a:cubicBezTo>
                    <a:pt x="4592" y="7991"/>
                    <a:pt x="4622" y="7991"/>
                    <a:pt x="4652" y="7991"/>
                  </a:cubicBezTo>
                  <a:cubicBezTo>
                    <a:pt x="4663" y="7991"/>
                    <a:pt x="4674" y="7991"/>
                    <a:pt x="4686" y="7991"/>
                  </a:cubicBezTo>
                  <a:cubicBezTo>
                    <a:pt x="5477" y="7991"/>
                    <a:pt x="6263" y="7910"/>
                    <a:pt x="7054" y="7910"/>
                  </a:cubicBezTo>
                  <a:cubicBezTo>
                    <a:pt x="7076" y="7910"/>
                    <a:pt x="7099" y="7910"/>
                    <a:pt x="7121" y="7910"/>
                  </a:cubicBezTo>
                  <a:cubicBezTo>
                    <a:pt x="8579" y="7920"/>
                    <a:pt x="9571" y="9357"/>
                    <a:pt x="10846" y="9357"/>
                  </a:cubicBezTo>
                  <a:cubicBezTo>
                    <a:pt x="11076" y="9357"/>
                    <a:pt x="11314" y="9311"/>
                    <a:pt x="11566" y="9201"/>
                  </a:cubicBezTo>
                  <a:cubicBezTo>
                    <a:pt x="13042" y="8560"/>
                    <a:pt x="12882" y="6359"/>
                    <a:pt x="12622" y="5018"/>
                  </a:cubicBezTo>
                  <a:cubicBezTo>
                    <a:pt x="12413" y="3943"/>
                    <a:pt x="12035" y="2883"/>
                    <a:pt x="11368" y="2038"/>
                  </a:cubicBezTo>
                  <a:cubicBezTo>
                    <a:pt x="10373" y="782"/>
                    <a:pt x="8805" y="121"/>
                    <a:pt x="7254" y="21"/>
                  </a:cubicBezTo>
                  <a:cubicBezTo>
                    <a:pt x="7054" y="7"/>
                    <a:pt x="6853" y="1"/>
                    <a:pt x="6651" y="1"/>
                  </a:cubicBezTo>
                  <a:close/>
                </a:path>
              </a:pathLst>
            </a:custGeom>
            <a:solidFill>
              <a:srgbClr val="DEA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9"/>
            <p:cNvSpPr/>
            <p:nvPr/>
          </p:nvSpPr>
          <p:spPr>
            <a:xfrm>
              <a:off x="890650" y="4319125"/>
              <a:ext cx="285000" cy="422025"/>
            </a:xfrm>
            <a:custGeom>
              <a:avLst/>
              <a:gdLst/>
              <a:ahLst/>
              <a:cxnLst/>
              <a:rect l="l" t="t" r="r" b="b"/>
              <a:pathLst>
                <a:path w="11400" h="16881" extrusionOk="0">
                  <a:moveTo>
                    <a:pt x="4552" y="0"/>
                  </a:moveTo>
                  <a:cubicBezTo>
                    <a:pt x="2108" y="0"/>
                    <a:pt x="0" y="3215"/>
                    <a:pt x="0" y="5943"/>
                  </a:cubicBezTo>
                  <a:lnTo>
                    <a:pt x="0" y="16881"/>
                  </a:lnTo>
                  <a:lnTo>
                    <a:pt x="11400" y="16881"/>
                  </a:lnTo>
                  <a:lnTo>
                    <a:pt x="11400" y="5943"/>
                  </a:lnTo>
                  <a:cubicBezTo>
                    <a:pt x="11400" y="2794"/>
                    <a:pt x="8538" y="1468"/>
                    <a:pt x="5700" y="243"/>
                  </a:cubicBezTo>
                  <a:cubicBezTo>
                    <a:pt x="5314" y="77"/>
                    <a:pt x="4929" y="0"/>
                    <a:pt x="4552" y="0"/>
                  </a:cubicBezTo>
                  <a:close/>
                </a:path>
              </a:pathLst>
            </a:custGeom>
            <a:solidFill>
              <a:srgbClr val="AA5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9"/>
            <p:cNvSpPr/>
            <p:nvPr/>
          </p:nvSpPr>
          <p:spPr>
            <a:xfrm>
              <a:off x="1880550" y="4321100"/>
              <a:ext cx="285025" cy="420050"/>
            </a:xfrm>
            <a:custGeom>
              <a:avLst/>
              <a:gdLst/>
              <a:ahLst/>
              <a:cxnLst/>
              <a:rect l="l" t="t" r="r" b="b"/>
              <a:pathLst>
                <a:path w="11401" h="16802" extrusionOk="0">
                  <a:moveTo>
                    <a:pt x="6720" y="0"/>
                  </a:moveTo>
                  <a:cubicBezTo>
                    <a:pt x="6386" y="0"/>
                    <a:pt x="6045" y="53"/>
                    <a:pt x="5700" y="164"/>
                  </a:cubicBezTo>
                  <a:cubicBezTo>
                    <a:pt x="2360" y="1244"/>
                    <a:pt x="1" y="2715"/>
                    <a:pt x="1" y="5864"/>
                  </a:cubicBezTo>
                  <a:lnTo>
                    <a:pt x="1" y="16802"/>
                  </a:lnTo>
                  <a:lnTo>
                    <a:pt x="11400" y="16802"/>
                  </a:lnTo>
                  <a:lnTo>
                    <a:pt x="11400" y="5864"/>
                  </a:lnTo>
                  <a:cubicBezTo>
                    <a:pt x="11400" y="3077"/>
                    <a:pt x="9282" y="0"/>
                    <a:pt x="6720" y="0"/>
                  </a:cubicBezTo>
                  <a:close/>
                </a:path>
              </a:pathLst>
            </a:custGeom>
            <a:solidFill>
              <a:srgbClr val="AA5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9"/>
            <p:cNvSpPr/>
            <p:nvPr/>
          </p:nvSpPr>
          <p:spPr>
            <a:xfrm>
              <a:off x="1306725" y="3931700"/>
              <a:ext cx="444050" cy="460175"/>
            </a:xfrm>
            <a:custGeom>
              <a:avLst/>
              <a:gdLst/>
              <a:ahLst/>
              <a:cxnLst/>
              <a:rect l="l" t="t" r="r" b="b"/>
              <a:pathLst>
                <a:path w="17762" h="18407" extrusionOk="0">
                  <a:moveTo>
                    <a:pt x="8881" y="1"/>
                  </a:moveTo>
                  <a:cubicBezTo>
                    <a:pt x="3977" y="1"/>
                    <a:pt x="0" y="3978"/>
                    <a:pt x="0" y="8882"/>
                  </a:cubicBezTo>
                  <a:cubicBezTo>
                    <a:pt x="0" y="13786"/>
                    <a:pt x="3977" y="18406"/>
                    <a:pt x="8881" y="18406"/>
                  </a:cubicBezTo>
                  <a:cubicBezTo>
                    <a:pt x="13785" y="18406"/>
                    <a:pt x="17762" y="13789"/>
                    <a:pt x="17762" y="8882"/>
                  </a:cubicBezTo>
                  <a:cubicBezTo>
                    <a:pt x="17762" y="3978"/>
                    <a:pt x="13785" y="1"/>
                    <a:pt x="8881" y="1"/>
                  </a:cubicBezTo>
                  <a:close/>
                </a:path>
              </a:pathLst>
            </a:custGeom>
            <a:solidFill>
              <a:srgbClr val="DEA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9"/>
            <p:cNvSpPr/>
            <p:nvPr/>
          </p:nvSpPr>
          <p:spPr>
            <a:xfrm>
              <a:off x="1344950" y="4014425"/>
              <a:ext cx="367600" cy="342650"/>
            </a:xfrm>
            <a:custGeom>
              <a:avLst/>
              <a:gdLst/>
              <a:ahLst/>
              <a:cxnLst/>
              <a:rect l="l" t="t" r="r" b="b"/>
              <a:pathLst>
                <a:path w="14704" h="13706" extrusionOk="0">
                  <a:moveTo>
                    <a:pt x="1375" y="1"/>
                  </a:moveTo>
                  <a:cubicBezTo>
                    <a:pt x="616" y="3"/>
                    <a:pt x="0" y="619"/>
                    <a:pt x="0" y="1378"/>
                  </a:cubicBezTo>
                  <a:lnTo>
                    <a:pt x="0" y="5644"/>
                  </a:lnTo>
                  <a:cubicBezTo>
                    <a:pt x="0" y="9704"/>
                    <a:pt x="3827" y="13705"/>
                    <a:pt x="7887" y="13705"/>
                  </a:cubicBezTo>
                  <a:cubicBezTo>
                    <a:pt x="11947" y="13705"/>
                    <a:pt x="14704" y="9704"/>
                    <a:pt x="14704" y="5644"/>
                  </a:cubicBezTo>
                  <a:lnTo>
                    <a:pt x="14704" y="1378"/>
                  </a:lnTo>
                  <a:cubicBezTo>
                    <a:pt x="14704" y="619"/>
                    <a:pt x="14090" y="3"/>
                    <a:pt x="13329" y="1"/>
                  </a:cubicBezTo>
                  <a:close/>
                </a:path>
              </a:pathLst>
            </a:custGeom>
            <a:solidFill>
              <a:srgbClr val="AA5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9"/>
            <p:cNvSpPr/>
            <p:nvPr/>
          </p:nvSpPr>
          <p:spPr>
            <a:xfrm>
              <a:off x="1269400" y="3654650"/>
              <a:ext cx="518700" cy="428900"/>
            </a:xfrm>
            <a:custGeom>
              <a:avLst/>
              <a:gdLst/>
              <a:ahLst/>
              <a:cxnLst/>
              <a:rect l="l" t="t" r="r" b="b"/>
              <a:pathLst>
                <a:path w="20748" h="17156" extrusionOk="0">
                  <a:moveTo>
                    <a:pt x="10374" y="0"/>
                  </a:moveTo>
                  <a:cubicBezTo>
                    <a:pt x="5597" y="0"/>
                    <a:pt x="1726" y="3874"/>
                    <a:pt x="1726" y="8650"/>
                  </a:cubicBezTo>
                  <a:lnTo>
                    <a:pt x="1726" y="9760"/>
                  </a:lnTo>
                  <a:cubicBezTo>
                    <a:pt x="433" y="10948"/>
                    <a:pt x="1" y="12806"/>
                    <a:pt x="636" y="14443"/>
                  </a:cubicBezTo>
                  <a:cubicBezTo>
                    <a:pt x="1275" y="16078"/>
                    <a:pt x="2848" y="17156"/>
                    <a:pt x="4606" y="17156"/>
                  </a:cubicBezTo>
                  <a:lnTo>
                    <a:pt x="16142" y="17156"/>
                  </a:lnTo>
                  <a:cubicBezTo>
                    <a:pt x="17898" y="17156"/>
                    <a:pt x="19473" y="16078"/>
                    <a:pt x="20112" y="14443"/>
                  </a:cubicBezTo>
                  <a:cubicBezTo>
                    <a:pt x="20747" y="12806"/>
                    <a:pt x="20315" y="10948"/>
                    <a:pt x="19022" y="9760"/>
                  </a:cubicBezTo>
                  <a:lnTo>
                    <a:pt x="19024" y="9760"/>
                  </a:lnTo>
                  <a:lnTo>
                    <a:pt x="19024" y="8650"/>
                  </a:lnTo>
                  <a:cubicBezTo>
                    <a:pt x="19024" y="3874"/>
                    <a:pt x="15151" y="0"/>
                    <a:pt x="10374"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9"/>
            <p:cNvSpPr/>
            <p:nvPr/>
          </p:nvSpPr>
          <p:spPr>
            <a:xfrm>
              <a:off x="1344950" y="3914600"/>
              <a:ext cx="367675" cy="347325"/>
            </a:xfrm>
            <a:custGeom>
              <a:avLst/>
              <a:gdLst/>
              <a:ahLst/>
              <a:cxnLst/>
              <a:rect l="l" t="t" r="r" b="b"/>
              <a:pathLst>
                <a:path w="14707" h="13893" extrusionOk="0">
                  <a:moveTo>
                    <a:pt x="1375" y="0"/>
                  </a:moveTo>
                  <a:cubicBezTo>
                    <a:pt x="616" y="0"/>
                    <a:pt x="0" y="619"/>
                    <a:pt x="0" y="1377"/>
                  </a:cubicBezTo>
                  <a:lnTo>
                    <a:pt x="0" y="5641"/>
                  </a:lnTo>
                  <a:cubicBezTo>
                    <a:pt x="0" y="9575"/>
                    <a:pt x="3923" y="13892"/>
                    <a:pt x="7054" y="13892"/>
                  </a:cubicBezTo>
                  <a:cubicBezTo>
                    <a:pt x="7155" y="13892"/>
                    <a:pt x="7254" y="13888"/>
                    <a:pt x="7352" y="13879"/>
                  </a:cubicBezTo>
                  <a:cubicBezTo>
                    <a:pt x="11397" y="13511"/>
                    <a:pt x="14704" y="9701"/>
                    <a:pt x="14704" y="5641"/>
                  </a:cubicBezTo>
                  <a:lnTo>
                    <a:pt x="14704" y="1377"/>
                  </a:lnTo>
                  <a:cubicBezTo>
                    <a:pt x="14706" y="619"/>
                    <a:pt x="14090" y="0"/>
                    <a:pt x="13329" y="0"/>
                  </a:cubicBezTo>
                  <a:close/>
                </a:path>
              </a:pathLst>
            </a:custGeom>
            <a:solidFill>
              <a:srgbClr val="CF7C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9"/>
            <p:cNvSpPr/>
            <p:nvPr/>
          </p:nvSpPr>
          <p:spPr>
            <a:xfrm>
              <a:off x="1335075" y="3904700"/>
              <a:ext cx="387425" cy="109575"/>
            </a:xfrm>
            <a:custGeom>
              <a:avLst/>
              <a:gdLst/>
              <a:ahLst/>
              <a:cxnLst/>
              <a:rect l="l" t="t" r="r" b="b"/>
              <a:pathLst>
                <a:path w="15497" h="4383" extrusionOk="0">
                  <a:moveTo>
                    <a:pt x="1770" y="1"/>
                  </a:moveTo>
                  <a:cubicBezTo>
                    <a:pt x="793" y="1"/>
                    <a:pt x="0" y="796"/>
                    <a:pt x="0" y="1773"/>
                  </a:cubicBezTo>
                  <a:lnTo>
                    <a:pt x="0" y="3987"/>
                  </a:lnTo>
                  <a:cubicBezTo>
                    <a:pt x="0" y="4206"/>
                    <a:pt x="177" y="4382"/>
                    <a:pt x="395" y="4382"/>
                  </a:cubicBezTo>
                  <a:cubicBezTo>
                    <a:pt x="616" y="4382"/>
                    <a:pt x="793" y="4206"/>
                    <a:pt x="793" y="3987"/>
                  </a:cubicBezTo>
                  <a:lnTo>
                    <a:pt x="793" y="1773"/>
                  </a:lnTo>
                  <a:cubicBezTo>
                    <a:pt x="793" y="1233"/>
                    <a:pt x="1230" y="794"/>
                    <a:pt x="1770" y="791"/>
                  </a:cubicBezTo>
                  <a:lnTo>
                    <a:pt x="13724" y="791"/>
                  </a:lnTo>
                  <a:cubicBezTo>
                    <a:pt x="14267" y="794"/>
                    <a:pt x="14704" y="1233"/>
                    <a:pt x="14704" y="1773"/>
                  </a:cubicBezTo>
                  <a:lnTo>
                    <a:pt x="14704" y="3921"/>
                  </a:lnTo>
                  <a:cubicBezTo>
                    <a:pt x="14704" y="4139"/>
                    <a:pt x="14880" y="4319"/>
                    <a:pt x="15099" y="4319"/>
                  </a:cubicBezTo>
                  <a:cubicBezTo>
                    <a:pt x="15317" y="4319"/>
                    <a:pt x="15496" y="4139"/>
                    <a:pt x="15496" y="3921"/>
                  </a:cubicBezTo>
                  <a:lnTo>
                    <a:pt x="15496" y="1773"/>
                  </a:lnTo>
                  <a:cubicBezTo>
                    <a:pt x="15496" y="796"/>
                    <a:pt x="14704" y="1"/>
                    <a:pt x="13724" y="1"/>
                  </a:cubicBezTo>
                  <a:close/>
                </a:path>
              </a:pathLst>
            </a:custGeom>
            <a:solidFill>
              <a:srgbClr val="DEA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9"/>
            <p:cNvSpPr/>
            <p:nvPr/>
          </p:nvSpPr>
          <p:spPr>
            <a:xfrm>
              <a:off x="1320150" y="3984375"/>
              <a:ext cx="62325" cy="181975"/>
            </a:xfrm>
            <a:custGeom>
              <a:avLst/>
              <a:gdLst/>
              <a:ahLst/>
              <a:cxnLst/>
              <a:rect l="l" t="t" r="r" b="b"/>
              <a:pathLst>
                <a:path w="2493" h="7279" extrusionOk="0">
                  <a:moveTo>
                    <a:pt x="953" y="0"/>
                  </a:moveTo>
                  <a:cubicBezTo>
                    <a:pt x="428" y="0"/>
                    <a:pt x="1" y="427"/>
                    <a:pt x="1" y="955"/>
                  </a:cubicBezTo>
                  <a:lnTo>
                    <a:pt x="1" y="6687"/>
                  </a:lnTo>
                  <a:cubicBezTo>
                    <a:pt x="1" y="7214"/>
                    <a:pt x="428" y="7278"/>
                    <a:pt x="953" y="7278"/>
                  </a:cubicBezTo>
                  <a:lnTo>
                    <a:pt x="1537" y="7278"/>
                  </a:lnTo>
                  <a:cubicBezTo>
                    <a:pt x="2065" y="7278"/>
                    <a:pt x="2492" y="7214"/>
                    <a:pt x="2492" y="6687"/>
                  </a:cubicBezTo>
                  <a:lnTo>
                    <a:pt x="2492" y="955"/>
                  </a:lnTo>
                  <a:cubicBezTo>
                    <a:pt x="2492" y="427"/>
                    <a:pt x="2065" y="0"/>
                    <a:pt x="1537" y="0"/>
                  </a:cubicBezTo>
                  <a:close/>
                </a:path>
              </a:pathLst>
            </a:custGeom>
            <a:solidFill>
              <a:srgbClr val="DEA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9"/>
            <p:cNvSpPr/>
            <p:nvPr/>
          </p:nvSpPr>
          <p:spPr>
            <a:xfrm>
              <a:off x="1675100" y="3984375"/>
              <a:ext cx="62300" cy="181975"/>
            </a:xfrm>
            <a:custGeom>
              <a:avLst/>
              <a:gdLst/>
              <a:ahLst/>
              <a:cxnLst/>
              <a:rect l="l" t="t" r="r" b="b"/>
              <a:pathLst>
                <a:path w="2492" h="7279" extrusionOk="0">
                  <a:moveTo>
                    <a:pt x="955" y="0"/>
                  </a:moveTo>
                  <a:cubicBezTo>
                    <a:pt x="428" y="0"/>
                    <a:pt x="0" y="427"/>
                    <a:pt x="0" y="955"/>
                  </a:cubicBezTo>
                  <a:lnTo>
                    <a:pt x="0" y="6687"/>
                  </a:lnTo>
                  <a:cubicBezTo>
                    <a:pt x="0" y="7214"/>
                    <a:pt x="428" y="7278"/>
                    <a:pt x="955" y="7278"/>
                  </a:cubicBezTo>
                  <a:lnTo>
                    <a:pt x="1537" y="7278"/>
                  </a:lnTo>
                  <a:cubicBezTo>
                    <a:pt x="2065" y="7278"/>
                    <a:pt x="2492" y="7214"/>
                    <a:pt x="2492" y="6687"/>
                  </a:cubicBezTo>
                  <a:lnTo>
                    <a:pt x="2492" y="955"/>
                  </a:lnTo>
                  <a:cubicBezTo>
                    <a:pt x="2492" y="427"/>
                    <a:pt x="2065" y="0"/>
                    <a:pt x="1537" y="0"/>
                  </a:cubicBezTo>
                  <a:close/>
                </a:path>
              </a:pathLst>
            </a:custGeom>
            <a:solidFill>
              <a:srgbClr val="DEA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9"/>
            <p:cNvSpPr/>
            <p:nvPr/>
          </p:nvSpPr>
          <p:spPr>
            <a:xfrm>
              <a:off x="1497625" y="3643775"/>
              <a:ext cx="62300" cy="255425"/>
            </a:xfrm>
            <a:custGeom>
              <a:avLst/>
              <a:gdLst/>
              <a:ahLst/>
              <a:cxnLst/>
              <a:rect l="l" t="t" r="r" b="b"/>
              <a:pathLst>
                <a:path w="2492" h="10217" extrusionOk="0">
                  <a:moveTo>
                    <a:pt x="955" y="1"/>
                  </a:moveTo>
                  <a:cubicBezTo>
                    <a:pt x="428" y="1"/>
                    <a:pt x="1" y="430"/>
                    <a:pt x="1" y="956"/>
                  </a:cubicBezTo>
                  <a:lnTo>
                    <a:pt x="1" y="9625"/>
                  </a:lnTo>
                  <a:cubicBezTo>
                    <a:pt x="1" y="10153"/>
                    <a:pt x="428" y="10217"/>
                    <a:pt x="955" y="10217"/>
                  </a:cubicBezTo>
                  <a:lnTo>
                    <a:pt x="1537" y="10217"/>
                  </a:lnTo>
                  <a:cubicBezTo>
                    <a:pt x="2065" y="10217"/>
                    <a:pt x="2492" y="10153"/>
                    <a:pt x="2492" y="9625"/>
                  </a:cubicBezTo>
                  <a:lnTo>
                    <a:pt x="2492" y="956"/>
                  </a:lnTo>
                  <a:cubicBezTo>
                    <a:pt x="2492" y="430"/>
                    <a:pt x="2065" y="1"/>
                    <a:pt x="1537" y="1"/>
                  </a:cubicBezTo>
                  <a:close/>
                </a:path>
              </a:pathLst>
            </a:custGeom>
            <a:solidFill>
              <a:srgbClr val="1D2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9"/>
            <p:cNvSpPr/>
            <p:nvPr/>
          </p:nvSpPr>
          <p:spPr>
            <a:xfrm>
              <a:off x="1453075" y="3848325"/>
              <a:ext cx="151425" cy="86850"/>
            </a:xfrm>
            <a:custGeom>
              <a:avLst/>
              <a:gdLst/>
              <a:ahLst/>
              <a:cxnLst/>
              <a:rect l="l" t="t" r="r" b="b"/>
              <a:pathLst>
                <a:path w="6057" h="3474" extrusionOk="0">
                  <a:moveTo>
                    <a:pt x="361" y="0"/>
                  </a:moveTo>
                  <a:cubicBezTo>
                    <a:pt x="162" y="0"/>
                    <a:pt x="0" y="162"/>
                    <a:pt x="0" y="363"/>
                  </a:cubicBezTo>
                  <a:lnTo>
                    <a:pt x="0" y="3113"/>
                  </a:lnTo>
                  <a:cubicBezTo>
                    <a:pt x="0" y="3311"/>
                    <a:pt x="162" y="3473"/>
                    <a:pt x="361" y="3473"/>
                  </a:cubicBezTo>
                  <a:lnTo>
                    <a:pt x="5695" y="3473"/>
                  </a:lnTo>
                  <a:cubicBezTo>
                    <a:pt x="5894" y="3473"/>
                    <a:pt x="6056" y="3311"/>
                    <a:pt x="6056" y="3113"/>
                  </a:cubicBezTo>
                  <a:lnTo>
                    <a:pt x="6056" y="361"/>
                  </a:lnTo>
                  <a:cubicBezTo>
                    <a:pt x="6056" y="162"/>
                    <a:pt x="5894" y="0"/>
                    <a:pt x="5695" y="0"/>
                  </a:cubicBezTo>
                  <a:close/>
                </a:path>
              </a:pathLst>
            </a:custGeom>
            <a:solidFill>
              <a:srgbClr val="DEA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9"/>
            <p:cNvSpPr/>
            <p:nvPr/>
          </p:nvSpPr>
          <p:spPr>
            <a:xfrm>
              <a:off x="1301875" y="4014425"/>
              <a:ext cx="453825" cy="24550"/>
            </a:xfrm>
            <a:custGeom>
              <a:avLst/>
              <a:gdLst/>
              <a:ahLst/>
              <a:cxnLst/>
              <a:rect l="l" t="t" r="r" b="b"/>
              <a:pathLst>
                <a:path w="18153" h="982" extrusionOk="0">
                  <a:moveTo>
                    <a:pt x="361" y="1"/>
                  </a:moveTo>
                  <a:cubicBezTo>
                    <a:pt x="162" y="1"/>
                    <a:pt x="0" y="163"/>
                    <a:pt x="0" y="362"/>
                  </a:cubicBezTo>
                  <a:lnTo>
                    <a:pt x="0" y="529"/>
                  </a:lnTo>
                  <a:cubicBezTo>
                    <a:pt x="0" y="730"/>
                    <a:pt x="160" y="892"/>
                    <a:pt x="361" y="897"/>
                  </a:cubicBezTo>
                  <a:cubicBezTo>
                    <a:pt x="3267" y="953"/>
                    <a:pt x="6173" y="981"/>
                    <a:pt x="9078" y="981"/>
                  </a:cubicBezTo>
                  <a:cubicBezTo>
                    <a:pt x="11983" y="981"/>
                    <a:pt x="14888" y="953"/>
                    <a:pt x="17792" y="897"/>
                  </a:cubicBezTo>
                  <a:cubicBezTo>
                    <a:pt x="17990" y="892"/>
                    <a:pt x="18152" y="730"/>
                    <a:pt x="18152" y="529"/>
                  </a:cubicBezTo>
                  <a:lnTo>
                    <a:pt x="18152" y="362"/>
                  </a:lnTo>
                  <a:cubicBezTo>
                    <a:pt x="18152" y="163"/>
                    <a:pt x="17993" y="1"/>
                    <a:pt x="17794" y="1"/>
                  </a:cubicBezTo>
                  <a:close/>
                </a:path>
              </a:pathLst>
            </a:custGeom>
            <a:solidFill>
              <a:srgbClr val="1D2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9"/>
            <p:cNvSpPr/>
            <p:nvPr/>
          </p:nvSpPr>
          <p:spPr>
            <a:xfrm>
              <a:off x="1301750" y="4141175"/>
              <a:ext cx="454050" cy="37350"/>
            </a:xfrm>
            <a:custGeom>
              <a:avLst/>
              <a:gdLst/>
              <a:ahLst/>
              <a:cxnLst/>
              <a:rect l="l" t="t" r="r" b="b"/>
              <a:pathLst>
                <a:path w="18162" h="1494" extrusionOk="0">
                  <a:moveTo>
                    <a:pt x="316" y="1"/>
                  </a:moveTo>
                  <a:cubicBezTo>
                    <a:pt x="145" y="1"/>
                    <a:pt x="1" y="144"/>
                    <a:pt x="5" y="321"/>
                  </a:cubicBezTo>
                  <a:lnTo>
                    <a:pt x="5" y="491"/>
                  </a:lnTo>
                  <a:cubicBezTo>
                    <a:pt x="10" y="694"/>
                    <a:pt x="162" y="869"/>
                    <a:pt x="364" y="901"/>
                  </a:cubicBezTo>
                  <a:cubicBezTo>
                    <a:pt x="3256" y="1296"/>
                    <a:pt x="6169" y="1493"/>
                    <a:pt x="9081" y="1493"/>
                  </a:cubicBezTo>
                  <a:cubicBezTo>
                    <a:pt x="11994" y="1493"/>
                    <a:pt x="14906" y="1296"/>
                    <a:pt x="17799" y="901"/>
                  </a:cubicBezTo>
                  <a:cubicBezTo>
                    <a:pt x="18000" y="866"/>
                    <a:pt x="18150" y="694"/>
                    <a:pt x="18157" y="491"/>
                  </a:cubicBezTo>
                  <a:lnTo>
                    <a:pt x="18157" y="321"/>
                  </a:lnTo>
                  <a:cubicBezTo>
                    <a:pt x="18162" y="144"/>
                    <a:pt x="18018" y="1"/>
                    <a:pt x="17845" y="1"/>
                  </a:cubicBezTo>
                  <a:cubicBezTo>
                    <a:pt x="17829" y="1"/>
                    <a:pt x="17813" y="2"/>
                    <a:pt x="17797" y="5"/>
                  </a:cubicBezTo>
                  <a:cubicBezTo>
                    <a:pt x="14901" y="343"/>
                    <a:pt x="11991" y="513"/>
                    <a:pt x="9081" y="513"/>
                  </a:cubicBezTo>
                  <a:cubicBezTo>
                    <a:pt x="6171" y="513"/>
                    <a:pt x="3260" y="343"/>
                    <a:pt x="364" y="5"/>
                  </a:cubicBezTo>
                  <a:cubicBezTo>
                    <a:pt x="347" y="2"/>
                    <a:pt x="332" y="1"/>
                    <a:pt x="316" y="1"/>
                  </a:cubicBezTo>
                  <a:close/>
                </a:path>
              </a:pathLst>
            </a:custGeom>
            <a:solidFill>
              <a:srgbClr val="1D2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9"/>
            <p:cNvSpPr/>
            <p:nvPr/>
          </p:nvSpPr>
          <p:spPr>
            <a:xfrm>
              <a:off x="1416450" y="4021625"/>
              <a:ext cx="22400" cy="146700"/>
            </a:xfrm>
            <a:custGeom>
              <a:avLst/>
              <a:gdLst/>
              <a:ahLst/>
              <a:cxnLst/>
              <a:rect l="l" t="t" r="r" b="b"/>
              <a:pathLst>
                <a:path w="896" h="5868" extrusionOk="0">
                  <a:moveTo>
                    <a:pt x="368" y="0"/>
                  </a:moveTo>
                  <a:cubicBezTo>
                    <a:pt x="169" y="0"/>
                    <a:pt x="7" y="172"/>
                    <a:pt x="7" y="388"/>
                  </a:cubicBezTo>
                  <a:cubicBezTo>
                    <a:pt x="5" y="2170"/>
                    <a:pt x="2" y="3662"/>
                    <a:pt x="0" y="5444"/>
                  </a:cubicBezTo>
                  <a:cubicBezTo>
                    <a:pt x="0" y="5658"/>
                    <a:pt x="162" y="5845"/>
                    <a:pt x="361" y="5857"/>
                  </a:cubicBezTo>
                  <a:cubicBezTo>
                    <a:pt x="415" y="5859"/>
                    <a:pt x="471" y="5864"/>
                    <a:pt x="528" y="5867"/>
                  </a:cubicBezTo>
                  <a:cubicBezTo>
                    <a:pt x="535" y="5867"/>
                    <a:pt x="542" y="5867"/>
                    <a:pt x="548" y="5867"/>
                  </a:cubicBezTo>
                  <a:cubicBezTo>
                    <a:pt x="738" y="5867"/>
                    <a:pt x="889" y="5705"/>
                    <a:pt x="889" y="5496"/>
                  </a:cubicBezTo>
                  <a:cubicBezTo>
                    <a:pt x="891" y="3697"/>
                    <a:pt x="893" y="2190"/>
                    <a:pt x="896" y="393"/>
                  </a:cubicBezTo>
                  <a:cubicBezTo>
                    <a:pt x="896" y="174"/>
                    <a:pt x="734" y="0"/>
                    <a:pt x="535" y="0"/>
                  </a:cubicBezTo>
                  <a:close/>
                </a:path>
              </a:pathLst>
            </a:custGeom>
            <a:solidFill>
              <a:srgbClr val="1D2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9"/>
            <p:cNvSpPr/>
            <p:nvPr/>
          </p:nvSpPr>
          <p:spPr>
            <a:xfrm>
              <a:off x="1618700" y="4021625"/>
              <a:ext cx="22425" cy="146700"/>
            </a:xfrm>
            <a:custGeom>
              <a:avLst/>
              <a:gdLst/>
              <a:ahLst/>
              <a:cxnLst/>
              <a:rect l="l" t="t" r="r" b="b"/>
              <a:pathLst>
                <a:path w="897" h="5868" extrusionOk="0">
                  <a:moveTo>
                    <a:pt x="361" y="0"/>
                  </a:moveTo>
                  <a:cubicBezTo>
                    <a:pt x="163" y="0"/>
                    <a:pt x="1" y="174"/>
                    <a:pt x="1" y="393"/>
                  </a:cubicBezTo>
                  <a:cubicBezTo>
                    <a:pt x="3" y="2190"/>
                    <a:pt x="5" y="3697"/>
                    <a:pt x="8" y="5496"/>
                  </a:cubicBezTo>
                  <a:cubicBezTo>
                    <a:pt x="8" y="5705"/>
                    <a:pt x="157" y="5867"/>
                    <a:pt x="348" y="5867"/>
                  </a:cubicBezTo>
                  <a:cubicBezTo>
                    <a:pt x="355" y="5867"/>
                    <a:pt x="362" y="5867"/>
                    <a:pt x="369" y="5867"/>
                  </a:cubicBezTo>
                  <a:lnTo>
                    <a:pt x="536" y="5857"/>
                  </a:lnTo>
                  <a:cubicBezTo>
                    <a:pt x="734" y="5845"/>
                    <a:pt x="897" y="5660"/>
                    <a:pt x="897" y="5444"/>
                  </a:cubicBezTo>
                  <a:cubicBezTo>
                    <a:pt x="894" y="3662"/>
                    <a:pt x="892" y="2170"/>
                    <a:pt x="889" y="388"/>
                  </a:cubicBezTo>
                  <a:cubicBezTo>
                    <a:pt x="889" y="172"/>
                    <a:pt x="727" y="0"/>
                    <a:pt x="528" y="0"/>
                  </a:cubicBezTo>
                  <a:close/>
                </a:path>
              </a:pathLst>
            </a:custGeom>
            <a:solidFill>
              <a:srgbClr val="1D2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9"/>
            <p:cNvSpPr/>
            <p:nvPr/>
          </p:nvSpPr>
          <p:spPr>
            <a:xfrm>
              <a:off x="1301875" y="4014425"/>
              <a:ext cx="22300" cy="147825"/>
            </a:xfrm>
            <a:custGeom>
              <a:avLst/>
              <a:gdLst/>
              <a:ahLst/>
              <a:cxnLst/>
              <a:rect l="l" t="t" r="r" b="b"/>
              <a:pathLst>
                <a:path w="892" h="5913" extrusionOk="0">
                  <a:moveTo>
                    <a:pt x="361" y="1"/>
                  </a:moveTo>
                  <a:cubicBezTo>
                    <a:pt x="162" y="1"/>
                    <a:pt x="0" y="163"/>
                    <a:pt x="0" y="362"/>
                  </a:cubicBezTo>
                  <a:lnTo>
                    <a:pt x="0" y="5475"/>
                  </a:lnTo>
                  <a:cubicBezTo>
                    <a:pt x="5" y="5681"/>
                    <a:pt x="157" y="5853"/>
                    <a:pt x="359" y="5885"/>
                  </a:cubicBezTo>
                  <a:lnTo>
                    <a:pt x="525" y="5909"/>
                  </a:lnTo>
                  <a:cubicBezTo>
                    <a:pt x="542" y="5911"/>
                    <a:pt x="557" y="5912"/>
                    <a:pt x="573" y="5912"/>
                  </a:cubicBezTo>
                  <a:cubicBezTo>
                    <a:pt x="749" y="5912"/>
                    <a:pt x="884" y="5775"/>
                    <a:pt x="884" y="5588"/>
                  </a:cubicBezTo>
                  <a:cubicBezTo>
                    <a:pt x="886" y="3752"/>
                    <a:pt x="889" y="2205"/>
                    <a:pt x="889" y="369"/>
                  </a:cubicBezTo>
                  <a:cubicBezTo>
                    <a:pt x="891" y="168"/>
                    <a:pt x="729" y="3"/>
                    <a:pt x="528" y="1"/>
                  </a:cubicBezTo>
                  <a:close/>
                </a:path>
              </a:pathLst>
            </a:custGeom>
            <a:solidFill>
              <a:srgbClr val="1D2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9"/>
            <p:cNvSpPr/>
            <p:nvPr/>
          </p:nvSpPr>
          <p:spPr>
            <a:xfrm>
              <a:off x="1733400" y="4014425"/>
              <a:ext cx="22300" cy="147800"/>
            </a:xfrm>
            <a:custGeom>
              <a:avLst/>
              <a:gdLst/>
              <a:ahLst/>
              <a:cxnLst/>
              <a:rect l="l" t="t" r="r" b="b"/>
              <a:pathLst>
                <a:path w="892" h="5912" extrusionOk="0">
                  <a:moveTo>
                    <a:pt x="364" y="1"/>
                  </a:moveTo>
                  <a:cubicBezTo>
                    <a:pt x="162" y="1"/>
                    <a:pt x="0" y="168"/>
                    <a:pt x="3" y="369"/>
                  </a:cubicBezTo>
                  <a:cubicBezTo>
                    <a:pt x="3" y="2205"/>
                    <a:pt x="5" y="3752"/>
                    <a:pt x="5" y="5588"/>
                  </a:cubicBezTo>
                  <a:cubicBezTo>
                    <a:pt x="5" y="5776"/>
                    <a:pt x="144" y="5912"/>
                    <a:pt x="322" y="5912"/>
                  </a:cubicBezTo>
                  <a:cubicBezTo>
                    <a:pt x="336" y="5912"/>
                    <a:pt x="351" y="5911"/>
                    <a:pt x="366" y="5909"/>
                  </a:cubicBezTo>
                  <a:lnTo>
                    <a:pt x="533" y="5887"/>
                  </a:lnTo>
                  <a:cubicBezTo>
                    <a:pt x="737" y="5855"/>
                    <a:pt x="886" y="5681"/>
                    <a:pt x="891" y="5477"/>
                  </a:cubicBezTo>
                  <a:lnTo>
                    <a:pt x="891" y="362"/>
                  </a:lnTo>
                  <a:cubicBezTo>
                    <a:pt x="891" y="163"/>
                    <a:pt x="732" y="1"/>
                    <a:pt x="533" y="1"/>
                  </a:cubicBezTo>
                  <a:close/>
                </a:path>
              </a:pathLst>
            </a:custGeom>
            <a:solidFill>
              <a:srgbClr val="1D2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9"/>
            <p:cNvSpPr/>
            <p:nvPr/>
          </p:nvSpPr>
          <p:spPr>
            <a:xfrm>
              <a:off x="1303025" y="4433700"/>
              <a:ext cx="458200" cy="382575"/>
            </a:xfrm>
            <a:custGeom>
              <a:avLst/>
              <a:gdLst/>
              <a:ahLst/>
              <a:cxnLst/>
              <a:rect l="l" t="t" r="r" b="b"/>
              <a:pathLst>
                <a:path w="18328" h="15303" extrusionOk="0">
                  <a:moveTo>
                    <a:pt x="8863" y="0"/>
                  </a:moveTo>
                  <a:cubicBezTo>
                    <a:pt x="5532" y="0"/>
                    <a:pt x="2457" y="927"/>
                    <a:pt x="1" y="2158"/>
                  </a:cubicBezTo>
                  <a:cubicBezTo>
                    <a:pt x="428" y="2931"/>
                    <a:pt x="2568" y="7288"/>
                    <a:pt x="180" y="13160"/>
                  </a:cubicBezTo>
                  <a:cubicBezTo>
                    <a:pt x="2608" y="14362"/>
                    <a:pt x="5624" y="15246"/>
                    <a:pt x="8904" y="15300"/>
                  </a:cubicBezTo>
                  <a:cubicBezTo>
                    <a:pt x="9001" y="15302"/>
                    <a:pt x="9099" y="15302"/>
                    <a:pt x="9196" y="15302"/>
                  </a:cubicBezTo>
                  <a:cubicBezTo>
                    <a:pt x="12403" y="15302"/>
                    <a:pt x="15374" y="14445"/>
                    <a:pt x="17782" y="13280"/>
                  </a:cubicBezTo>
                  <a:cubicBezTo>
                    <a:pt x="15671" y="7497"/>
                    <a:pt x="17790" y="3297"/>
                    <a:pt x="18327" y="2371"/>
                  </a:cubicBezTo>
                  <a:cubicBezTo>
                    <a:pt x="15828" y="1056"/>
                    <a:pt x="12642" y="61"/>
                    <a:pt x="9157" y="3"/>
                  </a:cubicBezTo>
                  <a:cubicBezTo>
                    <a:pt x="9059" y="1"/>
                    <a:pt x="8961" y="0"/>
                    <a:pt x="8863" y="0"/>
                  </a:cubicBezTo>
                  <a:close/>
                </a:path>
              </a:pathLst>
            </a:custGeom>
            <a:solidFill>
              <a:srgbClr val="B85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9"/>
            <p:cNvSpPr/>
            <p:nvPr/>
          </p:nvSpPr>
          <p:spPr>
            <a:xfrm>
              <a:off x="1779725" y="4528675"/>
              <a:ext cx="117225" cy="195250"/>
            </a:xfrm>
            <a:custGeom>
              <a:avLst/>
              <a:gdLst/>
              <a:ahLst/>
              <a:cxnLst/>
              <a:rect l="l" t="t" r="r" b="b"/>
              <a:pathLst>
                <a:path w="4689" h="7810" extrusionOk="0">
                  <a:moveTo>
                    <a:pt x="1549" y="1"/>
                  </a:moveTo>
                  <a:cubicBezTo>
                    <a:pt x="1" y="3715"/>
                    <a:pt x="1221" y="7036"/>
                    <a:pt x="1549" y="7809"/>
                  </a:cubicBezTo>
                  <a:cubicBezTo>
                    <a:pt x="3491" y="6422"/>
                    <a:pt x="4657" y="4969"/>
                    <a:pt x="4672" y="4095"/>
                  </a:cubicBezTo>
                  <a:cubicBezTo>
                    <a:pt x="4689" y="3018"/>
                    <a:pt x="3523" y="1452"/>
                    <a:pt x="1549" y="1"/>
                  </a:cubicBezTo>
                  <a:close/>
                </a:path>
              </a:pathLst>
            </a:custGeom>
            <a:solidFill>
              <a:srgbClr val="B85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9"/>
            <p:cNvSpPr/>
            <p:nvPr/>
          </p:nvSpPr>
          <p:spPr>
            <a:xfrm>
              <a:off x="1160600" y="4522175"/>
              <a:ext cx="120125" cy="197625"/>
            </a:xfrm>
            <a:custGeom>
              <a:avLst/>
              <a:gdLst/>
              <a:ahLst/>
              <a:cxnLst/>
              <a:rect l="l" t="t" r="r" b="b"/>
              <a:pathLst>
                <a:path w="4805" h="7905" extrusionOk="0">
                  <a:moveTo>
                    <a:pt x="3359" y="1"/>
                  </a:moveTo>
                  <a:lnTo>
                    <a:pt x="3359" y="1"/>
                  </a:lnTo>
                  <a:cubicBezTo>
                    <a:pt x="1287" y="1432"/>
                    <a:pt x="32" y="2961"/>
                    <a:pt x="18" y="3869"/>
                  </a:cubicBezTo>
                  <a:cubicBezTo>
                    <a:pt x="1" y="4932"/>
                    <a:pt x="1135" y="6469"/>
                    <a:pt x="3059" y="7905"/>
                  </a:cubicBezTo>
                  <a:cubicBezTo>
                    <a:pt x="3413" y="7159"/>
                    <a:pt x="4804" y="3830"/>
                    <a:pt x="3359" y="1"/>
                  </a:cubicBezTo>
                  <a:close/>
                </a:path>
              </a:pathLst>
            </a:custGeom>
            <a:solidFill>
              <a:srgbClr val="B85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9"/>
            <p:cNvSpPr/>
            <p:nvPr/>
          </p:nvSpPr>
          <p:spPr>
            <a:xfrm>
              <a:off x="1694800" y="4492975"/>
              <a:ext cx="123675" cy="272725"/>
            </a:xfrm>
            <a:custGeom>
              <a:avLst/>
              <a:gdLst/>
              <a:ahLst/>
              <a:cxnLst/>
              <a:rect l="l" t="t" r="r" b="b"/>
              <a:pathLst>
                <a:path w="4947" h="10909" extrusionOk="0">
                  <a:moveTo>
                    <a:pt x="2656" y="0"/>
                  </a:moveTo>
                  <a:cubicBezTo>
                    <a:pt x="2119" y="926"/>
                    <a:pt x="0" y="5126"/>
                    <a:pt x="2111" y="10909"/>
                  </a:cubicBezTo>
                  <a:cubicBezTo>
                    <a:pt x="3103" y="10435"/>
                    <a:pt x="4051" y="9875"/>
                    <a:pt x="4946" y="9237"/>
                  </a:cubicBezTo>
                  <a:cubicBezTo>
                    <a:pt x="4618" y="8464"/>
                    <a:pt x="3398" y="5143"/>
                    <a:pt x="4946" y="1429"/>
                  </a:cubicBezTo>
                  <a:cubicBezTo>
                    <a:pt x="4220" y="896"/>
                    <a:pt x="3454" y="418"/>
                    <a:pt x="26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9"/>
            <p:cNvSpPr/>
            <p:nvPr/>
          </p:nvSpPr>
          <p:spPr>
            <a:xfrm>
              <a:off x="1237075" y="4487625"/>
              <a:ext cx="130175" cy="275075"/>
            </a:xfrm>
            <a:custGeom>
              <a:avLst/>
              <a:gdLst/>
              <a:ahLst/>
              <a:cxnLst/>
              <a:rect l="l" t="t" r="r" b="b"/>
              <a:pathLst>
                <a:path w="5207" h="11003" extrusionOk="0">
                  <a:moveTo>
                    <a:pt x="2639" y="1"/>
                  </a:moveTo>
                  <a:cubicBezTo>
                    <a:pt x="1829" y="406"/>
                    <a:pt x="1046" y="867"/>
                    <a:pt x="300" y="1380"/>
                  </a:cubicBezTo>
                  <a:cubicBezTo>
                    <a:pt x="1745" y="5212"/>
                    <a:pt x="354" y="8541"/>
                    <a:pt x="0" y="9284"/>
                  </a:cubicBezTo>
                  <a:cubicBezTo>
                    <a:pt x="886" y="9942"/>
                    <a:pt x="1829" y="10517"/>
                    <a:pt x="2818" y="11003"/>
                  </a:cubicBezTo>
                  <a:cubicBezTo>
                    <a:pt x="5206" y="5131"/>
                    <a:pt x="3066" y="774"/>
                    <a:pt x="263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9"/>
            <p:cNvSpPr/>
            <p:nvPr/>
          </p:nvSpPr>
          <p:spPr>
            <a:xfrm>
              <a:off x="1415400" y="4484325"/>
              <a:ext cx="242425" cy="41550"/>
            </a:xfrm>
            <a:custGeom>
              <a:avLst/>
              <a:gdLst/>
              <a:ahLst/>
              <a:cxnLst/>
              <a:rect l="l" t="t" r="r" b="b"/>
              <a:pathLst>
                <a:path w="9697" h="1662" extrusionOk="0">
                  <a:moveTo>
                    <a:pt x="5784" y="1"/>
                  </a:moveTo>
                  <a:cubicBezTo>
                    <a:pt x="4139" y="1"/>
                    <a:pt x="2151" y="204"/>
                    <a:pt x="319" y="935"/>
                  </a:cubicBezTo>
                  <a:cubicBezTo>
                    <a:pt x="0" y="1063"/>
                    <a:pt x="5" y="1517"/>
                    <a:pt x="327" y="1637"/>
                  </a:cubicBezTo>
                  <a:cubicBezTo>
                    <a:pt x="369" y="1653"/>
                    <a:pt x="414" y="1661"/>
                    <a:pt x="459" y="1661"/>
                  </a:cubicBezTo>
                  <a:cubicBezTo>
                    <a:pt x="506" y="1661"/>
                    <a:pt x="553" y="1653"/>
                    <a:pt x="597" y="1635"/>
                  </a:cubicBezTo>
                  <a:cubicBezTo>
                    <a:pt x="2309" y="951"/>
                    <a:pt x="4204" y="761"/>
                    <a:pt x="5780" y="761"/>
                  </a:cubicBezTo>
                  <a:cubicBezTo>
                    <a:pt x="7726" y="761"/>
                    <a:pt x="9184" y="1050"/>
                    <a:pt x="9210" y="1056"/>
                  </a:cubicBezTo>
                  <a:cubicBezTo>
                    <a:pt x="9235" y="1061"/>
                    <a:pt x="9261" y="1063"/>
                    <a:pt x="9286" y="1063"/>
                  </a:cubicBezTo>
                  <a:cubicBezTo>
                    <a:pt x="9461" y="1063"/>
                    <a:pt x="9618" y="940"/>
                    <a:pt x="9654" y="764"/>
                  </a:cubicBezTo>
                  <a:cubicBezTo>
                    <a:pt x="9696" y="560"/>
                    <a:pt x="9566" y="361"/>
                    <a:pt x="9362" y="319"/>
                  </a:cubicBezTo>
                  <a:cubicBezTo>
                    <a:pt x="9251" y="297"/>
                    <a:pt x="7767" y="1"/>
                    <a:pt x="57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9"/>
            <p:cNvSpPr/>
            <p:nvPr/>
          </p:nvSpPr>
          <p:spPr>
            <a:xfrm>
              <a:off x="1432275" y="4475625"/>
              <a:ext cx="31750" cy="66725"/>
            </a:xfrm>
            <a:custGeom>
              <a:avLst/>
              <a:gdLst/>
              <a:ahLst/>
              <a:cxnLst/>
              <a:rect l="l" t="t" r="r" b="b"/>
              <a:pathLst>
                <a:path w="1270" h="2669" extrusionOk="0">
                  <a:moveTo>
                    <a:pt x="320" y="0"/>
                  </a:moveTo>
                  <a:cubicBezTo>
                    <a:pt x="264" y="0"/>
                    <a:pt x="207" y="17"/>
                    <a:pt x="157" y="51"/>
                  </a:cubicBezTo>
                  <a:cubicBezTo>
                    <a:pt x="32" y="142"/>
                    <a:pt x="0" y="316"/>
                    <a:pt x="91" y="444"/>
                  </a:cubicBezTo>
                  <a:cubicBezTo>
                    <a:pt x="693" y="1296"/>
                    <a:pt x="643" y="2356"/>
                    <a:pt x="643" y="2371"/>
                  </a:cubicBezTo>
                  <a:cubicBezTo>
                    <a:pt x="636" y="2494"/>
                    <a:pt x="710" y="2607"/>
                    <a:pt x="825" y="2651"/>
                  </a:cubicBezTo>
                  <a:cubicBezTo>
                    <a:pt x="852" y="2661"/>
                    <a:pt x="879" y="2665"/>
                    <a:pt x="909" y="2668"/>
                  </a:cubicBezTo>
                  <a:cubicBezTo>
                    <a:pt x="913" y="2668"/>
                    <a:pt x="918" y="2668"/>
                    <a:pt x="922" y="2668"/>
                  </a:cubicBezTo>
                  <a:cubicBezTo>
                    <a:pt x="1071" y="2668"/>
                    <a:pt x="1198" y="2553"/>
                    <a:pt x="1206" y="2403"/>
                  </a:cubicBezTo>
                  <a:cubicBezTo>
                    <a:pt x="1208" y="2351"/>
                    <a:pt x="1269" y="1136"/>
                    <a:pt x="550" y="120"/>
                  </a:cubicBezTo>
                  <a:cubicBezTo>
                    <a:pt x="496" y="42"/>
                    <a:pt x="409" y="0"/>
                    <a:pt x="3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9"/>
            <p:cNvSpPr/>
            <p:nvPr/>
          </p:nvSpPr>
          <p:spPr>
            <a:xfrm>
              <a:off x="1474550" y="4468100"/>
              <a:ext cx="31625" cy="66575"/>
            </a:xfrm>
            <a:custGeom>
              <a:avLst/>
              <a:gdLst/>
              <a:ahLst/>
              <a:cxnLst/>
              <a:rect l="l" t="t" r="r" b="b"/>
              <a:pathLst>
                <a:path w="1265" h="2663" extrusionOk="0">
                  <a:moveTo>
                    <a:pt x="321" y="1"/>
                  </a:moveTo>
                  <a:cubicBezTo>
                    <a:pt x="264" y="1"/>
                    <a:pt x="207" y="18"/>
                    <a:pt x="158" y="53"/>
                  </a:cubicBezTo>
                  <a:cubicBezTo>
                    <a:pt x="32" y="141"/>
                    <a:pt x="1" y="313"/>
                    <a:pt x="86" y="441"/>
                  </a:cubicBezTo>
                  <a:cubicBezTo>
                    <a:pt x="685" y="1290"/>
                    <a:pt x="639" y="2350"/>
                    <a:pt x="639" y="2365"/>
                  </a:cubicBezTo>
                  <a:cubicBezTo>
                    <a:pt x="631" y="2488"/>
                    <a:pt x="705" y="2603"/>
                    <a:pt x="823" y="2645"/>
                  </a:cubicBezTo>
                  <a:lnTo>
                    <a:pt x="820" y="2645"/>
                  </a:lnTo>
                  <a:cubicBezTo>
                    <a:pt x="853" y="2657"/>
                    <a:pt x="886" y="2663"/>
                    <a:pt x="918" y="2663"/>
                  </a:cubicBezTo>
                  <a:cubicBezTo>
                    <a:pt x="1062" y="2663"/>
                    <a:pt x="1191" y="2551"/>
                    <a:pt x="1201" y="2397"/>
                  </a:cubicBezTo>
                  <a:cubicBezTo>
                    <a:pt x="1203" y="2345"/>
                    <a:pt x="1265" y="1130"/>
                    <a:pt x="545" y="114"/>
                  </a:cubicBezTo>
                  <a:cubicBezTo>
                    <a:pt x="491" y="40"/>
                    <a:pt x="406" y="1"/>
                    <a:pt x="3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9"/>
            <p:cNvSpPr/>
            <p:nvPr/>
          </p:nvSpPr>
          <p:spPr>
            <a:xfrm>
              <a:off x="1518500" y="4463700"/>
              <a:ext cx="31200" cy="67250"/>
            </a:xfrm>
            <a:custGeom>
              <a:avLst/>
              <a:gdLst/>
              <a:ahLst/>
              <a:cxnLst/>
              <a:rect l="l" t="t" r="r" b="b"/>
              <a:pathLst>
                <a:path w="1248" h="2690" extrusionOk="0">
                  <a:moveTo>
                    <a:pt x="321" y="1"/>
                  </a:moveTo>
                  <a:cubicBezTo>
                    <a:pt x="268" y="1"/>
                    <a:pt x="214" y="16"/>
                    <a:pt x="167" y="47"/>
                  </a:cubicBezTo>
                  <a:cubicBezTo>
                    <a:pt x="34" y="135"/>
                    <a:pt x="0" y="312"/>
                    <a:pt x="91" y="442"/>
                  </a:cubicBezTo>
                  <a:cubicBezTo>
                    <a:pt x="663" y="1309"/>
                    <a:pt x="584" y="2364"/>
                    <a:pt x="584" y="2384"/>
                  </a:cubicBezTo>
                  <a:cubicBezTo>
                    <a:pt x="572" y="2509"/>
                    <a:pt x="646" y="2627"/>
                    <a:pt x="766" y="2671"/>
                  </a:cubicBezTo>
                  <a:cubicBezTo>
                    <a:pt x="788" y="2681"/>
                    <a:pt x="815" y="2686"/>
                    <a:pt x="840" y="2688"/>
                  </a:cubicBezTo>
                  <a:cubicBezTo>
                    <a:pt x="849" y="2689"/>
                    <a:pt x="857" y="2690"/>
                    <a:pt x="866" y="2690"/>
                  </a:cubicBezTo>
                  <a:cubicBezTo>
                    <a:pt x="1010" y="2690"/>
                    <a:pt x="1132" y="2579"/>
                    <a:pt x="1144" y="2433"/>
                  </a:cubicBezTo>
                  <a:cubicBezTo>
                    <a:pt x="1149" y="2381"/>
                    <a:pt x="1247" y="1169"/>
                    <a:pt x="560" y="131"/>
                  </a:cubicBezTo>
                  <a:cubicBezTo>
                    <a:pt x="505" y="46"/>
                    <a:pt x="414" y="1"/>
                    <a:pt x="3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9"/>
            <p:cNvSpPr/>
            <p:nvPr/>
          </p:nvSpPr>
          <p:spPr>
            <a:xfrm>
              <a:off x="1561375" y="4460975"/>
              <a:ext cx="29375" cy="67900"/>
            </a:xfrm>
            <a:custGeom>
              <a:avLst/>
              <a:gdLst/>
              <a:ahLst/>
              <a:cxnLst/>
              <a:rect l="l" t="t" r="r" b="b"/>
              <a:pathLst>
                <a:path w="1175" h="2716" extrusionOk="0">
                  <a:moveTo>
                    <a:pt x="322" y="0"/>
                  </a:moveTo>
                  <a:cubicBezTo>
                    <a:pt x="276" y="0"/>
                    <a:pt x="228" y="12"/>
                    <a:pt x="185" y="36"/>
                  </a:cubicBezTo>
                  <a:cubicBezTo>
                    <a:pt x="50" y="112"/>
                    <a:pt x="1" y="281"/>
                    <a:pt x="75" y="416"/>
                  </a:cubicBezTo>
                  <a:cubicBezTo>
                    <a:pt x="583" y="1325"/>
                    <a:pt x="426" y="2370"/>
                    <a:pt x="423" y="2390"/>
                  </a:cubicBezTo>
                  <a:cubicBezTo>
                    <a:pt x="401" y="2522"/>
                    <a:pt x="475" y="2650"/>
                    <a:pt x="602" y="2699"/>
                  </a:cubicBezTo>
                  <a:cubicBezTo>
                    <a:pt x="619" y="2704"/>
                    <a:pt x="637" y="2709"/>
                    <a:pt x="654" y="2711"/>
                  </a:cubicBezTo>
                  <a:cubicBezTo>
                    <a:pt x="669" y="2714"/>
                    <a:pt x="684" y="2715"/>
                    <a:pt x="699" y="2715"/>
                  </a:cubicBezTo>
                  <a:cubicBezTo>
                    <a:pt x="836" y="2715"/>
                    <a:pt x="956" y="2618"/>
                    <a:pt x="978" y="2478"/>
                  </a:cubicBezTo>
                  <a:cubicBezTo>
                    <a:pt x="988" y="2429"/>
                    <a:pt x="1174" y="1226"/>
                    <a:pt x="565" y="139"/>
                  </a:cubicBezTo>
                  <a:cubicBezTo>
                    <a:pt x="514" y="50"/>
                    <a:pt x="419" y="0"/>
                    <a:pt x="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9"/>
            <p:cNvSpPr/>
            <p:nvPr/>
          </p:nvSpPr>
          <p:spPr>
            <a:xfrm>
              <a:off x="1604775" y="4461775"/>
              <a:ext cx="27325" cy="68625"/>
            </a:xfrm>
            <a:custGeom>
              <a:avLst/>
              <a:gdLst/>
              <a:ahLst/>
              <a:cxnLst/>
              <a:rect l="l" t="t" r="r" b="b"/>
              <a:pathLst>
                <a:path w="1093" h="2745" extrusionOk="0">
                  <a:moveTo>
                    <a:pt x="322" y="1"/>
                  </a:moveTo>
                  <a:cubicBezTo>
                    <a:pt x="283" y="1"/>
                    <a:pt x="244" y="9"/>
                    <a:pt x="207" y="26"/>
                  </a:cubicBezTo>
                  <a:cubicBezTo>
                    <a:pt x="64" y="90"/>
                    <a:pt x="0" y="257"/>
                    <a:pt x="67" y="399"/>
                  </a:cubicBezTo>
                  <a:cubicBezTo>
                    <a:pt x="496" y="1349"/>
                    <a:pt x="248" y="2382"/>
                    <a:pt x="246" y="2392"/>
                  </a:cubicBezTo>
                  <a:cubicBezTo>
                    <a:pt x="209" y="2532"/>
                    <a:pt x="285" y="2674"/>
                    <a:pt x="418" y="2726"/>
                  </a:cubicBezTo>
                  <a:cubicBezTo>
                    <a:pt x="427" y="2728"/>
                    <a:pt x="440" y="2733"/>
                    <a:pt x="450" y="2736"/>
                  </a:cubicBezTo>
                  <a:cubicBezTo>
                    <a:pt x="472" y="2741"/>
                    <a:pt x="495" y="2744"/>
                    <a:pt x="517" y="2744"/>
                  </a:cubicBezTo>
                  <a:cubicBezTo>
                    <a:pt x="643" y="2744"/>
                    <a:pt x="759" y="2659"/>
                    <a:pt x="791" y="2532"/>
                  </a:cubicBezTo>
                  <a:cubicBezTo>
                    <a:pt x="803" y="2481"/>
                    <a:pt x="1093" y="1300"/>
                    <a:pt x="580" y="166"/>
                  </a:cubicBezTo>
                  <a:cubicBezTo>
                    <a:pt x="531" y="62"/>
                    <a:pt x="429" y="1"/>
                    <a:pt x="3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9"/>
            <p:cNvSpPr/>
            <p:nvPr/>
          </p:nvSpPr>
          <p:spPr>
            <a:xfrm>
              <a:off x="1160600" y="4605025"/>
              <a:ext cx="735750" cy="211250"/>
            </a:xfrm>
            <a:custGeom>
              <a:avLst/>
              <a:gdLst/>
              <a:ahLst/>
              <a:cxnLst/>
              <a:rect l="l" t="t" r="r" b="b"/>
              <a:pathLst>
                <a:path w="29430" h="8450" extrusionOk="0">
                  <a:moveTo>
                    <a:pt x="148" y="1"/>
                  </a:moveTo>
                  <a:cubicBezTo>
                    <a:pt x="72" y="175"/>
                    <a:pt x="28" y="364"/>
                    <a:pt x="18" y="555"/>
                  </a:cubicBezTo>
                  <a:cubicBezTo>
                    <a:pt x="1" y="1618"/>
                    <a:pt x="1135" y="3155"/>
                    <a:pt x="3057" y="4591"/>
                  </a:cubicBezTo>
                  <a:cubicBezTo>
                    <a:pt x="3945" y="5246"/>
                    <a:pt x="4888" y="5821"/>
                    <a:pt x="5877" y="6307"/>
                  </a:cubicBezTo>
                  <a:cubicBezTo>
                    <a:pt x="8305" y="7509"/>
                    <a:pt x="11321" y="8393"/>
                    <a:pt x="14601" y="8447"/>
                  </a:cubicBezTo>
                  <a:cubicBezTo>
                    <a:pt x="14698" y="8449"/>
                    <a:pt x="14796" y="8449"/>
                    <a:pt x="14893" y="8449"/>
                  </a:cubicBezTo>
                  <a:cubicBezTo>
                    <a:pt x="18100" y="8449"/>
                    <a:pt x="21071" y="7592"/>
                    <a:pt x="23479" y="6427"/>
                  </a:cubicBezTo>
                  <a:cubicBezTo>
                    <a:pt x="24471" y="5953"/>
                    <a:pt x="25419" y="5393"/>
                    <a:pt x="26314" y="4755"/>
                  </a:cubicBezTo>
                  <a:cubicBezTo>
                    <a:pt x="28185" y="3420"/>
                    <a:pt x="29334" y="2023"/>
                    <a:pt x="29429" y="1140"/>
                  </a:cubicBezTo>
                  <a:lnTo>
                    <a:pt x="29429" y="1140"/>
                  </a:lnTo>
                  <a:cubicBezTo>
                    <a:pt x="27596" y="2924"/>
                    <a:pt x="24861" y="3356"/>
                    <a:pt x="22372" y="4041"/>
                  </a:cubicBezTo>
                  <a:cubicBezTo>
                    <a:pt x="21064" y="4355"/>
                    <a:pt x="19861" y="4527"/>
                    <a:pt x="18560" y="4704"/>
                  </a:cubicBezTo>
                  <a:cubicBezTo>
                    <a:pt x="17512" y="4828"/>
                    <a:pt x="16496" y="4880"/>
                    <a:pt x="15455" y="4880"/>
                  </a:cubicBezTo>
                  <a:cubicBezTo>
                    <a:pt x="15165" y="4880"/>
                    <a:pt x="14872" y="4876"/>
                    <a:pt x="14576" y="4868"/>
                  </a:cubicBezTo>
                  <a:cubicBezTo>
                    <a:pt x="13830" y="4849"/>
                    <a:pt x="13155" y="4763"/>
                    <a:pt x="12384" y="4684"/>
                  </a:cubicBezTo>
                  <a:cubicBezTo>
                    <a:pt x="7824" y="4154"/>
                    <a:pt x="3825" y="2377"/>
                    <a:pt x="148" y="1"/>
                  </a:cubicBezTo>
                  <a:close/>
                </a:path>
              </a:pathLst>
            </a:custGeom>
            <a:solidFill>
              <a:srgbClr val="000000">
                <a:alpha val="26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9"/>
            <p:cNvSpPr/>
            <p:nvPr/>
          </p:nvSpPr>
          <p:spPr>
            <a:xfrm>
              <a:off x="1715850" y="4447150"/>
              <a:ext cx="282600" cy="297350"/>
            </a:xfrm>
            <a:custGeom>
              <a:avLst/>
              <a:gdLst/>
              <a:ahLst/>
              <a:cxnLst/>
              <a:rect l="l" t="t" r="r" b="b"/>
              <a:pathLst>
                <a:path w="11304" h="11894" extrusionOk="0">
                  <a:moveTo>
                    <a:pt x="2843" y="1"/>
                  </a:moveTo>
                  <a:cubicBezTo>
                    <a:pt x="2222" y="1"/>
                    <a:pt x="1540" y="340"/>
                    <a:pt x="1493" y="947"/>
                  </a:cubicBezTo>
                  <a:cubicBezTo>
                    <a:pt x="1461" y="1315"/>
                    <a:pt x="1679" y="1657"/>
                    <a:pt x="1915" y="1939"/>
                  </a:cubicBezTo>
                  <a:cubicBezTo>
                    <a:pt x="2416" y="2538"/>
                    <a:pt x="3047" y="3016"/>
                    <a:pt x="3756" y="3343"/>
                  </a:cubicBezTo>
                  <a:cubicBezTo>
                    <a:pt x="3243" y="3135"/>
                    <a:pt x="2698" y="3028"/>
                    <a:pt x="2147" y="3028"/>
                  </a:cubicBezTo>
                  <a:cubicBezTo>
                    <a:pt x="2028" y="3028"/>
                    <a:pt x="1909" y="3033"/>
                    <a:pt x="1790" y="3043"/>
                  </a:cubicBezTo>
                  <a:cubicBezTo>
                    <a:pt x="1493" y="3068"/>
                    <a:pt x="1186" y="3129"/>
                    <a:pt x="948" y="3306"/>
                  </a:cubicBezTo>
                  <a:cubicBezTo>
                    <a:pt x="707" y="3483"/>
                    <a:pt x="553" y="3802"/>
                    <a:pt x="641" y="4087"/>
                  </a:cubicBezTo>
                  <a:cubicBezTo>
                    <a:pt x="712" y="4317"/>
                    <a:pt x="923" y="4475"/>
                    <a:pt x="1127" y="4607"/>
                  </a:cubicBezTo>
                  <a:cubicBezTo>
                    <a:pt x="1871" y="5091"/>
                    <a:pt x="2688" y="5447"/>
                    <a:pt x="3550" y="5660"/>
                  </a:cubicBezTo>
                  <a:cubicBezTo>
                    <a:pt x="3274" y="5632"/>
                    <a:pt x="2997" y="5619"/>
                    <a:pt x="2721" y="5619"/>
                  </a:cubicBezTo>
                  <a:cubicBezTo>
                    <a:pt x="2236" y="5619"/>
                    <a:pt x="1752" y="5661"/>
                    <a:pt x="1274" y="5744"/>
                  </a:cubicBezTo>
                  <a:cubicBezTo>
                    <a:pt x="931" y="5805"/>
                    <a:pt x="538" y="5933"/>
                    <a:pt x="422" y="6262"/>
                  </a:cubicBezTo>
                  <a:cubicBezTo>
                    <a:pt x="327" y="6532"/>
                    <a:pt x="472" y="6838"/>
                    <a:pt x="692" y="7018"/>
                  </a:cubicBezTo>
                  <a:cubicBezTo>
                    <a:pt x="916" y="7199"/>
                    <a:pt x="1198" y="7283"/>
                    <a:pt x="1473" y="7359"/>
                  </a:cubicBezTo>
                  <a:lnTo>
                    <a:pt x="2956" y="7781"/>
                  </a:lnTo>
                  <a:cubicBezTo>
                    <a:pt x="2462" y="8066"/>
                    <a:pt x="1861" y="8053"/>
                    <a:pt x="1301" y="8157"/>
                  </a:cubicBezTo>
                  <a:cubicBezTo>
                    <a:pt x="739" y="8260"/>
                    <a:pt x="130" y="8569"/>
                    <a:pt x="20" y="9126"/>
                  </a:cubicBezTo>
                  <a:cubicBezTo>
                    <a:pt x="0" y="9232"/>
                    <a:pt x="0" y="9345"/>
                    <a:pt x="49" y="9440"/>
                  </a:cubicBezTo>
                  <a:cubicBezTo>
                    <a:pt x="94" y="9529"/>
                    <a:pt x="177" y="9590"/>
                    <a:pt x="258" y="9649"/>
                  </a:cubicBezTo>
                  <a:cubicBezTo>
                    <a:pt x="690" y="9951"/>
                    <a:pt x="1171" y="10182"/>
                    <a:pt x="1679" y="10331"/>
                  </a:cubicBezTo>
                  <a:cubicBezTo>
                    <a:pt x="2403" y="10542"/>
                    <a:pt x="3174" y="10584"/>
                    <a:pt x="3891" y="10825"/>
                  </a:cubicBezTo>
                  <a:cubicBezTo>
                    <a:pt x="4588" y="11060"/>
                    <a:pt x="5214" y="11478"/>
                    <a:pt x="5916" y="11696"/>
                  </a:cubicBezTo>
                  <a:cubicBezTo>
                    <a:pt x="6389" y="11842"/>
                    <a:pt x="6878" y="11893"/>
                    <a:pt x="7373" y="11893"/>
                  </a:cubicBezTo>
                  <a:cubicBezTo>
                    <a:pt x="7943" y="11893"/>
                    <a:pt x="8519" y="11826"/>
                    <a:pt x="9085" y="11758"/>
                  </a:cubicBezTo>
                  <a:cubicBezTo>
                    <a:pt x="9311" y="11728"/>
                    <a:pt x="9544" y="11699"/>
                    <a:pt x="9745" y="11591"/>
                  </a:cubicBezTo>
                  <a:cubicBezTo>
                    <a:pt x="10251" y="11318"/>
                    <a:pt x="10386" y="10653"/>
                    <a:pt x="10366" y="10079"/>
                  </a:cubicBezTo>
                  <a:cubicBezTo>
                    <a:pt x="10342" y="9391"/>
                    <a:pt x="10612" y="6296"/>
                    <a:pt x="10612" y="6296"/>
                  </a:cubicBezTo>
                  <a:cubicBezTo>
                    <a:pt x="10612" y="6296"/>
                    <a:pt x="11304" y="3441"/>
                    <a:pt x="8702" y="2749"/>
                  </a:cubicBezTo>
                  <a:cubicBezTo>
                    <a:pt x="7732" y="2489"/>
                    <a:pt x="6746" y="1998"/>
                    <a:pt x="5872" y="1441"/>
                  </a:cubicBezTo>
                  <a:cubicBezTo>
                    <a:pt x="4956" y="856"/>
                    <a:pt x="4070" y="103"/>
                    <a:pt x="2990" y="7"/>
                  </a:cubicBezTo>
                  <a:cubicBezTo>
                    <a:pt x="2942" y="3"/>
                    <a:pt x="2893" y="1"/>
                    <a:pt x="2843" y="1"/>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9"/>
            <p:cNvSpPr/>
            <p:nvPr/>
          </p:nvSpPr>
          <p:spPr>
            <a:xfrm>
              <a:off x="1967150" y="4555775"/>
              <a:ext cx="231975" cy="190575"/>
            </a:xfrm>
            <a:custGeom>
              <a:avLst/>
              <a:gdLst/>
              <a:ahLst/>
              <a:cxnLst/>
              <a:rect l="l" t="t" r="r" b="b"/>
              <a:pathLst>
                <a:path w="9279" h="7623" extrusionOk="0">
                  <a:moveTo>
                    <a:pt x="509" y="1"/>
                  </a:moveTo>
                  <a:cubicBezTo>
                    <a:pt x="473" y="1"/>
                    <a:pt x="438" y="9"/>
                    <a:pt x="403" y="26"/>
                  </a:cubicBezTo>
                  <a:cubicBezTo>
                    <a:pt x="0" y="228"/>
                    <a:pt x="508" y="1367"/>
                    <a:pt x="633" y="1656"/>
                  </a:cubicBezTo>
                  <a:cubicBezTo>
                    <a:pt x="695" y="1799"/>
                    <a:pt x="766" y="1944"/>
                    <a:pt x="788" y="2096"/>
                  </a:cubicBezTo>
                  <a:cubicBezTo>
                    <a:pt x="810" y="2238"/>
                    <a:pt x="788" y="2383"/>
                    <a:pt x="771" y="2525"/>
                  </a:cubicBezTo>
                  <a:cubicBezTo>
                    <a:pt x="663" y="3377"/>
                    <a:pt x="609" y="4251"/>
                    <a:pt x="803" y="5086"/>
                  </a:cubicBezTo>
                  <a:cubicBezTo>
                    <a:pt x="999" y="5923"/>
                    <a:pt x="1468" y="6725"/>
                    <a:pt x="2204" y="7165"/>
                  </a:cubicBezTo>
                  <a:cubicBezTo>
                    <a:pt x="2825" y="7533"/>
                    <a:pt x="3552" y="7623"/>
                    <a:pt x="4275" y="7623"/>
                  </a:cubicBezTo>
                  <a:cubicBezTo>
                    <a:pt x="4664" y="7623"/>
                    <a:pt x="5052" y="7597"/>
                    <a:pt x="5422" y="7575"/>
                  </a:cubicBezTo>
                  <a:cubicBezTo>
                    <a:pt x="6458" y="7513"/>
                    <a:pt x="7496" y="7481"/>
                    <a:pt x="8533" y="7481"/>
                  </a:cubicBezTo>
                  <a:cubicBezTo>
                    <a:pt x="8782" y="7481"/>
                    <a:pt x="9030" y="7482"/>
                    <a:pt x="9279" y="7486"/>
                  </a:cubicBezTo>
                  <a:lnTo>
                    <a:pt x="9011" y="5390"/>
                  </a:lnTo>
                  <a:cubicBezTo>
                    <a:pt x="8952" y="4931"/>
                    <a:pt x="8893" y="4472"/>
                    <a:pt x="8788" y="4023"/>
                  </a:cubicBezTo>
                  <a:cubicBezTo>
                    <a:pt x="8596" y="3222"/>
                    <a:pt x="8253" y="2415"/>
                    <a:pt x="7590" y="1904"/>
                  </a:cubicBezTo>
                  <a:cubicBezTo>
                    <a:pt x="6942" y="1408"/>
                    <a:pt x="6139" y="1134"/>
                    <a:pt x="5344" y="984"/>
                  </a:cubicBezTo>
                  <a:cubicBezTo>
                    <a:pt x="4210" y="770"/>
                    <a:pt x="3041" y="778"/>
                    <a:pt x="1910" y="554"/>
                  </a:cubicBezTo>
                  <a:cubicBezTo>
                    <a:pt x="1615" y="498"/>
                    <a:pt x="1316" y="417"/>
                    <a:pt x="1043" y="284"/>
                  </a:cubicBezTo>
                  <a:cubicBezTo>
                    <a:pt x="891" y="208"/>
                    <a:pt x="696" y="1"/>
                    <a:pt x="509" y="1"/>
                  </a:cubicBezTo>
                  <a:close/>
                </a:path>
              </a:pathLst>
            </a:custGeom>
            <a:solidFill>
              <a:srgbClr val="CF7C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9"/>
            <p:cNvSpPr/>
            <p:nvPr/>
          </p:nvSpPr>
          <p:spPr>
            <a:xfrm>
              <a:off x="1903725" y="4529300"/>
              <a:ext cx="160775" cy="215450"/>
            </a:xfrm>
            <a:custGeom>
              <a:avLst/>
              <a:gdLst/>
              <a:ahLst/>
              <a:cxnLst/>
              <a:rect l="l" t="t" r="r" b="b"/>
              <a:pathLst>
                <a:path w="6431" h="8618" extrusionOk="0">
                  <a:moveTo>
                    <a:pt x="1245" y="0"/>
                  </a:moveTo>
                  <a:cubicBezTo>
                    <a:pt x="481" y="0"/>
                    <a:pt x="0" y="1491"/>
                    <a:pt x="151" y="2070"/>
                  </a:cubicBezTo>
                  <a:cubicBezTo>
                    <a:pt x="262" y="2487"/>
                    <a:pt x="561" y="2828"/>
                    <a:pt x="735" y="3221"/>
                  </a:cubicBezTo>
                  <a:cubicBezTo>
                    <a:pt x="1079" y="3999"/>
                    <a:pt x="910" y="4895"/>
                    <a:pt x="910" y="5747"/>
                  </a:cubicBezTo>
                  <a:cubicBezTo>
                    <a:pt x="910" y="6437"/>
                    <a:pt x="1027" y="7124"/>
                    <a:pt x="1258" y="7774"/>
                  </a:cubicBezTo>
                  <a:cubicBezTo>
                    <a:pt x="1320" y="7941"/>
                    <a:pt x="1391" y="8116"/>
                    <a:pt x="1526" y="8231"/>
                  </a:cubicBezTo>
                  <a:cubicBezTo>
                    <a:pt x="1763" y="8434"/>
                    <a:pt x="1900" y="8618"/>
                    <a:pt x="2166" y="8618"/>
                  </a:cubicBezTo>
                  <a:cubicBezTo>
                    <a:pt x="2203" y="8618"/>
                    <a:pt x="2242" y="8614"/>
                    <a:pt x="2284" y="8607"/>
                  </a:cubicBezTo>
                  <a:cubicBezTo>
                    <a:pt x="2691" y="8536"/>
                    <a:pt x="3262" y="8513"/>
                    <a:pt x="3843" y="8513"/>
                  </a:cubicBezTo>
                  <a:cubicBezTo>
                    <a:pt x="5004" y="8513"/>
                    <a:pt x="6204" y="8607"/>
                    <a:pt x="6204" y="8607"/>
                  </a:cubicBezTo>
                  <a:lnTo>
                    <a:pt x="6430" y="1805"/>
                  </a:lnTo>
                  <a:lnTo>
                    <a:pt x="6430" y="1805"/>
                  </a:lnTo>
                  <a:cubicBezTo>
                    <a:pt x="6335" y="1808"/>
                    <a:pt x="6235" y="1809"/>
                    <a:pt x="6132" y="1809"/>
                  </a:cubicBezTo>
                  <a:cubicBezTo>
                    <a:pt x="5085" y="1809"/>
                    <a:pt x="3701" y="1645"/>
                    <a:pt x="2979" y="995"/>
                  </a:cubicBezTo>
                  <a:cubicBezTo>
                    <a:pt x="2517" y="577"/>
                    <a:pt x="1889" y="23"/>
                    <a:pt x="1266" y="0"/>
                  </a:cubicBezTo>
                  <a:cubicBezTo>
                    <a:pt x="1259" y="0"/>
                    <a:pt x="1252" y="0"/>
                    <a:pt x="1245"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9"/>
            <p:cNvSpPr/>
            <p:nvPr/>
          </p:nvSpPr>
          <p:spPr>
            <a:xfrm>
              <a:off x="1122573" y="4423759"/>
              <a:ext cx="282675" cy="297375"/>
            </a:xfrm>
            <a:custGeom>
              <a:avLst/>
              <a:gdLst/>
              <a:ahLst/>
              <a:cxnLst/>
              <a:rect l="l" t="t" r="r" b="b"/>
              <a:pathLst>
                <a:path w="11307" h="11895" extrusionOk="0">
                  <a:moveTo>
                    <a:pt x="8461" y="0"/>
                  </a:moveTo>
                  <a:cubicBezTo>
                    <a:pt x="8412" y="0"/>
                    <a:pt x="8363" y="2"/>
                    <a:pt x="8315" y="7"/>
                  </a:cubicBezTo>
                  <a:cubicBezTo>
                    <a:pt x="7235" y="102"/>
                    <a:pt x="6349" y="856"/>
                    <a:pt x="5435" y="1440"/>
                  </a:cubicBezTo>
                  <a:cubicBezTo>
                    <a:pt x="4559" y="1997"/>
                    <a:pt x="3575" y="2491"/>
                    <a:pt x="2603" y="2748"/>
                  </a:cubicBezTo>
                  <a:cubicBezTo>
                    <a:pt x="1" y="3441"/>
                    <a:pt x="695" y="6298"/>
                    <a:pt x="695" y="6298"/>
                  </a:cubicBezTo>
                  <a:cubicBezTo>
                    <a:pt x="695" y="6298"/>
                    <a:pt x="963" y="9393"/>
                    <a:pt x="941" y="10080"/>
                  </a:cubicBezTo>
                  <a:cubicBezTo>
                    <a:pt x="921" y="10655"/>
                    <a:pt x="1054" y="11318"/>
                    <a:pt x="1559" y="11590"/>
                  </a:cubicBezTo>
                  <a:cubicBezTo>
                    <a:pt x="1761" y="11701"/>
                    <a:pt x="1994" y="11730"/>
                    <a:pt x="2222" y="11757"/>
                  </a:cubicBezTo>
                  <a:cubicBezTo>
                    <a:pt x="2786" y="11827"/>
                    <a:pt x="3362" y="11895"/>
                    <a:pt x="3931" y="11895"/>
                  </a:cubicBezTo>
                  <a:cubicBezTo>
                    <a:pt x="4426" y="11895"/>
                    <a:pt x="4917" y="11843"/>
                    <a:pt x="5391" y="11696"/>
                  </a:cubicBezTo>
                  <a:cubicBezTo>
                    <a:pt x="6093" y="11477"/>
                    <a:pt x="6719" y="11060"/>
                    <a:pt x="7416" y="10824"/>
                  </a:cubicBezTo>
                  <a:cubicBezTo>
                    <a:pt x="8133" y="10584"/>
                    <a:pt x="8901" y="10544"/>
                    <a:pt x="9628" y="10331"/>
                  </a:cubicBezTo>
                  <a:cubicBezTo>
                    <a:pt x="10134" y="10184"/>
                    <a:pt x="10615" y="9953"/>
                    <a:pt x="11049" y="9648"/>
                  </a:cubicBezTo>
                  <a:cubicBezTo>
                    <a:pt x="11130" y="9592"/>
                    <a:pt x="11211" y="9528"/>
                    <a:pt x="11258" y="9440"/>
                  </a:cubicBezTo>
                  <a:cubicBezTo>
                    <a:pt x="11307" y="9347"/>
                    <a:pt x="11307" y="9231"/>
                    <a:pt x="11285" y="9128"/>
                  </a:cubicBezTo>
                  <a:cubicBezTo>
                    <a:pt x="11174" y="8568"/>
                    <a:pt x="10566" y="8262"/>
                    <a:pt x="10006" y="8158"/>
                  </a:cubicBezTo>
                  <a:cubicBezTo>
                    <a:pt x="9444" y="8055"/>
                    <a:pt x="8842" y="8065"/>
                    <a:pt x="8349" y="7780"/>
                  </a:cubicBezTo>
                  <a:lnTo>
                    <a:pt x="9832" y="7361"/>
                  </a:lnTo>
                  <a:cubicBezTo>
                    <a:pt x="10107" y="7282"/>
                    <a:pt x="10391" y="7199"/>
                    <a:pt x="10612" y="7019"/>
                  </a:cubicBezTo>
                  <a:cubicBezTo>
                    <a:pt x="10833" y="6838"/>
                    <a:pt x="10978" y="6531"/>
                    <a:pt x="10885" y="6261"/>
                  </a:cubicBezTo>
                  <a:cubicBezTo>
                    <a:pt x="10767" y="5932"/>
                    <a:pt x="10374" y="5807"/>
                    <a:pt x="10031" y="5746"/>
                  </a:cubicBezTo>
                  <a:cubicBezTo>
                    <a:pt x="9551" y="5661"/>
                    <a:pt x="9066" y="5618"/>
                    <a:pt x="8581" y="5618"/>
                  </a:cubicBezTo>
                  <a:cubicBezTo>
                    <a:pt x="8305" y="5618"/>
                    <a:pt x="8030" y="5632"/>
                    <a:pt x="7755" y="5660"/>
                  </a:cubicBezTo>
                  <a:cubicBezTo>
                    <a:pt x="8617" y="5446"/>
                    <a:pt x="9436" y="5090"/>
                    <a:pt x="10180" y="4607"/>
                  </a:cubicBezTo>
                  <a:cubicBezTo>
                    <a:pt x="10384" y="4474"/>
                    <a:pt x="10593" y="4317"/>
                    <a:pt x="10666" y="4086"/>
                  </a:cubicBezTo>
                  <a:cubicBezTo>
                    <a:pt x="10752" y="3801"/>
                    <a:pt x="10598" y="3482"/>
                    <a:pt x="10359" y="3306"/>
                  </a:cubicBezTo>
                  <a:cubicBezTo>
                    <a:pt x="10119" y="3129"/>
                    <a:pt x="9814" y="3067"/>
                    <a:pt x="9517" y="3043"/>
                  </a:cubicBezTo>
                  <a:cubicBezTo>
                    <a:pt x="9400" y="3033"/>
                    <a:pt x="9283" y="3029"/>
                    <a:pt x="9166" y="3029"/>
                  </a:cubicBezTo>
                  <a:cubicBezTo>
                    <a:pt x="8613" y="3029"/>
                    <a:pt x="8063" y="3134"/>
                    <a:pt x="7549" y="3342"/>
                  </a:cubicBezTo>
                  <a:cubicBezTo>
                    <a:pt x="8261" y="3018"/>
                    <a:pt x="8889" y="2540"/>
                    <a:pt x="9390" y="1941"/>
                  </a:cubicBezTo>
                  <a:cubicBezTo>
                    <a:pt x="9628" y="1656"/>
                    <a:pt x="9844" y="1317"/>
                    <a:pt x="9814" y="949"/>
                  </a:cubicBezTo>
                  <a:cubicBezTo>
                    <a:pt x="9764" y="342"/>
                    <a:pt x="9082" y="0"/>
                    <a:pt x="8461"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9"/>
            <p:cNvSpPr/>
            <p:nvPr/>
          </p:nvSpPr>
          <p:spPr>
            <a:xfrm>
              <a:off x="890600" y="4554500"/>
              <a:ext cx="231975" cy="190575"/>
            </a:xfrm>
            <a:custGeom>
              <a:avLst/>
              <a:gdLst/>
              <a:ahLst/>
              <a:cxnLst/>
              <a:rect l="l" t="t" r="r" b="b"/>
              <a:pathLst>
                <a:path w="9279" h="7623" extrusionOk="0">
                  <a:moveTo>
                    <a:pt x="8770" y="0"/>
                  </a:moveTo>
                  <a:cubicBezTo>
                    <a:pt x="8584" y="0"/>
                    <a:pt x="8390" y="208"/>
                    <a:pt x="8235" y="284"/>
                  </a:cubicBezTo>
                  <a:cubicBezTo>
                    <a:pt x="7963" y="416"/>
                    <a:pt x="7666" y="497"/>
                    <a:pt x="7369" y="556"/>
                  </a:cubicBezTo>
                  <a:cubicBezTo>
                    <a:pt x="6237" y="779"/>
                    <a:pt x="5069" y="770"/>
                    <a:pt x="3935" y="983"/>
                  </a:cubicBezTo>
                  <a:cubicBezTo>
                    <a:pt x="3140" y="1133"/>
                    <a:pt x="2337" y="1408"/>
                    <a:pt x="1689" y="1904"/>
                  </a:cubicBezTo>
                  <a:cubicBezTo>
                    <a:pt x="1026" y="2412"/>
                    <a:pt x="682" y="3222"/>
                    <a:pt x="493" y="4022"/>
                  </a:cubicBezTo>
                  <a:cubicBezTo>
                    <a:pt x="385" y="4471"/>
                    <a:pt x="327" y="4930"/>
                    <a:pt x="270" y="5389"/>
                  </a:cubicBezTo>
                  <a:lnTo>
                    <a:pt x="0" y="7486"/>
                  </a:lnTo>
                  <a:cubicBezTo>
                    <a:pt x="257" y="7482"/>
                    <a:pt x="515" y="7480"/>
                    <a:pt x="772" y="7480"/>
                  </a:cubicBezTo>
                  <a:cubicBezTo>
                    <a:pt x="1801" y="7480"/>
                    <a:pt x="2829" y="7511"/>
                    <a:pt x="3856" y="7574"/>
                  </a:cubicBezTo>
                  <a:cubicBezTo>
                    <a:pt x="4227" y="7596"/>
                    <a:pt x="4616" y="7622"/>
                    <a:pt x="5005" y="7622"/>
                  </a:cubicBezTo>
                  <a:cubicBezTo>
                    <a:pt x="5728" y="7622"/>
                    <a:pt x="6454" y="7533"/>
                    <a:pt x="7074" y="7164"/>
                  </a:cubicBezTo>
                  <a:cubicBezTo>
                    <a:pt x="7811" y="6725"/>
                    <a:pt x="8282" y="5922"/>
                    <a:pt x="8476" y="5085"/>
                  </a:cubicBezTo>
                  <a:cubicBezTo>
                    <a:pt x="8670" y="4250"/>
                    <a:pt x="8618" y="3377"/>
                    <a:pt x="8508" y="2525"/>
                  </a:cubicBezTo>
                  <a:cubicBezTo>
                    <a:pt x="8491" y="2382"/>
                    <a:pt x="8471" y="2238"/>
                    <a:pt x="8491" y="2095"/>
                  </a:cubicBezTo>
                  <a:cubicBezTo>
                    <a:pt x="8513" y="1941"/>
                    <a:pt x="8584" y="1798"/>
                    <a:pt x="8645" y="1653"/>
                  </a:cubicBezTo>
                  <a:cubicBezTo>
                    <a:pt x="8771" y="1366"/>
                    <a:pt x="9279" y="227"/>
                    <a:pt x="8876" y="26"/>
                  </a:cubicBezTo>
                  <a:cubicBezTo>
                    <a:pt x="8841" y="8"/>
                    <a:pt x="8806" y="0"/>
                    <a:pt x="8770" y="0"/>
                  </a:cubicBezTo>
                  <a:close/>
                </a:path>
              </a:pathLst>
            </a:custGeom>
            <a:solidFill>
              <a:srgbClr val="CF7C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9"/>
            <p:cNvSpPr/>
            <p:nvPr/>
          </p:nvSpPr>
          <p:spPr>
            <a:xfrm>
              <a:off x="1025300" y="4528000"/>
              <a:ext cx="160750" cy="215475"/>
            </a:xfrm>
            <a:custGeom>
              <a:avLst/>
              <a:gdLst/>
              <a:ahLst/>
              <a:cxnLst/>
              <a:rect l="l" t="t" r="r" b="b"/>
              <a:pathLst>
                <a:path w="6430" h="8619" extrusionOk="0">
                  <a:moveTo>
                    <a:pt x="5183" y="1"/>
                  </a:moveTo>
                  <a:cubicBezTo>
                    <a:pt x="5176" y="1"/>
                    <a:pt x="5169" y="1"/>
                    <a:pt x="5162" y="1"/>
                  </a:cubicBezTo>
                  <a:cubicBezTo>
                    <a:pt x="4541" y="25"/>
                    <a:pt x="3910" y="578"/>
                    <a:pt x="3451" y="995"/>
                  </a:cubicBezTo>
                  <a:cubicBezTo>
                    <a:pt x="2730" y="1647"/>
                    <a:pt x="1349" y="1810"/>
                    <a:pt x="301" y="1810"/>
                  </a:cubicBezTo>
                  <a:cubicBezTo>
                    <a:pt x="197" y="1810"/>
                    <a:pt x="96" y="1808"/>
                    <a:pt x="0" y="1805"/>
                  </a:cubicBezTo>
                  <a:lnTo>
                    <a:pt x="0" y="1805"/>
                  </a:lnTo>
                  <a:lnTo>
                    <a:pt x="226" y="8607"/>
                  </a:lnTo>
                  <a:cubicBezTo>
                    <a:pt x="226" y="8607"/>
                    <a:pt x="1426" y="8513"/>
                    <a:pt x="2587" y="8513"/>
                  </a:cubicBezTo>
                  <a:cubicBezTo>
                    <a:pt x="3167" y="8513"/>
                    <a:pt x="3738" y="8537"/>
                    <a:pt x="4143" y="8607"/>
                  </a:cubicBezTo>
                  <a:cubicBezTo>
                    <a:pt x="4186" y="8615"/>
                    <a:pt x="4226" y="8618"/>
                    <a:pt x="4263" y="8618"/>
                  </a:cubicBezTo>
                  <a:cubicBezTo>
                    <a:pt x="4529" y="8618"/>
                    <a:pt x="4667" y="8436"/>
                    <a:pt x="4902" y="8234"/>
                  </a:cubicBezTo>
                  <a:cubicBezTo>
                    <a:pt x="5037" y="8116"/>
                    <a:pt x="5111" y="7944"/>
                    <a:pt x="5170" y="7775"/>
                  </a:cubicBezTo>
                  <a:cubicBezTo>
                    <a:pt x="5400" y="7124"/>
                    <a:pt x="5518" y="6440"/>
                    <a:pt x="5521" y="5747"/>
                  </a:cubicBezTo>
                  <a:cubicBezTo>
                    <a:pt x="5521" y="4896"/>
                    <a:pt x="5349" y="4002"/>
                    <a:pt x="5695" y="3221"/>
                  </a:cubicBezTo>
                  <a:cubicBezTo>
                    <a:pt x="5869" y="2829"/>
                    <a:pt x="6169" y="2490"/>
                    <a:pt x="6277" y="2073"/>
                  </a:cubicBezTo>
                  <a:cubicBezTo>
                    <a:pt x="6430" y="1491"/>
                    <a:pt x="5949" y="1"/>
                    <a:pt x="5183" y="1"/>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9"/>
            <p:cNvSpPr/>
            <p:nvPr/>
          </p:nvSpPr>
          <p:spPr>
            <a:xfrm>
              <a:off x="1084375" y="3968200"/>
              <a:ext cx="162525" cy="216300"/>
            </a:xfrm>
            <a:custGeom>
              <a:avLst/>
              <a:gdLst/>
              <a:ahLst/>
              <a:cxnLst/>
              <a:rect l="l" t="t" r="r" b="b"/>
              <a:pathLst>
                <a:path w="6501" h="8652" extrusionOk="0">
                  <a:moveTo>
                    <a:pt x="5647" y="0"/>
                  </a:moveTo>
                  <a:cubicBezTo>
                    <a:pt x="4913" y="0"/>
                    <a:pt x="3912" y="416"/>
                    <a:pt x="3280" y="583"/>
                  </a:cubicBezTo>
                  <a:cubicBezTo>
                    <a:pt x="2637" y="753"/>
                    <a:pt x="1297" y="917"/>
                    <a:pt x="850" y="1482"/>
                  </a:cubicBezTo>
                  <a:cubicBezTo>
                    <a:pt x="87" y="2454"/>
                    <a:pt x="1" y="4140"/>
                    <a:pt x="236" y="5306"/>
                  </a:cubicBezTo>
                  <a:cubicBezTo>
                    <a:pt x="288" y="5559"/>
                    <a:pt x="369" y="5807"/>
                    <a:pt x="475" y="6045"/>
                  </a:cubicBezTo>
                  <a:cubicBezTo>
                    <a:pt x="956" y="7113"/>
                    <a:pt x="1945" y="7984"/>
                    <a:pt x="3000" y="8416"/>
                  </a:cubicBezTo>
                  <a:cubicBezTo>
                    <a:pt x="3386" y="8574"/>
                    <a:pt x="3767" y="8651"/>
                    <a:pt x="4125" y="8651"/>
                  </a:cubicBezTo>
                  <a:cubicBezTo>
                    <a:pt x="5204" y="8651"/>
                    <a:pt x="6084" y="7952"/>
                    <a:pt x="6314" y="6671"/>
                  </a:cubicBezTo>
                  <a:cubicBezTo>
                    <a:pt x="6501" y="5620"/>
                    <a:pt x="6167" y="4562"/>
                    <a:pt x="6039" y="3517"/>
                  </a:cubicBezTo>
                  <a:cubicBezTo>
                    <a:pt x="5897" y="2341"/>
                    <a:pt x="5995" y="1194"/>
                    <a:pt x="5948" y="28"/>
                  </a:cubicBezTo>
                  <a:cubicBezTo>
                    <a:pt x="5855" y="9"/>
                    <a:pt x="5754" y="0"/>
                    <a:pt x="5647"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9"/>
            <p:cNvSpPr/>
            <p:nvPr/>
          </p:nvSpPr>
          <p:spPr>
            <a:xfrm>
              <a:off x="1799250" y="3965350"/>
              <a:ext cx="140675" cy="186125"/>
            </a:xfrm>
            <a:custGeom>
              <a:avLst/>
              <a:gdLst/>
              <a:ahLst/>
              <a:cxnLst/>
              <a:rect l="l" t="t" r="r" b="b"/>
              <a:pathLst>
                <a:path w="5627" h="7445" extrusionOk="0">
                  <a:moveTo>
                    <a:pt x="1556" y="0"/>
                  </a:moveTo>
                  <a:cubicBezTo>
                    <a:pt x="643" y="0"/>
                    <a:pt x="710" y="1081"/>
                    <a:pt x="744" y="1812"/>
                  </a:cubicBezTo>
                  <a:cubicBezTo>
                    <a:pt x="795" y="2848"/>
                    <a:pt x="388" y="3736"/>
                    <a:pt x="160" y="4693"/>
                  </a:cubicBezTo>
                  <a:cubicBezTo>
                    <a:pt x="96" y="4959"/>
                    <a:pt x="49" y="5229"/>
                    <a:pt x="27" y="5501"/>
                  </a:cubicBezTo>
                  <a:cubicBezTo>
                    <a:pt x="0" y="5835"/>
                    <a:pt x="30" y="6181"/>
                    <a:pt x="174" y="6480"/>
                  </a:cubicBezTo>
                  <a:cubicBezTo>
                    <a:pt x="400" y="6944"/>
                    <a:pt x="881" y="7246"/>
                    <a:pt x="1385" y="7362"/>
                  </a:cubicBezTo>
                  <a:cubicBezTo>
                    <a:pt x="1628" y="7417"/>
                    <a:pt x="1877" y="7444"/>
                    <a:pt x="2127" y="7444"/>
                  </a:cubicBezTo>
                  <a:cubicBezTo>
                    <a:pt x="3434" y="7444"/>
                    <a:pt x="4756" y="6710"/>
                    <a:pt x="5287" y="5496"/>
                  </a:cubicBezTo>
                  <a:cubicBezTo>
                    <a:pt x="5570" y="4855"/>
                    <a:pt x="5626" y="4139"/>
                    <a:pt x="5612" y="3437"/>
                  </a:cubicBezTo>
                  <a:cubicBezTo>
                    <a:pt x="5585" y="2180"/>
                    <a:pt x="5084" y="1522"/>
                    <a:pt x="3962" y="1014"/>
                  </a:cubicBezTo>
                  <a:cubicBezTo>
                    <a:pt x="3243" y="687"/>
                    <a:pt x="2565" y="138"/>
                    <a:pt x="1768" y="17"/>
                  </a:cubicBezTo>
                  <a:cubicBezTo>
                    <a:pt x="1692" y="6"/>
                    <a:pt x="1621" y="0"/>
                    <a:pt x="1556"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84" name="Google Shape;184;p29"/>
          <p:cNvCxnSpPr>
            <a:stCxn id="141" idx="3"/>
          </p:cNvCxnSpPr>
          <p:nvPr/>
        </p:nvCxnSpPr>
        <p:spPr>
          <a:xfrm>
            <a:off x="1871850" y="1274175"/>
            <a:ext cx="605700" cy="1814700"/>
          </a:xfrm>
          <a:prstGeom prst="curvedConnector4">
            <a:avLst>
              <a:gd name="adj1" fmla="val -39314"/>
              <a:gd name="adj2" fmla="val 67424"/>
            </a:avLst>
          </a:prstGeom>
          <a:noFill/>
          <a:ln w="19050" cap="flat" cmpd="sng">
            <a:solidFill>
              <a:schemeClr val="lt1"/>
            </a:solidFill>
            <a:prstDash val="dash"/>
            <a:round/>
            <a:headEnd type="oval" w="med" len="med"/>
            <a:tailEnd type="triangle" w="med" len="med"/>
          </a:ln>
        </p:spPr>
      </p:cxnSp>
      <p:cxnSp>
        <p:nvCxnSpPr>
          <p:cNvPr id="185" name="Google Shape;185;p29"/>
          <p:cNvCxnSpPr>
            <a:endCxn id="141" idx="1"/>
          </p:cNvCxnSpPr>
          <p:nvPr/>
        </p:nvCxnSpPr>
        <p:spPr>
          <a:xfrm rot="-5400000">
            <a:off x="5929200" y="1949325"/>
            <a:ext cx="2018100" cy="667800"/>
          </a:xfrm>
          <a:prstGeom prst="curvedConnector4">
            <a:avLst>
              <a:gd name="adj1" fmla="val 34332"/>
              <a:gd name="adj2" fmla="val 135658"/>
            </a:avLst>
          </a:prstGeom>
          <a:noFill/>
          <a:ln w="19050" cap="flat" cmpd="sng">
            <a:solidFill>
              <a:schemeClr val="lt1"/>
            </a:solidFill>
            <a:prstDash val="dash"/>
            <a:round/>
            <a:headEnd type="oval" w="med" len="med"/>
            <a:tailEnd type="triangl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grpSp>
        <p:nvGrpSpPr>
          <p:cNvPr id="190" name="Google Shape;190;p30"/>
          <p:cNvGrpSpPr/>
          <p:nvPr/>
        </p:nvGrpSpPr>
        <p:grpSpPr>
          <a:xfrm flipH="1">
            <a:off x="5362004" y="1327366"/>
            <a:ext cx="2742357" cy="3803561"/>
            <a:chOff x="845875" y="2400750"/>
            <a:chExt cx="942650" cy="1307425"/>
          </a:xfrm>
        </p:grpSpPr>
        <p:sp>
          <p:nvSpPr>
            <p:cNvPr id="191" name="Google Shape;191;p30"/>
            <p:cNvSpPr/>
            <p:nvPr/>
          </p:nvSpPr>
          <p:spPr>
            <a:xfrm>
              <a:off x="1758800" y="2513325"/>
              <a:ext cx="19400" cy="1035150"/>
            </a:xfrm>
            <a:custGeom>
              <a:avLst/>
              <a:gdLst/>
              <a:ahLst/>
              <a:cxnLst/>
              <a:rect l="l" t="t" r="r" b="b"/>
              <a:pathLst>
                <a:path w="776" h="41406" extrusionOk="0">
                  <a:moveTo>
                    <a:pt x="390" y="1"/>
                  </a:moveTo>
                  <a:cubicBezTo>
                    <a:pt x="181" y="1"/>
                    <a:pt x="1" y="168"/>
                    <a:pt x="1" y="385"/>
                  </a:cubicBezTo>
                  <a:lnTo>
                    <a:pt x="1" y="41308"/>
                  </a:lnTo>
                  <a:lnTo>
                    <a:pt x="775" y="41406"/>
                  </a:lnTo>
                  <a:lnTo>
                    <a:pt x="775" y="385"/>
                  </a:lnTo>
                  <a:cubicBezTo>
                    <a:pt x="775" y="194"/>
                    <a:pt x="631" y="29"/>
                    <a:pt x="435" y="3"/>
                  </a:cubicBezTo>
                  <a:cubicBezTo>
                    <a:pt x="420" y="1"/>
                    <a:pt x="405" y="1"/>
                    <a:pt x="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0"/>
            <p:cNvSpPr/>
            <p:nvPr/>
          </p:nvSpPr>
          <p:spPr>
            <a:xfrm>
              <a:off x="866000" y="2956700"/>
              <a:ext cx="902525" cy="131825"/>
            </a:xfrm>
            <a:custGeom>
              <a:avLst/>
              <a:gdLst/>
              <a:ahLst/>
              <a:cxnLst/>
              <a:rect l="l" t="t" r="r" b="b"/>
              <a:pathLst>
                <a:path w="36101" h="5273" extrusionOk="0">
                  <a:moveTo>
                    <a:pt x="1" y="0"/>
                  </a:moveTo>
                  <a:lnTo>
                    <a:pt x="1" y="770"/>
                  </a:lnTo>
                  <a:lnTo>
                    <a:pt x="36100" y="5273"/>
                  </a:lnTo>
                  <a:lnTo>
                    <a:pt x="36100" y="449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0"/>
            <p:cNvSpPr/>
            <p:nvPr/>
          </p:nvSpPr>
          <p:spPr>
            <a:xfrm>
              <a:off x="1748225" y="3512525"/>
              <a:ext cx="40300" cy="195650"/>
            </a:xfrm>
            <a:custGeom>
              <a:avLst/>
              <a:gdLst/>
              <a:ahLst/>
              <a:cxnLst/>
              <a:rect l="l" t="t" r="r" b="b"/>
              <a:pathLst>
                <a:path w="1612" h="7826" extrusionOk="0">
                  <a:moveTo>
                    <a:pt x="799" y="1"/>
                  </a:moveTo>
                  <a:cubicBezTo>
                    <a:pt x="364" y="1"/>
                    <a:pt x="1" y="353"/>
                    <a:pt x="1" y="803"/>
                  </a:cubicBezTo>
                  <a:lnTo>
                    <a:pt x="6" y="7826"/>
                  </a:lnTo>
                  <a:lnTo>
                    <a:pt x="1612" y="7826"/>
                  </a:lnTo>
                  <a:lnTo>
                    <a:pt x="1612" y="803"/>
                  </a:lnTo>
                  <a:cubicBezTo>
                    <a:pt x="1612" y="395"/>
                    <a:pt x="1307" y="54"/>
                    <a:pt x="904" y="8"/>
                  </a:cubicBezTo>
                  <a:cubicBezTo>
                    <a:pt x="869" y="3"/>
                    <a:pt x="834" y="1"/>
                    <a:pt x="7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0"/>
            <p:cNvSpPr/>
            <p:nvPr/>
          </p:nvSpPr>
          <p:spPr>
            <a:xfrm>
              <a:off x="856325" y="2400750"/>
              <a:ext cx="19375" cy="1035300"/>
            </a:xfrm>
            <a:custGeom>
              <a:avLst/>
              <a:gdLst/>
              <a:ahLst/>
              <a:cxnLst/>
              <a:rect l="l" t="t" r="r" b="b"/>
              <a:pathLst>
                <a:path w="775" h="41412" extrusionOk="0">
                  <a:moveTo>
                    <a:pt x="390" y="1"/>
                  </a:moveTo>
                  <a:cubicBezTo>
                    <a:pt x="181" y="1"/>
                    <a:pt x="0" y="168"/>
                    <a:pt x="0" y="385"/>
                  </a:cubicBezTo>
                  <a:lnTo>
                    <a:pt x="0" y="41313"/>
                  </a:lnTo>
                  <a:lnTo>
                    <a:pt x="775" y="41411"/>
                  </a:lnTo>
                  <a:lnTo>
                    <a:pt x="775" y="385"/>
                  </a:lnTo>
                  <a:cubicBezTo>
                    <a:pt x="775" y="194"/>
                    <a:pt x="630" y="29"/>
                    <a:pt x="434" y="3"/>
                  </a:cubicBezTo>
                  <a:cubicBezTo>
                    <a:pt x="419" y="2"/>
                    <a:pt x="404" y="1"/>
                    <a:pt x="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0"/>
            <p:cNvSpPr/>
            <p:nvPr/>
          </p:nvSpPr>
          <p:spPr>
            <a:xfrm>
              <a:off x="845875" y="3399975"/>
              <a:ext cx="40150" cy="308200"/>
            </a:xfrm>
            <a:custGeom>
              <a:avLst/>
              <a:gdLst/>
              <a:ahLst/>
              <a:cxnLst/>
              <a:rect l="l" t="t" r="r" b="b"/>
              <a:pathLst>
                <a:path w="1606" h="12328" extrusionOk="0">
                  <a:moveTo>
                    <a:pt x="799" y="0"/>
                  </a:moveTo>
                  <a:cubicBezTo>
                    <a:pt x="364" y="0"/>
                    <a:pt x="0" y="352"/>
                    <a:pt x="0" y="802"/>
                  </a:cubicBezTo>
                  <a:lnTo>
                    <a:pt x="0" y="12328"/>
                  </a:lnTo>
                  <a:lnTo>
                    <a:pt x="1606" y="12328"/>
                  </a:lnTo>
                  <a:lnTo>
                    <a:pt x="1606" y="802"/>
                  </a:lnTo>
                  <a:cubicBezTo>
                    <a:pt x="1606" y="399"/>
                    <a:pt x="1306" y="53"/>
                    <a:pt x="904" y="7"/>
                  </a:cubicBezTo>
                  <a:cubicBezTo>
                    <a:pt x="868" y="2"/>
                    <a:pt x="833" y="0"/>
                    <a:pt x="7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30"/>
          <p:cNvGrpSpPr/>
          <p:nvPr/>
        </p:nvGrpSpPr>
        <p:grpSpPr>
          <a:xfrm>
            <a:off x="4169943" y="2086281"/>
            <a:ext cx="2386842" cy="1784370"/>
            <a:chOff x="4029925" y="586725"/>
            <a:chExt cx="1224775" cy="915625"/>
          </a:xfrm>
        </p:grpSpPr>
        <p:sp>
          <p:nvSpPr>
            <p:cNvPr id="197" name="Google Shape;197;p30"/>
            <p:cNvSpPr/>
            <p:nvPr/>
          </p:nvSpPr>
          <p:spPr>
            <a:xfrm>
              <a:off x="4795575" y="649425"/>
              <a:ext cx="401425" cy="396825"/>
            </a:xfrm>
            <a:custGeom>
              <a:avLst/>
              <a:gdLst/>
              <a:ahLst/>
              <a:cxnLst/>
              <a:rect l="l" t="t" r="r" b="b"/>
              <a:pathLst>
                <a:path w="16057" h="15873" extrusionOk="0">
                  <a:moveTo>
                    <a:pt x="14012" y="1"/>
                  </a:moveTo>
                  <a:cubicBezTo>
                    <a:pt x="13004" y="1"/>
                    <a:pt x="11996" y="90"/>
                    <a:pt x="11003" y="269"/>
                  </a:cubicBezTo>
                  <a:cubicBezTo>
                    <a:pt x="10472" y="362"/>
                    <a:pt x="9950" y="485"/>
                    <a:pt x="9432" y="632"/>
                  </a:cubicBezTo>
                  <a:cubicBezTo>
                    <a:pt x="7576" y="1170"/>
                    <a:pt x="5592" y="2137"/>
                    <a:pt x="3891" y="3836"/>
                  </a:cubicBezTo>
                  <a:cubicBezTo>
                    <a:pt x="2190" y="5537"/>
                    <a:pt x="1226" y="7520"/>
                    <a:pt x="688" y="9376"/>
                  </a:cubicBezTo>
                  <a:cubicBezTo>
                    <a:pt x="538" y="9894"/>
                    <a:pt x="418" y="10417"/>
                    <a:pt x="322" y="10947"/>
                  </a:cubicBezTo>
                  <a:cubicBezTo>
                    <a:pt x="77" y="12324"/>
                    <a:pt x="1" y="13728"/>
                    <a:pt x="97" y="15125"/>
                  </a:cubicBezTo>
                  <a:cubicBezTo>
                    <a:pt x="126" y="15532"/>
                    <a:pt x="163" y="15766"/>
                    <a:pt x="163" y="15766"/>
                  </a:cubicBezTo>
                  <a:cubicBezTo>
                    <a:pt x="163" y="15766"/>
                    <a:pt x="236" y="15775"/>
                    <a:pt x="374" y="15793"/>
                  </a:cubicBezTo>
                  <a:cubicBezTo>
                    <a:pt x="660" y="15824"/>
                    <a:pt x="1218" y="15873"/>
                    <a:pt x="1962" y="15873"/>
                  </a:cubicBezTo>
                  <a:cubicBezTo>
                    <a:pt x="2782" y="15873"/>
                    <a:pt x="3828" y="15813"/>
                    <a:pt x="4981" y="15606"/>
                  </a:cubicBezTo>
                  <a:cubicBezTo>
                    <a:pt x="5511" y="15510"/>
                    <a:pt x="6034" y="15387"/>
                    <a:pt x="6552" y="15240"/>
                  </a:cubicBezTo>
                  <a:cubicBezTo>
                    <a:pt x="8408" y="14703"/>
                    <a:pt x="10391" y="13738"/>
                    <a:pt x="12092" y="12037"/>
                  </a:cubicBezTo>
                  <a:cubicBezTo>
                    <a:pt x="13794" y="10338"/>
                    <a:pt x="14758" y="8352"/>
                    <a:pt x="15296" y="6497"/>
                  </a:cubicBezTo>
                  <a:cubicBezTo>
                    <a:pt x="15443" y="5979"/>
                    <a:pt x="15566" y="5456"/>
                    <a:pt x="15659" y="4926"/>
                  </a:cubicBezTo>
                  <a:cubicBezTo>
                    <a:pt x="16057" y="2729"/>
                    <a:pt x="15914" y="920"/>
                    <a:pt x="15848" y="321"/>
                  </a:cubicBezTo>
                  <a:cubicBezTo>
                    <a:pt x="15831" y="183"/>
                    <a:pt x="15821" y="107"/>
                    <a:pt x="15821" y="107"/>
                  </a:cubicBezTo>
                  <a:cubicBezTo>
                    <a:pt x="15821" y="107"/>
                    <a:pt x="15588" y="73"/>
                    <a:pt x="15180" y="41"/>
                  </a:cubicBezTo>
                  <a:cubicBezTo>
                    <a:pt x="14791" y="14"/>
                    <a:pt x="14402" y="1"/>
                    <a:pt x="14012" y="1"/>
                  </a:cubicBezTo>
                  <a:close/>
                </a:path>
              </a:pathLst>
            </a:custGeom>
            <a:solidFill>
              <a:srgbClr val="D47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0"/>
            <p:cNvSpPr/>
            <p:nvPr/>
          </p:nvSpPr>
          <p:spPr>
            <a:xfrm>
              <a:off x="4797975" y="650425"/>
              <a:ext cx="393750" cy="393825"/>
            </a:xfrm>
            <a:custGeom>
              <a:avLst/>
              <a:gdLst/>
              <a:ahLst/>
              <a:cxnLst/>
              <a:rect l="l" t="t" r="r" b="b"/>
              <a:pathLst>
                <a:path w="15750" h="15753" extrusionOk="0">
                  <a:moveTo>
                    <a:pt x="15084" y="1"/>
                  </a:moveTo>
                  <a:cubicBezTo>
                    <a:pt x="13580" y="406"/>
                    <a:pt x="9500" y="1793"/>
                    <a:pt x="5644" y="5647"/>
                  </a:cubicBezTo>
                  <a:lnTo>
                    <a:pt x="5646" y="5647"/>
                  </a:lnTo>
                  <a:cubicBezTo>
                    <a:pt x="1790" y="9500"/>
                    <a:pt x="406" y="13580"/>
                    <a:pt x="1" y="15085"/>
                  </a:cubicBezTo>
                  <a:cubicBezTo>
                    <a:pt x="30" y="15492"/>
                    <a:pt x="67" y="15726"/>
                    <a:pt x="67" y="15726"/>
                  </a:cubicBezTo>
                  <a:cubicBezTo>
                    <a:pt x="67" y="15726"/>
                    <a:pt x="140" y="15735"/>
                    <a:pt x="278" y="15753"/>
                  </a:cubicBezTo>
                  <a:cubicBezTo>
                    <a:pt x="327" y="15495"/>
                    <a:pt x="1328" y="10566"/>
                    <a:pt x="5946" y="5949"/>
                  </a:cubicBezTo>
                  <a:cubicBezTo>
                    <a:pt x="10570" y="1324"/>
                    <a:pt x="15492" y="330"/>
                    <a:pt x="15750" y="281"/>
                  </a:cubicBezTo>
                  <a:cubicBezTo>
                    <a:pt x="15735" y="143"/>
                    <a:pt x="15723" y="67"/>
                    <a:pt x="15723" y="67"/>
                  </a:cubicBezTo>
                  <a:cubicBezTo>
                    <a:pt x="15723" y="67"/>
                    <a:pt x="15492" y="33"/>
                    <a:pt x="15084" y="1"/>
                  </a:cubicBezTo>
                  <a:close/>
                </a:path>
              </a:pathLst>
            </a:custGeom>
            <a:solidFill>
              <a:srgbClr val="CC6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p:cNvSpPr/>
            <p:nvPr/>
          </p:nvSpPr>
          <p:spPr>
            <a:xfrm>
              <a:off x="5031300" y="656150"/>
              <a:ext cx="155775" cy="155700"/>
            </a:xfrm>
            <a:custGeom>
              <a:avLst/>
              <a:gdLst/>
              <a:ahLst/>
              <a:cxnLst/>
              <a:rect l="l" t="t" r="r" b="b"/>
              <a:pathLst>
                <a:path w="6231" h="6228" extrusionOk="0">
                  <a:moveTo>
                    <a:pt x="1571" y="0"/>
                  </a:moveTo>
                  <a:cubicBezTo>
                    <a:pt x="1043" y="93"/>
                    <a:pt x="518" y="216"/>
                    <a:pt x="0" y="363"/>
                  </a:cubicBezTo>
                  <a:lnTo>
                    <a:pt x="3" y="363"/>
                  </a:lnTo>
                  <a:cubicBezTo>
                    <a:pt x="646" y="1534"/>
                    <a:pt x="1502" y="2668"/>
                    <a:pt x="2531" y="3699"/>
                  </a:cubicBezTo>
                  <a:cubicBezTo>
                    <a:pt x="3559" y="4728"/>
                    <a:pt x="4696" y="5585"/>
                    <a:pt x="5864" y="6228"/>
                  </a:cubicBezTo>
                  <a:cubicBezTo>
                    <a:pt x="6014" y="5710"/>
                    <a:pt x="6137" y="5187"/>
                    <a:pt x="6230" y="4657"/>
                  </a:cubicBezTo>
                  <a:cubicBezTo>
                    <a:pt x="4320" y="3508"/>
                    <a:pt x="2722" y="1907"/>
                    <a:pt x="1571"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0"/>
            <p:cNvSpPr/>
            <p:nvPr/>
          </p:nvSpPr>
          <p:spPr>
            <a:xfrm>
              <a:off x="4803625" y="883825"/>
              <a:ext cx="155700" cy="155750"/>
            </a:xfrm>
            <a:custGeom>
              <a:avLst/>
              <a:gdLst/>
              <a:ahLst/>
              <a:cxnLst/>
              <a:rect l="l" t="t" r="r" b="b"/>
              <a:pathLst>
                <a:path w="6228" h="6230" extrusionOk="0">
                  <a:moveTo>
                    <a:pt x="366" y="0"/>
                  </a:moveTo>
                  <a:cubicBezTo>
                    <a:pt x="216" y="518"/>
                    <a:pt x="96" y="1041"/>
                    <a:pt x="0" y="1571"/>
                  </a:cubicBezTo>
                  <a:cubicBezTo>
                    <a:pt x="1910" y="2722"/>
                    <a:pt x="3508" y="4320"/>
                    <a:pt x="4659" y="6230"/>
                  </a:cubicBezTo>
                  <a:cubicBezTo>
                    <a:pt x="5187" y="6134"/>
                    <a:pt x="5712" y="6011"/>
                    <a:pt x="6228" y="5864"/>
                  </a:cubicBezTo>
                  <a:cubicBezTo>
                    <a:pt x="5585" y="4693"/>
                    <a:pt x="4728" y="3559"/>
                    <a:pt x="3700" y="2531"/>
                  </a:cubicBezTo>
                  <a:cubicBezTo>
                    <a:pt x="2671" y="1502"/>
                    <a:pt x="1534" y="643"/>
                    <a:pt x="366"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0"/>
            <p:cNvSpPr/>
            <p:nvPr/>
          </p:nvSpPr>
          <p:spPr>
            <a:xfrm>
              <a:off x="4889725" y="745000"/>
              <a:ext cx="108150" cy="103050"/>
            </a:xfrm>
            <a:custGeom>
              <a:avLst/>
              <a:gdLst/>
              <a:ahLst/>
              <a:cxnLst/>
              <a:rect l="l" t="t" r="r" b="b"/>
              <a:pathLst>
                <a:path w="4326" h="4122" extrusionOk="0">
                  <a:moveTo>
                    <a:pt x="3374" y="1"/>
                  </a:moveTo>
                  <a:cubicBezTo>
                    <a:pt x="3178" y="1"/>
                    <a:pt x="2982" y="67"/>
                    <a:pt x="2821" y="204"/>
                  </a:cubicBezTo>
                  <a:cubicBezTo>
                    <a:pt x="2376" y="590"/>
                    <a:pt x="1942" y="995"/>
                    <a:pt x="1525" y="1412"/>
                  </a:cubicBezTo>
                  <a:cubicBezTo>
                    <a:pt x="1107" y="1829"/>
                    <a:pt x="702" y="2264"/>
                    <a:pt x="317" y="2708"/>
                  </a:cubicBezTo>
                  <a:cubicBezTo>
                    <a:pt x="0" y="3076"/>
                    <a:pt x="52" y="3631"/>
                    <a:pt x="430" y="3935"/>
                  </a:cubicBezTo>
                  <a:cubicBezTo>
                    <a:pt x="586" y="4060"/>
                    <a:pt x="774" y="4121"/>
                    <a:pt x="961" y="4121"/>
                  </a:cubicBezTo>
                  <a:cubicBezTo>
                    <a:pt x="1200" y="4121"/>
                    <a:pt x="1438" y="4022"/>
                    <a:pt x="1606" y="3827"/>
                  </a:cubicBezTo>
                  <a:cubicBezTo>
                    <a:pt x="1964" y="3413"/>
                    <a:pt x="2342" y="3008"/>
                    <a:pt x="2730" y="2617"/>
                  </a:cubicBezTo>
                  <a:cubicBezTo>
                    <a:pt x="3118" y="2229"/>
                    <a:pt x="3523" y="1851"/>
                    <a:pt x="3940" y="1493"/>
                  </a:cubicBezTo>
                  <a:cubicBezTo>
                    <a:pt x="4291" y="1184"/>
                    <a:pt x="4325" y="649"/>
                    <a:pt x="4018" y="295"/>
                  </a:cubicBezTo>
                  <a:cubicBezTo>
                    <a:pt x="3850" y="101"/>
                    <a:pt x="3612" y="1"/>
                    <a:pt x="3374" y="1"/>
                  </a:cubicBezTo>
                  <a:close/>
                </a:path>
              </a:pathLst>
            </a:custGeom>
            <a:solidFill>
              <a:srgbClr val="B85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0"/>
            <p:cNvSpPr/>
            <p:nvPr/>
          </p:nvSpPr>
          <p:spPr>
            <a:xfrm>
              <a:off x="4948075" y="744825"/>
              <a:ext cx="48325" cy="46700"/>
            </a:xfrm>
            <a:custGeom>
              <a:avLst/>
              <a:gdLst/>
              <a:ahLst/>
              <a:cxnLst/>
              <a:rect l="l" t="t" r="r" b="b"/>
              <a:pathLst>
                <a:path w="1933" h="1868" extrusionOk="0">
                  <a:moveTo>
                    <a:pt x="365" y="1"/>
                  </a:moveTo>
                  <a:cubicBezTo>
                    <a:pt x="281" y="1"/>
                    <a:pt x="196" y="33"/>
                    <a:pt x="131" y="98"/>
                  </a:cubicBezTo>
                  <a:cubicBezTo>
                    <a:pt x="3" y="224"/>
                    <a:pt x="1" y="430"/>
                    <a:pt x="123" y="560"/>
                  </a:cubicBezTo>
                  <a:lnTo>
                    <a:pt x="1333" y="1768"/>
                  </a:lnTo>
                  <a:cubicBezTo>
                    <a:pt x="1398" y="1834"/>
                    <a:pt x="1483" y="1867"/>
                    <a:pt x="1568" y="1867"/>
                  </a:cubicBezTo>
                  <a:cubicBezTo>
                    <a:pt x="1653" y="1867"/>
                    <a:pt x="1738" y="1835"/>
                    <a:pt x="1802" y="1770"/>
                  </a:cubicBezTo>
                  <a:cubicBezTo>
                    <a:pt x="1932" y="1640"/>
                    <a:pt x="1932" y="1429"/>
                    <a:pt x="1800" y="1301"/>
                  </a:cubicBezTo>
                  <a:lnTo>
                    <a:pt x="592" y="91"/>
                  </a:lnTo>
                  <a:cubicBezTo>
                    <a:pt x="528" y="31"/>
                    <a:pt x="447" y="1"/>
                    <a:pt x="365" y="1"/>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0"/>
            <p:cNvSpPr/>
            <p:nvPr/>
          </p:nvSpPr>
          <p:spPr>
            <a:xfrm>
              <a:off x="4928450" y="762875"/>
              <a:ext cx="48075" cy="46475"/>
            </a:xfrm>
            <a:custGeom>
              <a:avLst/>
              <a:gdLst/>
              <a:ahLst/>
              <a:cxnLst/>
              <a:rect l="l" t="t" r="r" b="b"/>
              <a:pathLst>
                <a:path w="1923" h="1859" extrusionOk="0">
                  <a:moveTo>
                    <a:pt x="361" y="0"/>
                  </a:moveTo>
                  <a:cubicBezTo>
                    <a:pt x="277" y="0"/>
                    <a:pt x="193" y="32"/>
                    <a:pt x="128" y="96"/>
                  </a:cubicBezTo>
                  <a:cubicBezTo>
                    <a:pt x="3" y="223"/>
                    <a:pt x="0" y="427"/>
                    <a:pt x="123" y="557"/>
                  </a:cubicBezTo>
                  <a:lnTo>
                    <a:pt x="1328" y="1765"/>
                  </a:lnTo>
                  <a:cubicBezTo>
                    <a:pt x="1393" y="1827"/>
                    <a:pt x="1476" y="1858"/>
                    <a:pt x="1559" y="1858"/>
                  </a:cubicBezTo>
                  <a:cubicBezTo>
                    <a:pt x="1643" y="1858"/>
                    <a:pt x="1728" y="1826"/>
                    <a:pt x="1792" y="1760"/>
                  </a:cubicBezTo>
                  <a:cubicBezTo>
                    <a:pt x="1920" y="1632"/>
                    <a:pt x="1922" y="1426"/>
                    <a:pt x="1794" y="1296"/>
                  </a:cubicBezTo>
                  <a:lnTo>
                    <a:pt x="589" y="91"/>
                  </a:lnTo>
                  <a:cubicBezTo>
                    <a:pt x="525" y="30"/>
                    <a:pt x="443" y="0"/>
                    <a:pt x="361"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0"/>
            <p:cNvSpPr/>
            <p:nvPr/>
          </p:nvSpPr>
          <p:spPr>
            <a:xfrm>
              <a:off x="4909225" y="781350"/>
              <a:ext cx="48625" cy="46950"/>
            </a:xfrm>
            <a:custGeom>
              <a:avLst/>
              <a:gdLst/>
              <a:ahLst/>
              <a:cxnLst/>
              <a:rect l="l" t="t" r="r" b="b"/>
              <a:pathLst>
                <a:path w="1945" h="1878" extrusionOk="0">
                  <a:moveTo>
                    <a:pt x="365" y="1"/>
                  </a:moveTo>
                  <a:cubicBezTo>
                    <a:pt x="280" y="1"/>
                    <a:pt x="196" y="33"/>
                    <a:pt x="131" y="98"/>
                  </a:cubicBezTo>
                  <a:cubicBezTo>
                    <a:pt x="1" y="228"/>
                    <a:pt x="1" y="439"/>
                    <a:pt x="133" y="567"/>
                  </a:cubicBezTo>
                  <a:lnTo>
                    <a:pt x="1344" y="1777"/>
                  </a:lnTo>
                  <a:cubicBezTo>
                    <a:pt x="1408" y="1844"/>
                    <a:pt x="1494" y="1878"/>
                    <a:pt x="1581" y="1878"/>
                  </a:cubicBezTo>
                  <a:cubicBezTo>
                    <a:pt x="1665" y="1878"/>
                    <a:pt x="1749" y="1846"/>
                    <a:pt x="1815" y="1782"/>
                  </a:cubicBezTo>
                  <a:cubicBezTo>
                    <a:pt x="1945" y="1649"/>
                    <a:pt x="1942" y="1438"/>
                    <a:pt x="1810" y="1311"/>
                  </a:cubicBezTo>
                  <a:lnTo>
                    <a:pt x="600" y="100"/>
                  </a:lnTo>
                  <a:cubicBezTo>
                    <a:pt x="536" y="34"/>
                    <a:pt x="450" y="1"/>
                    <a:pt x="365" y="1"/>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p:cNvSpPr/>
            <p:nvPr/>
          </p:nvSpPr>
          <p:spPr>
            <a:xfrm>
              <a:off x="4891550" y="801375"/>
              <a:ext cx="48075" cy="46425"/>
            </a:xfrm>
            <a:custGeom>
              <a:avLst/>
              <a:gdLst/>
              <a:ahLst/>
              <a:cxnLst/>
              <a:rect l="l" t="t" r="r" b="b"/>
              <a:pathLst>
                <a:path w="1923" h="1857" extrusionOk="0">
                  <a:moveTo>
                    <a:pt x="365" y="0"/>
                  </a:moveTo>
                  <a:cubicBezTo>
                    <a:pt x="280" y="0"/>
                    <a:pt x="195" y="33"/>
                    <a:pt x="131" y="97"/>
                  </a:cubicBezTo>
                  <a:cubicBezTo>
                    <a:pt x="3" y="225"/>
                    <a:pt x="1" y="429"/>
                    <a:pt x="124" y="559"/>
                  </a:cubicBezTo>
                  <a:lnTo>
                    <a:pt x="1334" y="1766"/>
                  </a:lnTo>
                  <a:cubicBezTo>
                    <a:pt x="1398" y="1827"/>
                    <a:pt x="1480" y="1857"/>
                    <a:pt x="1561" y="1857"/>
                  </a:cubicBezTo>
                  <a:cubicBezTo>
                    <a:pt x="1645" y="1857"/>
                    <a:pt x="1729" y="1825"/>
                    <a:pt x="1793" y="1761"/>
                  </a:cubicBezTo>
                  <a:cubicBezTo>
                    <a:pt x="1920" y="1634"/>
                    <a:pt x="1923" y="1430"/>
                    <a:pt x="1800" y="1300"/>
                  </a:cubicBezTo>
                  <a:lnTo>
                    <a:pt x="590" y="90"/>
                  </a:lnTo>
                  <a:cubicBezTo>
                    <a:pt x="527" y="30"/>
                    <a:pt x="446" y="0"/>
                    <a:pt x="365"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0"/>
            <p:cNvSpPr/>
            <p:nvPr/>
          </p:nvSpPr>
          <p:spPr>
            <a:xfrm>
              <a:off x="5191025" y="652150"/>
              <a:ext cx="700" cy="5300"/>
            </a:xfrm>
            <a:custGeom>
              <a:avLst/>
              <a:gdLst/>
              <a:ahLst/>
              <a:cxnLst/>
              <a:rect l="l" t="t" r="r" b="b"/>
              <a:pathLst>
                <a:path w="28" h="212" extrusionOk="0">
                  <a:moveTo>
                    <a:pt x="1" y="1"/>
                  </a:moveTo>
                  <a:cubicBezTo>
                    <a:pt x="3" y="8"/>
                    <a:pt x="13" y="82"/>
                    <a:pt x="28" y="212"/>
                  </a:cubicBezTo>
                  <a:cubicBezTo>
                    <a:pt x="15" y="82"/>
                    <a:pt x="3" y="8"/>
                    <a:pt x="3" y="1"/>
                  </a:cubicBezTo>
                  <a:close/>
                </a:path>
              </a:pathLst>
            </a:custGeom>
            <a:solidFill>
              <a:srgbClr val="DCC7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0"/>
            <p:cNvSpPr/>
            <p:nvPr/>
          </p:nvSpPr>
          <p:spPr>
            <a:xfrm>
              <a:off x="5042525" y="657425"/>
              <a:ext cx="154475" cy="318900"/>
            </a:xfrm>
            <a:custGeom>
              <a:avLst/>
              <a:gdLst/>
              <a:ahLst/>
              <a:cxnLst/>
              <a:rect l="l" t="t" r="r" b="b"/>
              <a:pathLst>
                <a:path w="6179" h="12756" extrusionOk="0">
                  <a:moveTo>
                    <a:pt x="5968" y="1"/>
                  </a:moveTo>
                  <a:cubicBezTo>
                    <a:pt x="5953" y="3"/>
                    <a:pt x="5921" y="11"/>
                    <a:pt x="5869" y="20"/>
                  </a:cubicBezTo>
                  <a:cubicBezTo>
                    <a:pt x="5847" y="646"/>
                    <a:pt x="5732" y="2203"/>
                    <a:pt x="5138" y="4129"/>
                  </a:cubicBezTo>
                  <a:cubicBezTo>
                    <a:pt x="5133" y="4149"/>
                    <a:pt x="5128" y="4169"/>
                    <a:pt x="5121" y="4186"/>
                  </a:cubicBezTo>
                  <a:cubicBezTo>
                    <a:pt x="5339" y="4336"/>
                    <a:pt x="5560" y="4476"/>
                    <a:pt x="5781" y="4608"/>
                  </a:cubicBezTo>
                  <a:cubicBezTo>
                    <a:pt x="6179" y="2409"/>
                    <a:pt x="6036" y="602"/>
                    <a:pt x="5968" y="1"/>
                  </a:cubicBezTo>
                  <a:close/>
                  <a:moveTo>
                    <a:pt x="4583" y="5678"/>
                  </a:moveTo>
                  <a:cubicBezTo>
                    <a:pt x="3864" y="7414"/>
                    <a:pt x="2750" y="9309"/>
                    <a:pt x="1017" y="11044"/>
                  </a:cubicBezTo>
                  <a:cubicBezTo>
                    <a:pt x="683" y="11376"/>
                    <a:pt x="344" y="11687"/>
                    <a:pt x="0" y="11975"/>
                  </a:cubicBezTo>
                  <a:cubicBezTo>
                    <a:pt x="280" y="12196"/>
                    <a:pt x="565" y="12414"/>
                    <a:pt x="852" y="12625"/>
                  </a:cubicBezTo>
                  <a:cubicBezTo>
                    <a:pt x="911" y="12669"/>
                    <a:pt x="970" y="12713"/>
                    <a:pt x="1029" y="12755"/>
                  </a:cubicBezTo>
                  <a:cubicBezTo>
                    <a:pt x="1446" y="12436"/>
                    <a:pt x="1841" y="12090"/>
                    <a:pt x="2214" y="11717"/>
                  </a:cubicBezTo>
                  <a:cubicBezTo>
                    <a:pt x="3564" y="10367"/>
                    <a:pt x="4448" y="8840"/>
                    <a:pt x="5027" y="7340"/>
                  </a:cubicBezTo>
                  <a:cubicBezTo>
                    <a:pt x="5177" y="6950"/>
                    <a:pt x="5305" y="6560"/>
                    <a:pt x="5418" y="6177"/>
                  </a:cubicBezTo>
                  <a:cubicBezTo>
                    <a:pt x="5135" y="6022"/>
                    <a:pt x="4858" y="5855"/>
                    <a:pt x="4583" y="5678"/>
                  </a:cubicBez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0"/>
            <p:cNvSpPr/>
            <p:nvPr/>
          </p:nvSpPr>
          <p:spPr>
            <a:xfrm>
              <a:off x="5189300" y="651900"/>
              <a:ext cx="2425" cy="6050"/>
            </a:xfrm>
            <a:custGeom>
              <a:avLst/>
              <a:gdLst/>
              <a:ahLst/>
              <a:cxnLst/>
              <a:rect l="l" t="t" r="r" b="b"/>
              <a:pathLst>
                <a:path w="97" h="242" extrusionOk="0">
                  <a:moveTo>
                    <a:pt x="6" y="1"/>
                  </a:moveTo>
                  <a:cubicBezTo>
                    <a:pt x="6" y="50"/>
                    <a:pt x="6" y="131"/>
                    <a:pt x="1" y="241"/>
                  </a:cubicBezTo>
                  <a:cubicBezTo>
                    <a:pt x="50" y="232"/>
                    <a:pt x="82" y="224"/>
                    <a:pt x="97" y="222"/>
                  </a:cubicBezTo>
                  <a:cubicBezTo>
                    <a:pt x="84" y="92"/>
                    <a:pt x="72" y="20"/>
                    <a:pt x="72" y="11"/>
                  </a:cubicBezTo>
                  <a:cubicBezTo>
                    <a:pt x="72" y="11"/>
                    <a:pt x="48" y="6"/>
                    <a:pt x="6" y="1"/>
                  </a:cubicBezTo>
                  <a:close/>
                </a:path>
              </a:pathLst>
            </a:custGeom>
            <a:solidFill>
              <a:srgbClr val="B960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0"/>
            <p:cNvSpPr/>
            <p:nvPr/>
          </p:nvSpPr>
          <p:spPr>
            <a:xfrm>
              <a:off x="5157100" y="762050"/>
              <a:ext cx="29975" cy="49800"/>
            </a:xfrm>
            <a:custGeom>
              <a:avLst/>
              <a:gdLst/>
              <a:ahLst/>
              <a:cxnLst/>
              <a:rect l="l" t="t" r="r" b="b"/>
              <a:pathLst>
                <a:path w="1199" h="1992" extrusionOk="0">
                  <a:moveTo>
                    <a:pt x="538" y="1"/>
                  </a:moveTo>
                  <a:cubicBezTo>
                    <a:pt x="398" y="455"/>
                    <a:pt x="228" y="931"/>
                    <a:pt x="30" y="1420"/>
                  </a:cubicBezTo>
                  <a:cubicBezTo>
                    <a:pt x="20" y="1444"/>
                    <a:pt x="10" y="1469"/>
                    <a:pt x="0" y="1493"/>
                  </a:cubicBezTo>
                  <a:cubicBezTo>
                    <a:pt x="275" y="1670"/>
                    <a:pt x="552" y="1837"/>
                    <a:pt x="832" y="1992"/>
                  </a:cubicBezTo>
                  <a:cubicBezTo>
                    <a:pt x="982" y="1474"/>
                    <a:pt x="1105" y="951"/>
                    <a:pt x="1198" y="421"/>
                  </a:cubicBezTo>
                  <a:cubicBezTo>
                    <a:pt x="977" y="291"/>
                    <a:pt x="756" y="151"/>
                    <a:pt x="538" y="1"/>
                  </a:cubicBezTo>
                  <a:close/>
                </a:path>
              </a:pathLst>
            </a:custGeom>
            <a:solidFill>
              <a:srgbClr val="DCC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0"/>
            <p:cNvSpPr/>
            <p:nvPr/>
          </p:nvSpPr>
          <p:spPr>
            <a:xfrm>
              <a:off x="4906725" y="1039625"/>
              <a:ext cx="12975" cy="2100"/>
            </a:xfrm>
            <a:custGeom>
              <a:avLst/>
              <a:gdLst/>
              <a:ahLst/>
              <a:cxnLst/>
              <a:rect l="l" t="t" r="r" b="b"/>
              <a:pathLst>
                <a:path w="519" h="84" extrusionOk="0">
                  <a:moveTo>
                    <a:pt x="0" y="84"/>
                  </a:moveTo>
                  <a:lnTo>
                    <a:pt x="0" y="84"/>
                  </a:lnTo>
                  <a:close/>
                  <a:moveTo>
                    <a:pt x="22" y="81"/>
                  </a:moveTo>
                  <a:lnTo>
                    <a:pt x="17" y="81"/>
                  </a:lnTo>
                  <a:lnTo>
                    <a:pt x="22" y="81"/>
                  </a:lnTo>
                  <a:close/>
                  <a:moveTo>
                    <a:pt x="42" y="79"/>
                  </a:moveTo>
                  <a:lnTo>
                    <a:pt x="35" y="79"/>
                  </a:lnTo>
                  <a:lnTo>
                    <a:pt x="42" y="79"/>
                  </a:lnTo>
                  <a:close/>
                  <a:moveTo>
                    <a:pt x="69" y="74"/>
                  </a:moveTo>
                  <a:lnTo>
                    <a:pt x="47" y="79"/>
                  </a:lnTo>
                  <a:lnTo>
                    <a:pt x="69" y="74"/>
                  </a:lnTo>
                  <a:close/>
                  <a:moveTo>
                    <a:pt x="481" y="8"/>
                  </a:moveTo>
                  <a:cubicBezTo>
                    <a:pt x="341" y="32"/>
                    <a:pt x="204" y="54"/>
                    <a:pt x="69" y="74"/>
                  </a:cubicBezTo>
                  <a:cubicBezTo>
                    <a:pt x="204" y="54"/>
                    <a:pt x="341" y="32"/>
                    <a:pt x="481" y="8"/>
                  </a:cubicBezTo>
                  <a:close/>
                  <a:moveTo>
                    <a:pt x="501" y="3"/>
                  </a:moveTo>
                  <a:lnTo>
                    <a:pt x="484" y="8"/>
                  </a:lnTo>
                  <a:lnTo>
                    <a:pt x="501" y="3"/>
                  </a:lnTo>
                  <a:close/>
                  <a:moveTo>
                    <a:pt x="518" y="0"/>
                  </a:moveTo>
                  <a:lnTo>
                    <a:pt x="511" y="0"/>
                  </a:lnTo>
                  <a:lnTo>
                    <a:pt x="518" y="0"/>
                  </a:lnTo>
                  <a:close/>
                </a:path>
              </a:pathLst>
            </a:custGeom>
            <a:solidFill>
              <a:srgbClr val="DCC7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0"/>
            <p:cNvSpPr/>
            <p:nvPr/>
          </p:nvSpPr>
          <p:spPr>
            <a:xfrm>
              <a:off x="4889475" y="963100"/>
              <a:ext cx="170875" cy="80175"/>
            </a:xfrm>
            <a:custGeom>
              <a:avLst/>
              <a:gdLst/>
              <a:ahLst/>
              <a:cxnLst/>
              <a:rect l="l" t="t" r="r" b="b"/>
              <a:pathLst>
                <a:path w="6835" h="3207" extrusionOk="0">
                  <a:moveTo>
                    <a:pt x="5820" y="0"/>
                  </a:moveTo>
                  <a:cubicBezTo>
                    <a:pt x="4782" y="833"/>
                    <a:pt x="3648" y="1535"/>
                    <a:pt x="2440" y="2094"/>
                  </a:cubicBezTo>
                  <a:cubicBezTo>
                    <a:pt x="2566" y="2296"/>
                    <a:pt x="2683" y="2497"/>
                    <a:pt x="2794" y="2698"/>
                  </a:cubicBezTo>
                  <a:cubicBezTo>
                    <a:pt x="3938" y="2372"/>
                    <a:pt x="5032" y="1898"/>
                    <a:pt x="6051" y="1284"/>
                  </a:cubicBezTo>
                  <a:cubicBezTo>
                    <a:pt x="6314" y="1125"/>
                    <a:pt x="6576" y="953"/>
                    <a:pt x="6834" y="769"/>
                  </a:cubicBezTo>
                  <a:lnTo>
                    <a:pt x="6751" y="707"/>
                  </a:lnTo>
                  <a:cubicBezTo>
                    <a:pt x="6437" y="477"/>
                    <a:pt x="6127" y="241"/>
                    <a:pt x="5820" y="0"/>
                  </a:cubicBezTo>
                  <a:close/>
                  <a:moveTo>
                    <a:pt x="995" y="2683"/>
                  </a:moveTo>
                  <a:lnTo>
                    <a:pt x="995" y="2683"/>
                  </a:lnTo>
                  <a:cubicBezTo>
                    <a:pt x="732" y="2777"/>
                    <a:pt x="474" y="2863"/>
                    <a:pt x="226" y="2939"/>
                  </a:cubicBezTo>
                  <a:cubicBezTo>
                    <a:pt x="148" y="2963"/>
                    <a:pt x="74" y="2985"/>
                    <a:pt x="0" y="3007"/>
                  </a:cubicBezTo>
                  <a:cubicBezTo>
                    <a:pt x="76" y="3074"/>
                    <a:pt x="155" y="3140"/>
                    <a:pt x="231" y="3206"/>
                  </a:cubicBezTo>
                  <a:cubicBezTo>
                    <a:pt x="381" y="3189"/>
                    <a:pt x="533" y="3169"/>
                    <a:pt x="688" y="3145"/>
                  </a:cubicBezTo>
                  <a:lnTo>
                    <a:pt x="690" y="3145"/>
                  </a:lnTo>
                  <a:lnTo>
                    <a:pt x="707" y="3142"/>
                  </a:lnTo>
                  <a:lnTo>
                    <a:pt x="737" y="3142"/>
                  </a:lnTo>
                  <a:lnTo>
                    <a:pt x="759" y="3140"/>
                  </a:lnTo>
                  <a:cubicBezTo>
                    <a:pt x="894" y="3118"/>
                    <a:pt x="1031" y="3096"/>
                    <a:pt x="1171" y="3071"/>
                  </a:cubicBezTo>
                  <a:lnTo>
                    <a:pt x="1174" y="3071"/>
                  </a:lnTo>
                  <a:lnTo>
                    <a:pt x="1191" y="3069"/>
                  </a:lnTo>
                  <a:lnTo>
                    <a:pt x="1201" y="3066"/>
                  </a:lnTo>
                  <a:lnTo>
                    <a:pt x="1208" y="3066"/>
                  </a:lnTo>
                  <a:lnTo>
                    <a:pt x="1225" y="3064"/>
                  </a:lnTo>
                  <a:cubicBezTo>
                    <a:pt x="1152" y="2939"/>
                    <a:pt x="1073" y="2813"/>
                    <a:pt x="992" y="2688"/>
                  </a:cubicBezTo>
                  <a:lnTo>
                    <a:pt x="995" y="2683"/>
                  </a:ln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0"/>
            <p:cNvSpPr/>
            <p:nvPr/>
          </p:nvSpPr>
          <p:spPr>
            <a:xfrm>
              <a:off x="4914275" y="1015325"/>
              <a:ext cx="45050" cy="24250"/>
            </a:xfrm>
            <a:custGeom>
              <a:avLst/>
              <a:gdLst/>
              <a:ahLst/>
              <a:cxnLst/>
              <a:rect l="l" t="t" r="r" b="b"/>
              <a:pathLst>
                <a:path w="1802" h="970" extrusionOk="0">
                  <a:moveTo>
                    <a:pt x="1451" y="0"/>
                  </a:moveTo>
                  <a:cubicBezTo>
                    <a:pt x="1200" y="116"/>
                    <a:pt x="952" y="224"/>
                    <a:pt x="707" y="324"/>
                  </a:cubicBezTo>
                  <a:cubicBezTo>
                    <a:pt x="469" y="423"/>
                    <a:pt x="233" y="511"/>
                    <a:pt x="0" y="594"/>
                  </a:cubicBezTo>
                  <a:cubicBezTo>
                    <a:pt x="81" y="720"/>
                    <a:pt x="160" y="845"/>
                    <a:pt x="233" y="970"/>
                  </a:cubicBezTo>
                  <a:cubicBezTo>
                    <a:pt x="763" y="874"/>
                    <a:pt x="1286" y="751"/>
                    <a:pt x="1802" y="604"/>
                  </a:cubicBezTo>
                  <a:cubicBezTo>
                    <a:pt x="1691" y="400"/>
                    <a:pt x="1574" y="199"/>
                    <a:pt x="1451" y="0"/>
                  </a:cubicBezTo>
                  <a:close/>
                </a:path>
              </a:pathLst>
            </a:custGeom>
            <a:solidFill>
              <a:srgbClr val="DCC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0"/>
            <p:cNvSpPr/>
            <p:nvPr/>
          </p:nvSpPr>
          <p:spPr>
            <a:xfrm>
              <a:off x="4859150" y="1041350"/>
              <a:ext cx="22850" cy="4625"/>
            </a:xfrm>
            <a:custGeom>
              <a:avLst/>
              <a:gdLst/>
              <a:ahLst/>
              <a:cxnLst/>
              <a:rect l="l" t="t" r="r" b="b"/>
              <a:pathLst>
                <a:path w="914" h="185" extrusionOk="0">
                  <a:moveTo>
                    <a:pt x="764" y="0"/>
                  </a:moveTo>
                  <a:cubicBezTo>
                    <a:pt x="502" y="71"/>
                    <a:pt x="246" y="133"/>
                    <a:pt x="1" y="184"/>
                  </a:cubicBezTo>
                  <a:cubicBezTo>
                    <a:pt x="288" y="177"/>
                    <a:pt x="592" y="157"/>
                    <a:pt x="914" y="130"/>
                  </a:cubicBezTo>
                  <a:lnTo>
                    <a:pt x="764" y="0"/>
                  </a:ln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0"/>
            <p:cNvSpPr/>
            <p:nvPr/>
          </p:nvSpPr>
          <p:spPr>
            <a:xfrm>
              <a:off x="4788650" y="586725"/>
              <a:ext cx="214000" cy="196525"/>
            </a:xfrm>
            <a:custGeom>
              <a:avLst/>
              <a:gdLst/>
              <a:ahLst/>
              <a:cxnLst/>
              <a:rect l="l" t="t" r="r" b="b"/>
              <a:pathLst>
                <a:path w="8560" h="7861" extrusionOk="0">
                  <a:moveTo>
                    <a:pt x="1698" y="1"/>
                  </a:moveTo>
                  <a:cubicBezTo>
                    <a:pt x="1455" y="1"/>
                    <a:pt x="1214" y="43"/>
                    <a:pt x="985" y="124"/>
                  </a:cubicBezTo>
                  <a:cubicBezTo>
                    <a:pt x="739" y="212"/>
                    <a:pt x="526" y="372"/>
                    <a:pt x="369" y="580"/>
                  </a:cubicBezTo>
                  <a:cubicBezTo>
                    <a:pt x="214" y="789"/>
                    <a:pt x="128" y="1039"/>
                    <a:pt x="84" y="1285"/>
                  </a:cubicBezTo>
                  <a:cubicBezTo>
                    <a:pt x="0" y="1783"/>
                    <a:pt x="76" y="2272"/>
                    <a:pt x="187" y="2738"/>
                  </a:cubicBezTo>
                  <a:cubicBezTo>
                    <a:pt x="423" y="3673"/>
                    <a:pt x="828" y="4542"/>
                    <a:pt x="1284" y="5372"/>
                  </a:cubicBezTo>
                  <a:cubicBezTo>
                    <a:pt x="1746" y="6199"/>
                    <a:pt x="2259" y="6997"/>
                    <a:pt x="2813" y="7763"/>
                  </a:cubicBezTo>
                  <a:cubicBezTo>
                    <a:pt x="2838" y="7795"/>
                    <a:pt x="2863" y="7829"/>
                    <a:pt x="2885" y="7861"/>
                  </a:cubicBezTo>
                  <a:cubicBezTo>
                    <a:pt x="2961" y="7755"/>
                    <a:pt x="3039" y="7650"/>
                    <a:pt x="3118" y="7544"/>
                  </a:cubicBezTo>
                  <a:lnTo>
                    <a:pt x="3118" y="7542"/>
                  </a:lnTo>
                  <a:cubicBezTo>
                    <a:pt x="2561" y="6793"/>
                    <a:pt x="2050" y="6012"/>
                    <a:pt x="1586" y="5202"/>
                  </a:cubicBezTo>
                  <a:cubicBezTo>
                    <a:pt x="1355" y="4800"/>
                    <a:pt x="1147" y="4385"/>
                    <a:pt x="955" y="3963"/>
                  </a:cubicBezTo>
                  <a:cubicBezTo>
                    <a:pt x="764" y="3543"/>
                    <a:pt x="604" y="3109"/>
                    <a:pt x="482" y="2664"/>
                  </a:cubicBezTo>
                  <a:cubicBezTo>
                    <a:pt x="366" y="2225"/>
                    <a:pt x="293" y="1766"/>
                    <a:pt x="356" y="1329"/>
                  </a:cubicBezTo>
                  <a:cubicBezTo>
                    <a:pt x="391" y="1115"/>
                    <a:pt x="459" y="907"/>
                    <a:pt x="580" y="737"/>
                  </a:cubicBezTo>
                  <a:cubicBezTo>
                    <a:pt x="705" y="566"/>
                    <a:pt x="877" y="433"/>
                    <a:pt x="1076" y="359"/>
                  </a:cubicBezTo>
                  <a:cubicBezTo>
                    <a:pt x="1289" y="280"/>
                    <a:pt x="1517" y="239"/>
                    <a:pt x="1744" y="239"/>
                  </a:cubicBezTo>
                  <a:cubicBezTo>
                    <a:pt x="1757" y="239"/>
                    <a:pt x="1770" y="239"/>
                    <a:pt x="1782" y="239"/>
                  </a:cubicBezTo>
                  <a:cubicBezTo>
                    <a:pt x="1989" y="242"/>
                    <a:pt x="2197" y="261"/>
                    <a:pt x="2401" y="296"/>
                  </a:cubicBezTo>
                  <a:cubicBezTo>
                    <a:pt x="2858" y="384"/>
                    <a:pt x="3302" y="514"/>
                    <a:pt x="3731" y="686"/>
                  </a:cubicBezTo>
                  <a:cubicBezTo>
                    <a:pt x="4603" y="1020"/>
                    <a:pt x="5433" y="1461"/>
                    <a:pt x="6233" y="1948"/>
                  </a:cubicBezTo>
                  <a:cubicBezTo>
                    <a:pt x="7035" y="2431"/>
                    <a:pt x="7806" y="2969"/>
                    <a:pt x="8560" y="3528"/>
                  </a:cubicBezTo>
                  <a:cubicBezTo>
                    <a:pt x="7833" y="2932"/>
                    <a:pt x="7075" y="2375"/>
                    <a:pt x="6289" y="1859"/>
                  </a:cubicBezTo>
                  <a:cubicBezTo>
                    <a:pt x="5499" y="1346"/>
                    <a:pt x="4679" y="875"/>
                    <a:pt x="3803" y="507"/>
                  </a:cubicBezTo>
                  <a:cubicBezTo>
                    <a:pt x="3366" y="318"/>
                    <a:pt x="2909" y="175"/>
                    <a:pt x="2443" y="77"/>
                  </a:cubicBezTo>
                  <a:cubicBezTo>
                    <a:pt x="2205" y="30"/>
                    <a:pt x="1964" y="6"/>
                    <a:pt x="1724" y="3"/>
                  </a:cubicBezTo>
                  <a:lnTo>
                    <a:pt x="1724" y="1"/>
                  </a:lnTo>
                  <a:lnTo>
                    <a:pt x="1719" y="1"/>
                  </a:lnTo>
                  <a:cubicBezTo>
                    <a:pt x="1712" y="1"/>
                    <a:pt x="1705" y="1"/>
                    <a:pt x="16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0"/>
            <p:cNvSpPr/>
            <p:nvPr/>
          </p:nvSpPr>
          <p:spPr>
            <a:xfrm>
              <a:off x="4860825" y="775250"/>
              <a:ext cx="181725" cy="187750"/>
            </a:xfrm>
            <a:custGeom>
              <a:avLst/>
              <a:gdLst/>
              <a:ahLst/>
              <a:cxnLst/>
              <a:rect l="l" t="t" r="r" b="b"/>
              <a:pathLst>
                <a:path w="7269" h="7510" extrusionOk="0">
                  <a:moveTo>
                    <a:pt x="233" y="1"/>
                  </a:moveTo>
                  <a:cubicBezTo>
                    <a:pt x="152" y="106"/>
                    <a:pt x="76" y="212"/>
                    <a:pt x="0" y="317"/>
                  </a:cubicBezTo>
                  <a:cubicBezTo>
                    <a:pt x="405" y="875"/>
                    <a:pt x="830" y="1419"/>
                    <a:pt x="1274" y="1950"/>
                  </a:cubicBezTo>
                  <a:cubicBezTo>
                    <a:pt x="1286" y="1837"/>
                    <a:pt x="1323" y="1729"/>
                    <a:pt x="1382" y="1631"/>
                  </a:cubicBezTo>
                  <a:lnTo>
                    <a:pt x="1355" y="1604"/>
                  </a:lnTo>
                  <a:cubicBezTo>
                    <a:pt x="1281" y="1530"/>
                    <a:pt x="1247" y="1429"/>
                    <a:pt x="1259" y="1326"/>
                  </a:cubicBezTo>
                  <a:cubicBezTo>
                    <a:pt x="906" y="894"/>
                    <a:pt x="565" y="452"/>
                    <a:pt x="233" y="1"/>
                  </a:cubicBezTo>
                  <a:close/>
                  <a:moveTo>
                    <a:pt x="2531" y="2806"/>
                  </a:moveTo>
                  <a:cubicBezTo>
                    <a:pt x="2403" y="2875"/>
                    <a:pt x="2261" y="2912"/>
                    <a:pt x="2118" y="2912"/>
                  </a:cubicBezTo>
                  <a:lnTo>
                    <a:pt x="2101" y="2912"/>
                  </a:lnTo>
                  <a:cubicBezTo>
                    <a:pt x="2592" y="3459"/>
                    <a:pt x="3095" y="3994"/>
                    <a:pt x="3613" y="4517"/>
                  </a:cubicBezTo>
                  <a:cubicBezTo>
                    <a:pt x="4671" y="5578"/>
                    <a:pt x="5793" y="6579"/>
                    <a:pt x="6969" y="7510"/>
                  </a:cubicBezTo>
                  <a:cubicBezTo>
                    <a:pt x="7069" y="7429"/>
                    <a:pt x="7170" y="7348"/>
                    <a:pt x="7268" y="7262"/>
                  </a:cubicBezTo>
                  <a:cubicBezTo>
                    <a:pt x="6085" y="6321"/>
                    <a:pt x="4958" y="5310"/>
                    <a:pt x="3893" y="4237"/>
                  </a:cubicBezTo>
                  <a:cubicBezTo>
                    <a:pt x="3429" y="3771"/>
                    <a:pt x="2975" y="3292"/>
                    <a:pt x="2531" y="2806"/>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0"/>
            <p:cNvSpPr/>
            <p:nvPr/>
          </p:nvSpPr>
          <p:spPr>
            <a:xfrm>
              <a:off x="4892600" y="816000"/>
              <a:ext cx="31500" cy="32050"/>
            </a:xfrm>
            <a:custGeom>
              <a:avLst/>
              <a:gdLst/>
              <a:ahLst/>
              <a:cxnLst/>
              <a:rect l="l" t="t" r="r" b="b"/>
              <a:pathLst>
                <a:path w="1260" h="1282" extrusionOk="0">
                  <a:moveTo>
                    <a:pt x="109" y="1"/>
                  </a:moveTo>
                  <a:cubicBezTo>
                    <a:pt x="52" y="99"/>
                    <a:pt x="15" y="207"/>
                    <a:pt x="1" y="320"/>
                  </a:cubicBezTo>
                  <a:cubicBezTo>
                    <a:pt x="273" y="646"/>
                    <a:pt x="548" y="965"/>
                    <a:pt x="830" y="1282"/>
                  </a:cubicBezTo>
                  <a:lnTo>
                    <a:pt x="847" y="1282"/>
                  </a:lnTo>
                  <a:cubicBezTo>
                    <a:pt x="990" y="1282"/>
                    <a:pt x="1132" y="1245"/>
                    <a:pt x="1260" y="1176"/>
                  </a:cubicBezTo>
                  <a:cubicBezTo>
                    <a:pt x="1184" y="1093"/>
                    <a:pt x="1110" y="1009"/>
                    <a:pt x="1036" y="926"/>
                  </a:cubicBezTo>
                  <a:lnTo>
                    <a:pt x="109" y="1"/>
                  </a:lnTo>
                  <a:close/>
                </a:path>
              </a:pathLst>
            </a:custGeom>
            <a:solidFill>
              <a:srgbClr val="CD8D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p:nvPr/>
          </p:nvSpPr>
          <p:spPr>
            <a:xfrm>
              <a:off x="4891925" y="808450"/>
              <a:ext cx="26600" cy="30775"/>
            </a:xfrm>
            <a:custGeom>
              <a:avLst/>
              <a:gdLst/>
              <a:ahLst/>
              <a:cxnLst/>
              <a:rect l="l" t="t" r="r" b="b"/>
              <a:pathLst>
                <a:path w="1064" h="1231" extrusionOk="0">
                  <a:moveTo>
                    <a:pt x="15" y="1"/>
                  </a:moveTo>
                  <a:cubicBezTo>
                    <a:pt x="1" y="101"/>
                    <a:pt x="35" y="204"/>
                    <a:pt x="109" y="276"/>
                  </a:cubicBezTo>
                  <a:lnTo>
                    <a:pt x="136" y="305"/>
                  </a:lnTo>
                  <a:lnTo>
                    <a:pt x="1063" y="1230"/>
                  </a:lnTo>
                  <a:cubicBezTo>
                    <a:pt x="705" y="828"/>
                    <a:pt x="354" y="418"/>
                    <a:pt x="15" y="3"/>
                  </a:cubicBezTo>
                  <a:lnTo>
                    <a:pt x="15" y="1"/>
                  </a:lnTo>
                  <a:close/>
                </a:path>
              </a:pathLst>
            </a:custGeom>
            <a:solidFill>
              <a:srgbClr val="FF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0"/>
            <p:cNvSpPr/>
            <p:nvPr/>
          </p:nvSpPr>
          <p:spPr>
            <a:xfrm>
              <a:off x="5060375" y="840925"/>
              <a:ext cx="194325" cy="210575"/>
            </a:xfrm>
            <a:custGeom>
              <a:avLst/>
              <a:gdLst/>
              <a:ahLst/>
              <a:cxnLst/>
              <a:rect l="l" t="t" r="r" b="b"/>
              <a:pathLst>
                <a:path w="7773" h="8423" extrusionOk="0">
                  <a:moveTo>
                    <a:pt x="315" y="5415"/>
                  </a:moveTo>
                  <a:cubicBezTo>
                    <a:pt x="209" y="5496"/>
                    <a:pt x="106" y="5572"/>
                    <a:pt x="1" y="5648"/>
                  </a:cubicBezTo>
                  <a:cubicBezTo>
                    <a:pt x="104" y="5724"/>
                    <a:pt x="209" y="5801"/>
                    <a:pt x="317" y="5874"/>
                  </a:cubicBezTo>
                  <a:lnTo>
                    <a:pt x="585" y="5612"/>
                  </a:lnTo>
                  <a:cubicBezTo>
                    <a:pt x="494" y="5545"/>
                    <a:pt x="403" y="5481"/>
                    <a:pt x="315" y="5415"/>
                  </a:cubicBezTo>
                  <a:close/>
                  <a:moveTo>
                    <a:pt x="634" y="5646"/>
                  </a:moveTo>
                  <a:lnTo>
                    <a:pt x="369" y="5913"/>
                  </a:lnTo>
                  <a:cubicBezTo>
                    <a:pt x="992" y="6348"/>
                    <a:pt x="1633" y="6755"/>
                    <a:pt x="2298" y="7131"/>
                  </a:cubicBezTo>
                  <a:cubicBezTo>
                    <a:pt x="2657" y="7327"/>
                    <a:pt x="3020" y="7519"/>
                    <a:pt x="3393" y="7691"/>
                  </a:cubicBezTo>
                  <a:lnTo>
                    <a:pt x="3648" y="7440"/>
                  </a:lnTo>
                  <a:cubicBezTo>
                    <a:pt x="3248" y="7254"/>
                    <a:pt x="2855" y="7048"/>
                    <a:pt x="2470" y="6827"/>
                  </a:cubicBezTo>
                  <a:cubicBezTo>
                    <a:pt x="1839" y="6463"/>
                    <a:pt x="1228" y="6068"/>
                    <a:pt x="634" y="5646"/>
                  </a:cubicBezTo>
                  <a:close/>
                  <a:moveTo>
                    <a:pt x="4311" y="0"/>
                  </a:moveTo>
                  <a:lnTo>
                    <a:pt x="4311" y="0"/>
                  </a:lnTo>
                  <a:cubicBezTo>
                    <a:pt x="4868" y="756"/>
                    <a:pt x="5398" y="1532"/>
                    <a:pt x="5884" y="2335"/>
                  </a:cubicBezTo>
                  <a:cubicBezTo>
                    <a:pt x="6368" y="3137"/>
                    <a:pt x="6800" y="3972"/>
                    <a:pt x="7127" y="4843"/>
                  </a:cubicBezTo>
                  <a:cubicBezTo>
                    <a:pt x="7289" y="5278"/>
                    <a:pt x="7424" y="5724"/>
                    <a:pt x="7492" y="6179"/>
                  </a:cubicBezTo>
                  <a:cubicBezTo>
                    <a:pt x="7559" y="6625"/>
                    <a:pt x="7563" y="7104"/>
                    <a:pt x="7372" y="7489"/>
                  </a:cubicBezTo>
                  <a:cubicBezTo>
                    <a:pt x="7188" y="7880"/>
                    <a:pt x="6773" y="8093"/>
                    <a:pt x="6336" y="8128"/>
                  </a:cubicBezTo>
                  <a:cubicBezTo>
                    <a:pt x="6262" y="8133"/>
                    <a:pt x="6186" y="8137"/>
                    <a:pt x="6113" y="8137"/>
                  </a:cubicBezTo>
                  <a:cubicBezTo>
                    <a:pt x="5742" y="8137"/>
                    <a:pt x="5364" y="8061"/>
                    <a:pt x="4998" y="7958"/>
                  </a:cubicBezTo>
                  <a:cubicBezTo>
                    <a:pt x="4556" y="7831"/>
                    <a:pt x="4124" y="7666"/>
                    <a:pt x="3705" y="7467"/>
                  </a:cubicBezTo>
                  <a:lnTo>
                    <a:pt x="3457" y="7723"/>
                  </a:lnTo>
                  <a:cubicBezTo>
                    <a:pt x="3928" y="7939"/>
                    <a:pt x="4417" y="8118"/>
                    <a:pt x="4917" y="8255"/>
                  </a:cubicBezTo>
                  <a:cubicBezTo>
                    <a:pt x="5286" y="8349"/>
                    <a:pt x="5666" y="8422"/>
                    <a:pt x="6054" y="8422"/>
                  </a:cubicBezTo>
                  <a:cubicBezTo>
                    <a:pt x="6157" y="8422"/>
                    <a:pt x="6260" y="8415"/>
                    <a:pt x="6363" y="8405"/>
                  </a:cubicBezTo>
                  <a:cubicBezTo>
                    <a:pt x="6618" y="8380"/>
                    <a:pt x="6864" y="8302"/>
                    <a:pt x="7085" y="8169"/>
                  </a:cubicBezTo>
                  <a:cubicBezTo>
                    <a:pt x="7306" y="8034"/>
                    <a:pt x="7485" y="7835"/>
                    <a:pt x="7595" y="7600"/>
                  </a:cubicBezTo>
                  <a:cubicBezTo>
                    <a:pt x="7701" y="7369"/>
                    <a:pt x="7757" y="7121"/>
                    <a:pt x="7765" y="6871"/>
                  </a:cubicBezTo>
                  <a:cubicBezTo>
                    <a:pt x="7772" y="6628"/>
                    <a:pt x="7755" y="6385"/>
                    <a:pt x="7711" y="6144"/>
                  </a:cubicBezTo>
                  <a:cubicBezTo>
                    <a:pt x="7630" y="5670"/>
                    <a:pt x="7482" y="5214"/>
                    <a:pt x="7306" y="4775"/>
                  </a:cubicBezTo>
                  <a:cubicBezTo>
                    <a:pt x="6947" y="3896"/>
                    <a:pt x="6481" y="3071"/>
                    <a:pt x="5973" y="2281"/>
                  </a:cubicBezTo>
                  <a:cubicBezTo>
                    <a:pt x="5460" y="1490"/>
                    <a:pt x="4907" y="729"/>
                    <a:pt x="43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0"/>
            <p:cNvSpPr/>
            <p:nvPr/>
          </p:nvSpPr>
          <p:spPr>
            <a:xfrm>
              <a:off x="5035025" y="956775"/>
              <a:ext cx="33225" cy="25425"/>
            </a:xfrm>
            <a:custGeom>
              <a:avLst/>
              <a:gdLst/>
              <a:ahLst/>
              <a:cxnLst/>
              <a:rect l="l" t="t" r="r" b="b"/>
              <a:pathLst>
                <a:path w="1329" h="1017" extrusionOk="0">
                  <a:moveTo>
                    <a:pt x="300" y="1"/>
                  </a:moveTo>
                  <a:cubicBezTo>
                    <a:pt x="202" y="87"/>
                    <a:pt x="101" y="168"/>
                    <a:pt x="1" y="249"/>
                  </a:cubicBezTo>
                  <a:cubicBezTo>
                    <a:pt x="305" y="489"/>
                    <a:pt x="615" y="725"/>
                    <a:pt x="929" y="955"/>
                  </a:cubicBezTo>
                  <a:lnTo>
                    <a:pt x="1015" y="1017"/>
                  </a:lnTo>
                  <a:cubicBezTo>
                    <a:pt x="1120" y="941"/>
                    <a:pt x="1223" y="862"/>
                    <a:pt x="1329" y="784"/>
                  </a:cubicBezTo>
                  <a:cubicBezTo>
                    <a:pt x="1270" y="739"/>
                    <a:pt x="1211" y="695"/>
                    <a:pt x="1152" y="651"/>
                  </a:cubicBezTo>
                  <a:cubicBezTo>
                    <a:pt x="865" y="440"/>
                    <a:pt x="583" y="224"/>
                    <a:pt x="300" y="1"/>
                  </a:cubicBez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0"/>
            <p:cNvSpPr/>
            <p:nvPr/>
          </p:nvSpPr>
          <p:spPr>
            <a:xfrm>
              <a:off x="4702550" y="752050"/>
              <a:ext cx="145825" cy="209425"/>
            </a:xfrm>
            <a:custGeom>
              <a:avLst/>
              <a:gdLst/>
              <a:ahLst/>
              <a:cxnLst/>
              <a:rect l="l" t="t" r="r" b="b"/>
              <a:pathLst>
                <a:path w="5833" h="8377" extrusionOk="0">
                  <a:moveTo>
                    <a:pt x="1436" y="1"/>
                  </a:moveTo>
                  <a:cubicBezTo>
                    <a:pt x="1260" y="1"/>
                    <a:pt x="1083" y="23"/>
                    <a:pt x="911" y="72"/>
                  </a:cubicBezTo>
                  <a:cubicBezTo>
                    <a:pt x="720" y="126"/>
                    <a:pt x="545" y="229"/>
                    <a:pt x="406" y="367"/>
                  </a:cubicBezTo>
                  <a:cubicBezTo>
                    <a:pt x="268" y="511"/>
                    <a:pt x="167" y="686"/>
                    <a:pt x="113" y="877"/>
                  </a:cubicBezTo>
                  <a:cubicBezTo>
                    <a:pt x="1" y="1253"/>
                    <a:pt x="28" y="1636"/>
                    <a:pt x="91" y="1996"/>
                  </a:cubicBezTo>
                  <a:cubicBezTo>
                    <a:pt x="158" y="2355"/>
                    <a:pt x="258" y="2708"/>
                    <a:pt x="388" y="3050"/>
                  </a:cubicBezTo>
                  <a:cubicBezTo>
                    <a:pt x="644" y="3729"/>
                    <a:pt x="980" y="4373"/>
                    <a:pt x="1348" y="4989"/>
                  </a:cubicBezTo>
                  <a:cubicBezTo>
                    <a:pt x="1719" y="5605"/>
                    <a:pt x="2124" y="6201"/>
                    <a:pt x="2551" y="6778"/>
                  </a:cubicBezTo>
                  <a:cubicBezTo>
                    <a:pt x="2899" y="7245"/>
                    <a:pt x="3265" y="7701"/>
                    <a:pt x="3643" y="8145"/>
                  </a:cubicBezTo>
                  <a:cubicBezTo>
                    <a:pt x="3724" y="8064"/>
                    <a:pt x="3805" y="7983"/>
                    <a:pt x="3889" y="7905"/>
                  </a:cubicBezTo>
                  <a:cubicBezTo>
                    <a:pt x="3889" y="7885"/>
                    <a:pt x="3891" y="7866"/>
                    <a:pt x="3894" y="7846"/>
                  </a:cubicBezTo>
                  <a:cubicBezTo>
                    <a:pt x="3535" y="7424"/>
                    <a:pt x="3187" y="6994"/>
                    <a:pt x="2850" y="6552"/>
                  </a:cubicBezTo>
                  <a:cubicBezTo>
                    <a:pt x="2421" y="5990"/>
                    <a:pt x="2016" y="5408"/>
                    <a:pt x="1645" y="4810"/>
                  </a:cubicBezTo>
                  <a:cubicBezTo>
                    <a:pt x="1461" y="4508"/>
                    <a:pt x="1284" y="4203"/>
                    <a:pt x="1120" y="3891"/>
                  </a:cubicBezTo>
                  <a:cubicBezTo>
                    <a:pt x="955" y="3582"/>
                    <a:pt x="806" y="3266"/>
                    <a:pt x="673" y="2939"/>
                  </a:cubicBezTo>
                  <a:cubicBezTo>
                    <a:pt x="541" y="2620"/>
                    <a:pt x="435" y="2286"/>
                    <a:pt x="364" y="1947"/>
                  </a:cubicBezTo>
                  <a:cubicBezTo>
                    <a:pt x="295" y="1611"/>
                    <a:pt x="266" y="1263"/>
                    <a:pt x="352" y="948"/>
                  </a:cubicBezTo>
                  <a:cubicBezTo>
                    <a:pt x="391" y="794"/>
                    <a:pt x="469" y="651"/>
                    <a:pt x="575" y="533"/>
                  </a:cubicBezTo>
                  <a:cubicBezTo>
                    <a:pt x="685" y="418"/>
                    <a:pt x="825" y="332"/>
                    <a:pt x="977" y="286"/>
                  </a:cubicBezTo>
                  <a:cubicBezTo>
                    <a:pt x="1137" y="236"/>
                    <a:pt x="1303" y="212"/>
                    <a:pt x="1469" y="212"/>
                  </a:cubicBezTo>
                  <a:cubicBezTo>
                    <a:pt x="1477" y="212"/>
                    <a:pt x="1485" y="212"/>
                    <a:pt x="1493" y="212"/>
                  </a:cubicBezTo>
                  <a:cubicBezTo>
                    <a:pt x="1660" y="214"/>
                    <a:pt x="1822" y="227"/>
                    <a:pt x="1984" y="256"/>
                  </a:cubicBezTo>
                  <a:cubicBezTo>
                    <a:pt x="2674" y="369"/>
                    <a:pt x="3339" y="639"/>
                    <a:pt x="3977" y="946"/>
                  </a:cubicBezTo>
                  <a:cubicBezTo>
                    <a:pt x="4615" y="1263"/>
                    <a:pt x="5234" y="1614"/>
                    <a:pt x="5833" y="1999"/>
                  </a:cubicBezTo>
                  <a:cubicBezTo>
                    <a:pt x="5256" y="1577"/>
                    <a:pt x="4652" y="1194"/>
                    <a:pt x="4024" y="853"/>
                  </a:cubicBezTo>
                  <a:cubicBezTo>
                    <a:pt x="3393" y="519"/>
                    <a:pt x="2735" y="214"/>
                    <a:pt x="2021" y="65"/>
                  </a:cubicBezTo>
                  <a:cubicBezTo>
                    <a:pt x="1827" y="25"/>
                    <a:pt x="1633" y="6"/>
                    <a:pt x="1436" y="3"/>
                  </a:cubicBezTo>
                  <a:lnTo>
                    <a:pt x="1436" y="1"/>
                  </a:lnTo>
                  <a:close/>
                  <a:moveTo>
                    <a:pt x="3874" y="8023"/>
                  </a:moveTo>
                  <a:lnTo>
                    <a:pt x="3695" y="8207"/>
                  </a:lnTo>
                  <a:cubicBezTo>
                    <a:pt x="3744" y="8263"/>
                    <a:pt x="3791" y="8320"/>
                    <a:pt x="3840" y="8376"/>
                  </a:cubicBezTo>
                  <a:cubicBezTo>
                    <a:pt x="3852" y="8261"/>
                    <a:pt x="3862" y="8143"/>
                    <a:pt x="3874" y="802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0"/>
            <p:cNvSpPr/>
            <p:nvPr/>
          </p:nvSpPr>
          <p:spPr>
            <a:xfrm>
              <a:off x="4798525" y="948125"/>
              <a:ext cx="90900" cy="93250"/>
            </a:xfrm>
            <a:custGeom>
              <a:avLst/>
              <a:gdLst/>
              <a:ahLst/>
              <a:cxnLst/>
              <a:rect l="l" t="t" r="r" b="b"/>
              <a:pathLst>
                <a:path w="3636" h="3730" extrusionOk="0">
                  <a:moveTo>
                    <a:pt x="55" y="0"/>
                  </a:moveTo>
                  <a:lnTo>
                    <a:pt x="55" y="3"/>
                  </a:lnTo>
                  <a:cubicBezTo>
                    <a:pt x="52" y="23"/>
                    <a:pt x="50" y="40"/>
                    <a:pt x="47" y="59"/>
                  </a:cubicBezTo>
                  <a:lnTo>
                    <a:pt x="79" y="30"/>
                  </a:lnTo>
                  <a:lnTo>
                    <a:pt x="55" y="0"/>
                  </a:lnTo>
                  <a:close/>
                  <a:moveTo>
                    <a:pt x="1115" y="1184"/>
                  </a:moveTo>
                  <a:lnTo>
                    <a:pt x="1113" y="1186"/>
                  </a:lnTo>
                  <a:cubicBezTo>
                    <a:pt x="1113" y="1186"/>
                    <a:pt x="1113" y="1187"/>
                    <a:pt x="1114" y="1187"/>
                  </a:cubicBezTo>
                  <a:lnTo>
                    <a:pt x="1114" y="1187"/>
                  </a:lnTo>
                  <a:cubicBezTo>
                    <a:pt x="1114" y="1186"/>
                    <a:pt x="1115" y="1185"/>
                    <a:pt x="1115" y="1184"/>
                  </a:cubicBezTo>
                  <a:close/>
                  <a:moveTo>
                    <a:pt x="126" y="86"/>
                  </a:moveTo>
                  <a:lnTo>
                    <a:pt x="35" y="180"/>
                  </a:lnTo>
                  <a:cubicBezTo>
                    <a:pt x="23" y="300"/>
                    <a:pt x="10" y="418"/>
                    <a:pt x="1" y="533"/>
                  </a:cubicBezTo>
                  <a:cubicBezTo>
                    <a:pt x="207" y="771"/>
                    <a:pt x="418" y="1007"/>
                    <a:pt x="631" y="1240"/>
                  </a:cubicBezTo>
                  <a:cubicBezTo>
                    <a:pt x="683" y="1112"/>
                    <a:pt x="739" y="977"/>
                    <a:pt x="796" y="842"/>
                  </a:cubicBezTo>
                  <a:cubicBezTo>
                    <a:pt x="570" y="592"/>
                    <a:pt x="344" y="342"/>
                    <a:pt x="126" y="86"/>
                  </a:cubicBezTo>
                  <a:close/>
                  <a:moveTo>
                    <a:pt x="1114" y="1187"/>
                  </a:moveTo>
                  <a:lnTo>
                    <a:pt x="1114" y="1187"/>
                  </a:lnTo>
                  <a:cubicBezTo>
                    <a:pt x="1058" y="1323"/>
                    <a:pt x="1004" y="1455"/>
                    <a:pt x="955" y="1584"/>
                  </a:cubicBezTo>
                  <a:cubicBezTo>
                    <a:pt x="1144" y="1785"/>
                    <a:pt x="1336" y="1984"/>
                    <a:pt x="1532" y="2180"/>
                  </a:cubicBezTo>
                  <a:cubicBezTo>
                    <a:pt x="2067" y="2715"/>
                    <a:pt x="2620" y="3231"/>
                    <a:pt x="3189" y="3729"/>
                  </a:cubicBezTo>
                  <a:cubicBezTo>
                    <a:pt x="3334" y="3692"/>
                    <a:pt x="3484" y="3651"/>
                    <a:pt x="3636" y="3606"/>
                  </a:cubicBezTo>
                  <a:cubicBezTo>
                    <a:pt x="3005" y="3064"/>
                    <a:pt x="2399" y="2494"/>
                    <a:pt x="1812" y="1903"/>
                  </a:cubicBezTo>
                  <a:cubicBezTo>
                    <a:pt x="1577" y="1668"/>
                    <a:pt x="1344" y="1427"/>
                    <a:pt x="1114" y="1187"/>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0"/>
            <p:cNvSpPr/>
            <p:nvPr/>
          </p:nvSpPr>
          <p:spPr>
            <a:xfrm>
              <a:off x="4814350" y="969175"/>
              <a:ext cx="12075" cy="18550"/>
            </a:xfrm>
            <a:custGeom>
              <a:avLst/>
              <a:gdLst/>
              <a:ahLst/>
              <a:cxnLst/>
              <a:rect l="l" t="t" r="r" b="b"/>
              <a:pathLst>
                <a:path w="483" h="742" extrusionOk="0">
                  <a:moveTo>
                    <a:pt x="165" y="0"/>
                  </a:moveTo>
                  <a:cubicBezTo>
                    <a:pt x="106" y="135"/>
                    <a:pt x="52" y="268"/>
                    <a:pt x="1" y="398"/>
                  </a:cubicBezTo>
                  <a:cubicBezTo>
                    <a:pt x="106" y="513"/>
                    <a:pt x="214" y="629"/>
                    <a:pt x="320" y="742"/>
                  </a:cubicBezTo>
                  <a:cubicBezTo>
                    <a:pt x="372" y="614"/>
                    <a:pt x="426" y="479"/>
                    <a:pt x="482" y="342"/>
                  </a:cubicBezTo>
                  <a:cubicBezTo>
                    <a:pt x="376" y="229"/>
                    <a:pt x="271" y="116"/>
                    <a:pt x="165" y="0"/>
                  </a:cubicBezTo>
                  <a:close/>
                </a:path>
              </a:pathLst>
            </a:custGeom>
            <a:solidFill>
              <a:srgbClr val="DB98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0"/>
            <p:cNvSpPr/>
            <p:nvPr/>
          </p:nvSpPr>
          <p:spPr>
            <a:xfrm>
              <a:off x="4881975" y="1043250"/>
              <a:ext cx="80250" cy="56425"/>
            </a:xfrm>
            <a:custGeom>
              <a:avLst/>
              <a:gdLst/>
              <a:ahLst/>
              <a:cxnLst/>
              <a:rect l="l" t="t" r="r" b="b"/>
              <a:pathLst>
                <a:path w="3210" h="2257" extrusionOk="0">
                  <a:moveTo>
                    <a:pt x="534" y="0"/>
                  </a:moveTo>
                  <a:cubicBezTo>
                    <a:pt x="352" y="20"/>
                    <a:pt x="175" y="40"/>
                    <a:pt x="1" y="54"/>
                  </a:cubicBezTo>
                  <a:cubicBezTo>
                    <a:pt x="465" y="454"/>
                    <a:pt x="944" y="837"/>
                    <a:pt x="1432" y="1205"/>
                  </a:cubicBezTo>
                  <a:cubicBezTo>
                    <a:pt x="1925" y="1574"/>
                    <a:pt x="2431" y="1930"/>
                    <a:pt x="2954" y="2256"/>
                  </a:cubicBezTo>
                  <a:lnTo>
                    <a:pt x="3209" y="2003"/>
                  </a:lnTo>
                  <a:cubicBezTo>
                    <a:pt x="2677" y="1662"/>
                    <a:pt x="2161" y="1294"/>
                    <a:pt x="1658" y="906"/>
                  </a:cubicBezTo>
                  <a:cubicBezTo>
                    <a:pt x="1275" y="614"/>
                    <a:pt x="899" y="312"/>
                    <a:pt x="5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0"/>
            <p:cNvSpPr/>
            <p:nvPr/>
          </p:nvSpPr>
          <p:spPr>
            <a:xfrm>
              <a:off x="4881975" y="1043250"/>
              <a:ext cx="13350" cy="1375"/>
            </a:xfrm>
            <a:custGeom>
              <a:avLst/>
              <a:gdLst/>
              <a:ahLst/>
              <a:cxnLst/>
              <a:rect l="l" t="t" r="r" b="b"/>
              <a:pathLst>
                <a:path w="534" h="55" extrusionOk="0">
                  <a:moveTo>
                    <a:pt x="531" y="0"/>
                  </a:moveTo>
                  <a:cubicBezTo>
                    <a:pt x="352" y="20"/>
                    <a:pt x="175" y="40"/>
                    <a:pt x="1" y="54"/>
                  </a:cubicBezTo>
                  <a:cubicBezTo>
                    <a:pt x="175" y="40"/>
                    <a:pt x="352" y="20"/>
                    <a:pt x="534" y="0"/>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0"/>
            <p:cNvSpPr/>
            <p:nvPr/>
          </p:nvSpPr>
          <p:spPr>
            <a:xfrm>
              <a:off x="4878250" y="1038200"/>
              <a:ext cx="17025" cy="6350"/>
            </a:xfrm>
            <a:custGeom>
              <a:avLst/>
              <a:gdLst/>
              <a:ahLst/>
              <a:cxnLst/>
              <a:rect l="l" t="t" r="r" b="b"/>
              <a:pathLst>
                <a:path w="681" h="254" extrusionOk="0">
                  <a:moveTo>
                    <a:pt x="447" y="1"/>
                  </a:moveTo>
                  <a:lnTo>
                    <a:pt x="447" y="3"/>
                  </a:lnTo>
                  <a:cubicBezTo>
                    <a:pt x="295" y="48"/>
                    <a:pt x="147" y="87"/>
                    <a:pt x="0" y="126"/>
                  </a:cubicBezTo>
                  <a:lnTo>
                    <a:pt x="150" y="254"/>
                  </a:lnTo>
                  <a:cubicBezTo>
                    <a:pt x="322" y="239"/>
                    <a:pt x="498" y="222"/>
                    <a:pt x="680" y="200"/>
                  </a:cubicBezTo>
                  <a:cubicBezTo>
                    <a:pt x="602" y="134"/>
                    <a:pt x="523" y="67"/>
                    <a:pt x="447" y="1"/>
                  </a:cubicBez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0"/>
            <p:cNvSpPr/>
            <p:nvPr/>
          </p:nvSpPr>
          <p:spPr>
            <a:xfrm>
              <a:off x="5040750" y="995075"/>
              <a:ext cx="8300" cy="12475"/>
            </a:xfrm>
            <a:custGeom>
              <a:avLst/>
              <a:gdLst/>
              <a:ahLst/>
              <a:cxnLst/>
              <a:rect l="l" t="t" r="r" b="b"/>
              <a:pathLst>
                <a:path w="332" h="499" extrusionOk="0">
                  <a:moveTo>
                    <a:pt x="0" y="0"/>
                  </a:moveTo>
                  <a:cubicBezTo>
                    <a:pt x="106" y="165"/>
                    <a:pt x="206" y="332"/>
                    <a:pt x="307" y="499"/>
                  </a:cubicBezTo>
                  <a:lnTo>
                    <a:pt x="332" y="474"/>
                  </a:lnTo>
                  <a:cubicBezTo>
                    <a:pt x="224" y="315"/>
                    <a:pt x="113" y="157"/>
                    <a:pt x="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0"/>
            <p:cNvSpPr/>
            <p:nvPr/>
          </p:nvSpPr>
          <p:spPr>
            <a:xfrm>
              <a:off x="5040750" y="995075"/>
              <a:ext cx="25" cy="25"/>
            </a:xfrm>
            <a:custGeom>
              <a:avLst/>
              <a:gdLst/>
              <a:ahLst/>
              <a:cxnLst/>
              <a:rect l="l" t="t" r="r" b="b"/>
              <a:pathLst>
                <a:path w="1" h="1" extrusionOk="0">
                  <a:moveTo>
                    <a:pt x="0" y="0"/>
                  </a:moveTo>
                  <a:lnTo>
                    <a:pt x="0" y="0"/>
                  </a:lnTo>
                  <a:lnTo>
                    <a:pt x="0" y="0"/>
                  </a:lnTo>
                  <a:lnTo>
                    <a:pt x="0" y="0"/>
                  </a:ln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0"/>
            <p:cNvSpPr/>
            <p:nvPr/>
          </p:nvSpPr>
          <p:spPr>
            <a:xfrm>
              <a:off x="4957950" y="1008450"/>
              <a:ext cx="131775" cy="129375"/>
            </a:xfrm>
            <a:custGeom>
              <a:avLst/>
              <a:gdLst/>
              <a:ahLst/>
              <a:cxnLst/>
              <a:rect l="l" t="t" r="r" b="b"/>
              <a:pathLst>
                <a:path w="5271" h="5175" extrusionOk="0">
                  <a:moveTo>
                    <a:pt x="3680" y="0"/>
                  </a:moveTo>
                  <a:cubicBezTo>
                    <a:pt x="3681" y="1"/>
                    <a:pt x="3681" y="1"/>
                    <a:pt x="3681" y="2"/>
                  </a:cubicBezTo>
                  <a:lnTo>
                    <a:pt x="3681" y="2"/>
                  </a:lnTo>
                  <a:lnTo>
                    <a:pt x="3683" y="0"/>
                  </a:lnTo>
                  <a:close/>
                  <a:moveTo>
                    <a:pt x="5222" y="3385"/>
                  </a:moveTo>
                  <a:lnTo>
                    <a:pt x="5219" y="3388"/>
                  </a:lnTo>
                  <a:cubicBezTo>
                    <a:pt x="5219" y="3388"/>
                    <a:pt x="5219" y="3388"/>
                    <a:pt x="5219" y="3388"/>
                  </a:cubicBezTo>
                  <a:lnTo>
                    <a:pt x="5219" y="3388"/>
                  </a:lnTo>
                  <a:lnTo>
                    <a:pt x="5222" y="3385"/>
                  </a:lnTo>
                  <a:close/>
                  <a:moveTo>
                    <a:pt x="3681" y="2"/>
                  </a:moveTo>
                  <a:lnTo>
                    <a:pt x="3656" y="27"/>
                  </a:lnTo>
                  <a:cubicBezTo>
                    <a:pt x="3906" y="452"/>
                    <a:pt x="4142" y="887"/>
                    <a:pt x="4355" y="1328"/>
                  </a:cubicBezTo>
                  <a:cubicBezTo>
                    <a:pt x="4655" y="1969"/>
                    <a:pt x="4917" y="2639"/>
                    <a:pt x="5016" y="3329"/>
                  </a:cubicBezTo>
                  <a:cubicBezTo>
                    <a:pt x="5018" y="3358"/>
                    <a:pt x="5023" y="3390"/>
                    <a:pt x="5025" y="3420"/>
                  </a:cubicBezTo>
                  <a:lnTo>
                    <a:pt x="5197" y="3250"/>
                  </a:lnTo>
                  <a:cubicBezTo>
                    <a:pt x="5131" y="2909"/>
                    <a:pt x="5030" y="2578"/>
                    <a:pt x="4900" y="2259"/>
                  </a:cubicBezTo>
                  <a:cubicBezTo>
                    <a:pt x="4768" y="1925"/>
                    <a:pt x="4618" y="1598"/>
                    <a:pt x="4449" y="1282"/>
                  </a:cubicBezTo>
                  <a:cubicBezTo>
                    <a:pt x="4216" y="840"/>
                    <a:pt x="3958" y="414"/>
                    <a:pt x="3681" y="2"/>
                  </a:cubicBezTo>
                  <a:close/>
                  <a:moveTo>
                    <a:pt x="254" y="3447"/>
                  </a:moveTo>
                  <a:lnTo>
                    <a:pt x="254" y="3449"/>
                  </a:lnTo>
                  <a:lnTo>
                    <a:pt x="1" y="3702"/>
                  </a:lnTo>
                  <a:cubicBezTo>
                    <a:pt x="57" y="3739"/>
                    <a:pt x="116" y="3773"/>
                    <a:pt x="175" y="3810"/>
                  </a:cubicBezTo>
                  <a:cubicBezTo>
                    <a:pt x="789" y="4183"/>
                    <a:pt x="1429" y="4522"/>
                    <a:pt x="2107" y="4785"/>
                  </a:cubicBezTo>
                  <a:cubicBezTo>
                    <a:pt x="2446" y="4920"/>
                    <a:pt x="2794" y="5028"/>
                    <a:pt x="3153" y="5104"/>
                  </a:cubicBezTo>
                  <a:cubicBezTo>
                    <a:pt x="3204" y="5114"/>
                    <a:pt x="3253" y="5121"/>
                    <a:pt x="3305" y="5131"/>
                  </a:cubicBezTo>
                  <a:lnTo>
                    <a:pt x="3486" y="4947"/>
                  </a:lnTo>
                  <a:lnTo>
                    <a:pt x="3543" y="4890"/>
                  </a:lnTo>
                  <a:cubicBezTo>
                    <a:pt x="3432" y="4875"/>
                    <a:pt x="3320" y="4853"/>
                    <a:pt x="3209" y="4829"/>
                  </a:cubicBezTo>
                  <a:cubicBezTo>
                    <a:pt x="2870" y="4748"/>
                    <a:pt x="2539" y="4637"/>
                    <a:pt x="2220" y="4500"/>
                  </a:cubicBezTo>
                  <a:cubicBezTo>
                    <a:pt x="1577" y="4227"/>
                    <a:pt x="956" y="3884"/>
                    <a:pt x="357" y="3511"/>
                  </a:cubicBezTo>
                  <a:lnTo>
                    <a:pt x="254" y="3447"/>
                  </a:lnTo>
                  <a:close/>
                  <a:moveTo>
                    <a:pt x="5219" y="3388"/>
                  </a:moveTo>
                  <a:lnTo>
                    <a:pt x="5040" y="3570"/>
                  </a:lnTo>
                  <a:cubicBezTo>
                    <a:pt x="5055" y="3832"/>
                    <a:pt x="5033" y="4092"/>
                    <a:pt x="4937" y="4323"/>
                  </a:cubicBezTo>
                  <a:cubicBezTo>
                    <a:pt x="4878" y="4470"/>
                    <a:pt x="4778" y="4600"/>
                    <a:pt x="4652" y="4696"/>
                  </a:cubicBezTo>
                  <a:cubicBezTo>
                    <a:pt x="4522" y="4789"/>
                    <a:pt x="4373" y="4853"/>
                    <a:pt x="4215" y="4883"/>
                  </a:cubicBezTo>
                  <a:cubicBezTo>
                    <a:pt x="4105" y="4905"/>
                    <a:pt x="3992" y="4915"/>
                    <a:pt x="3879" y="4915"/>
                  </a:cubicBezTo>
                  <a:cubicBezTo>
                    <a:pt x="3823" y="4915"/>
                    <a:pt x="3766" y="4912"/>
                    <a:pt x="3710" y="4907"/>
                  </a:cubicBezTo>
                  <a:lnTo>
                    <a:pt x="3580" y="5040"/>
                  </a:lnTo>
                  <a:lnTo>
                    <a:pt x="3467" y="5153"/>
                  </a:lnTo>
                  <a:cubicBezTo>
                    <a:pt x="3582" y="5168"/>
                    <a:pt x="3700" y="5175"/>
                    <a:pt x="3815" y="5175"/>
                  </a:cubicBezTo>
                  <a:cubicBezTo>
                    <a:pt x="3968" y="5175"/>
                    <a:pt x="4120" y="5160"/>
                    <a:pt x="4267" y="5131"/>
                  </a:cubicBezTo>
                  <a:cubicBezTo>
                    <a:pt x="4458" y="5089"/>
                    <a:pt x="4640" y="5006"/>
                    <a:pt x="4797" y="4885"/>
                  </a:cubicBezTo>
                  <a:cubicBezTo>
                    <a:pt x="4952" y="4760"/>
                    <a:pt x="5072" y="4596"/>
                    <a:pt x="5143" y="4409"/>
                  </a:cubicBezTo>
                  <a:cubicBezTo>
                    <a:pt x="5271" y="4073"/>
                    <a:pt x="5266" y="3722"/>
                    <a:pt x="5219" y="338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0"/>
            <p:cNvSpPr/>
            <p:nvPr/>
          </p:nvSpPr>
          <p:spPr>
            <a:xfrm>
              <a:off x="5087925" y="996850"/>
              <a:ext cx="94850" cy="96250"/>
            </a:xfrm>
            <a:custGeom>
              <a:avLst/>
              <a:gdLst/>
              <a:ahLst/>
              <a:cxnLst/>
              <a:rect l="l" t="t" r="r" b="b"/>
              <a:pathLst>
                <a:path w="3794" h="3850" extrusionOk="0">
                  <a:moveTo>
                    <a:pt x="3793" y="1"/>
                  </a:moveTo>
                  <a:lnTo>
                    <a:pt x="3793" y="1"/>
                  </a:lnTo>
                  <a:cubicBezTo>
                    <a:pt x="3376" y="398"/>
                    <a:pt x="2961" y="801"/>
                    <a:pt x="2549" y="1203"/>
                  </a:cubicBezTo>
                  <a:lnTo>
                    <a:pt x="2603" y="1228"/>
                  </a:lnTo>
                  <a:cubicBezTo>
                    <a:pt x="3000" y="820"/>
                    <a:pt x="3398" y="410"/>
                    <a:pt x="3793" y="1"/>
                  </a:cubicBezTo>
                  <a:close/>
                  <a:moveTo>
                    <a:pt x="2291" y="1454"/>
                  </a:moveTo>
                  <a:cubicBezTo>
                    <a:pt x="1869" y="1866"/>
                    <a:pt x="1447" y="2278"/>
                    <a:pt x="1027" y="2693"/>
                  </a:cubicBezTo>
                  <a:lnTo>
                    <a:pt x="1" y="3712"/>
                  </a:lnTo>
                  <a:cubicBezTo>
                    <a:pt x="3" y="3729"/>
                    <a:pt x="6" y="3746"/>
                    <a:pt x="8" y="3761"/>
                  </a:cubicBezTo>
                  <a:cubicBezTo>
                    <a:pt x="13" y="3793"/>
                    <a:pt x="18" y="3820"/>
                    <a:pt x="23" y="3849"/>
                  </a:cubicBezTo>
                  <a:lnTo>
                    <a:pt x="1098" y="2764"/>
                  </a:lnTo>
                  <a:cubicBezTo>
                    <a:pt x="1518" y="2337"/>
                    <a:pt x="1937" y="1910"/>
                    <a:pt x="2357" y="1483"/>
                  </a:cubicBezTo>
                  <a:lnTo>
                    <a:pt x="2291" y="145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0"/>
            <p:cNvSpPr/>
            <p:nvPr/>
          </p:nvSpPr>
          <p:spPr>
            <a:xfrm>
              <a:off x="5145175" y="1026925"/>
              <a:ext cx="7825" cy="7075"/>
            </a:xfrm>
            <a:custGeom>
              <a:avLst/>
              <a:gdLst/>
              <a:ahLst/>
              <a:cxnLst/>
              <a:rect l="l" t="t" r="r" b="b"/>
              <a:pathLst>
                <a:path w="313" h="283" extrusionOk="0">
                  <a:moveTo>
                    <a:pt x="256" y="0"/>
                  </a:moveTo>
                  <a:lnTo>
                    <a:pt x="1" y="251"/>
                  </a:lnTo>
                  <a:lnTo>
                    <a:pt x="65" y="283"/>
                  </a:lnTo>
                  <a:lnTo>
                    <a:pt x="313" y="30"/>
                  </a:lnTo>
                  <a:lnTo>
                    <a:pt x="256" y="3"/>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0"/>
            <p:cNvSpPr/>
            <p:nvPr/>
          </p:nvSpPr>
          <p:spPr>
            <a:xfrm>
              <a:off x="4909900" y="1094000"/>
              <a:ext cx="174075" cy="175700"/>
            </a:xfrm>
            <a:custGeom>
              <a:avLst/>
              <a:gdLst/>
              <a:ahLst/>
              <a:cxnLst/>
              <a:rect l="l" t="t" r="r" b="b"/>
              <a:pathLst>
                <a:path w="6963" h="7028" extrusionOk="0">
                  <a:moveTo>
                    <a:pt x="6950" y="0"/>
                  </a:moveTo>
                  <a:lnTo>
                    <a:pt x="5467" y="1473"/>
                  </a:lnTo>
                  <a:cubicBezTo>
                    <a:pt x="5521" y="1480"/>
                    <a:pt x="5578" y="1485"/>
                    <a:pt x="5634" y="1490"/>
                  </a:cubicBezTo>
                  <a:lnTo>
                    <a:pt x="6962" y="150"/>
                  </a:lnTo>
                  <a:cubicBezTo>
                    <a:pt x="6960" y="101"/>
                    <a:pt x="6955" y="52"/>
                    <a:pt x="6950" y="0"/>
                  </a:cubicBezTo>
                  <a:close/>
                  <a:moveTo>
                    <a:pt x="5227" y="1709"/>
                  </a:moveTo>
                  <a:lnTo>
                    <a:pt x="2691" y="4264"/>
                  </a:lnTo>
                  <a:lnTo>
                    <a:pt x="1341" y="5641"/>
                  </a:lnTo>
                  <a:lnTo>
                    <a:pt x="1" y="7028"/>
                  </a:lnTo>
                  <a:lnTo>
                    <a:pt x="1388" y="5688"/>
                  </a:lnTo>
                  <a:lnTo>
                    <a:pt x="2765" y="4338"/>
                  </a:lnTo>
                  <a:lnTo>
                    <a:pt x="5391" y="1733"/>
                  </a:lnTo>
                  <a:cubicBezTo>
                    <a:pt x="5335" y="1726"/>
                    <a:pt x="5281" y="1719"/>
                    <a:pt x="5229" y="170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0"/>
            <p:cNvSpPr/>
            <p:nvPr/>
          </p:nvSpPr>
          <p:spPr>
            <a:xfrm>
              <a:off x="5040550" y="1089625"/>
              <a:ext cx="47950" cy="47650"/>
            </a:xfrm>
            <a:custGeom>
              <a:avLst/>
              <a:gdLst/>
              <a:ahLst/>
              <a:cxnLst/>
              <a:rect l="l" t="t" r="r" b="b"/>
              <a:pathLst>
                <a:path w="1918" h="1906" extrusionOk="0">
                  <a:moveTo>
                    <a:pt x="1896" y="1"/>
                  </a:moveTo>
                  <a:lnTo>
                    <a:pt x="1724" y="173"/>
                  </a:lnTo>
                  <a:cubicBezTo>
                    <a:pt x="1729" y="222"/>
                    <a:pt x="1734" y="273"/>
                    <a:pt x="1736" y="323"/>
                  </a:cubicBezTo>
                  <a:lnTo>
                    <a:pt x="1918" y="138"/>
                  </a:lnTo>
                  <a:cubicBezTo>
                    <a:pt x="1915" y="109"/>
                    <a:pt x="1910" y="80"/>
                    <a:pt x="1906" y="50"/>
                  </a:cubicBezTo>
                  <a:cubicBezTo>
                    <a:pt x="1903" y="35"/>
                    <a:pt x="1901" y="18"/>
                    <a:pt x="1896" y="1"/>
                  </a:cubicBezTo>
                  <a:close/>
                  <a:moveTo>
                    <a:pt x="239" y="1643"/>
                  </a:moveTo>
                  <a:lnTo>
                    <a:pt x="185" y="1700"/>
                  </a:lnTo>
                  <a:lnTo>
                    <a:pt x="1" y="1884"/>
                  </a:lnTo>
                  <a:cubicBezTo>
                    <a:pt x="55" y="1891"/>
                    <a:pt x="109" y="1901"/>
                    <a:pt x="163" y="1906"/>
                  </a:cubicBezTo>
                  <a:lnTo>
                    <a:pt x="276" y="1793"/>
                  </a:lnTo>
                  <a:lnTo>
                    <a:pt x="408" y="1660"/>
                  </a:lnTo>
                  <a:cubicBezTo>
                    <a:pt x="352" y="1658"/>
                    <a:pt x="295" y="1650"/>
                    <a:pt x="239" y="164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0"/>
            <p:cNvSpPr/>
            <p:nvPr/>
          </p:nvSpPr>
          <p:spPr>
            <a:xfrm>
              <a:off x="5049025" y="915175"/>
              <a:ext cx="93050" cy="93300"/>
            </a:xfrm>
            <a:custGeom>
              <a:avLst/>
              <a:gdLst/>
              <a:ahLst/>
              <a:cxnLst/>
              <a:rect l="l" t="t" r="r" b="b"/>
              <a:pathLst>
                <a:path w="3722" h="3732" extrusionOk="0">
                  <a:moveTo>
                    <a:pt x="3722" y="0"/>
                  </a:moveTo>
                  <a:lnTo>
                    <a:pt x="1039" y="2642"/>
                  </a:lnTo>
                  <a:lnTo>
                    <a:pt x="1085" y="2676"/>
                  </a:lnTo>
                  <a:lnTo>
                    <a:pt x="3722" y="0"/>
                  </a:lnTo>
                  <a:close/>
                  <a:moveTo>
                    <a:pt x="771" y="2904"/>
                  </a:moveTo>
                  <a:lnTo>
                    <a:pt x="761" y="2914"/>
                  </a:lnTo>
                  <a:lnTo>
                    <a:pt x="1" y="3670"/>
                  </a:lnTo>
                  <a:lnTo>
                    <a:pt x="40" y="3731"/>
                  </a:lnTo>
                  <a:lnTo>
                    <a:pt x="808" y="2958"/>
                  </a:lnTo>
                  <a:lnTo>
                    <a:pt x="823" y="2943"/>
                  </a:lnTo>
                  <a:lnTo>
                    <a:pt x="771" y="29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0"/>
            <p:cNvSpPr/>
            <p:nvPr/>
          </p:nvSpPr>
          <p:spPr>
            <a:xfrm>
              <a:off x="5068300" y="981200"/>
              <a:ext cx="7925" cy="7525"/>
            </a:xfrm>
            <a:custGeom>
              <a:avLst/>
              <a:gdLst/>
              <a:ahLst/>
              <a:cxnLst/>
              <a:rect l="l" t="t" r="r" b="b"/>
              <a:pathLst>
                <a:path w="317" h="301" extrusionOk="0">
                  <a:moveTo>
                    <a:pt x="268" y="1"/>
                  </a:moveTo>
                  <a:lnTo>
                    <a:pt x="0" y="263"/>
                  </a:lnTo>
                  <a:lnTo>
                    <a:pt x="54" y="300"/>
                  </a:lnTo>
                  <a:lnTo>
                    <a:pt x="317" y="35"/>
                  </a:lnTo>
                  <a:lnTo>
                    <a:pt x="2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p:cNvSpPr/>
            <p:nvPr/>
          </p:nvSpPr>
          <p:spPr>
            <a:xfrm>
              <a:off x="4554900" y="1007525"/>
              <a:ext cx="494525" cy="494825"/>
            </a:xfrm>
            <a:custGeom>
              <a:avLst/>
              <a:gdLst/>
              <a:ahLst/>
              <a:cxnLst/>
              <a:rect l="l" t="t" r="r" b="b"/>
              <a:pathLst>
                <a:path w="19781" h="19793" extrusionOk="0">
                  <a:moveTo>
                    <a:pt x="19741" y="1"/>
                  </a:moveTo>
                  <a:lnTo>
                    <a:pt x="17586" y="2146"/>
                  </a:lnTo>
                  <a:lnTo>
                    <a:pt x="16292" y="3432"/>
                  </a:lnTo>
                  <a:cubicBezTo>
                    <a:pt x="16319" y="3449"/>
                    <a:pt x="16349" y="3469"/>
                    <a:pt x="16376" y="3486"/>
                  </a:cubicBezTo>
                  <a:lnTo>
                    <a:pt x="17647" y="2210"/>
                  </a:lnTo>
                  <a:lnTo>
                    <a:pt x="19780" y="64"/>
                  </a:lnTo>
                  <a:lnTo>
                    <a:pt x="19743" y="3"/>
                  </a:lnTo>
                  <a:lnTo>
                    <a:pt x="19741" y="1"/>
                  </a:lnTo>
                  <a:close/>
                  <a:moveTo>
                    <a:pt x="16037" y="3685"/>
                  </a:moveTo>
                  <a:lnTo>
                    <a:pt x="11697" y="8003"/>
                  </a:lnTo>
                  <a:lnTo>
                    <a:pt x="5840" y="13889"/>
                  </a:lnTo>
                  <a:lnTo>
                    <a:pt x="2914" y="16832"/>
                  </a:lnTo>
                  <a:lnTo>
                    <a:pt x="1" y="19793"/>
                  </a:lnTo>
                  <a:lnTo>
                    <a:pt x="2958" y="16879"/>
                  </a:lnTo>
                  <a:lnTo>
                    <a:pt x="5902" y="13950"/>
                  </a:lnTo>
                  <a:lnTo>
                    <a:pt x="11790" y="8096"/>
                  </a:lnTo>
                  <a:lnTo>
                    <a:pt x="16123" y="3739"/>
                  </a:lnTo>
                  <a:lnTo>
                    <a:pt x="16037" y="368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p:cNvSpPr/>
            <p:nvPr/>
          </p:nvSpPr>
          <p:spPr>
            <a:xfrm>
              <a:off x="4955800" y="1006925"/>
              <a:ext cx="94225" cy="94100"/>
            </a:xfrm>
            <a:custGeom>
              <a:avLst/>
              <a:gdLst/>
              <a:ahLst/>
              <a:cxnLst/>
              <a:rect l="l" t="t" r="r" b="b"/>
              <a:pathLst>
                <a:path w="3769" h="3764" extrusionOk="0">
                  <a:moveTo>
                    <a:pt x="3730" y="0"/>
                  </a:moveTo>
                  <a:lnTo>
                    <a:pt x="3705" y="25"/>
                  </a:lnTo>
                  <a:lnTo>
                    <a:pt x="3742" y="86"/>
                  </a:lnTo>
                  <a:lnTo>
                    <a:pt x="3769" y="59"/>
                  </a:lnTo>
                  <a:lnTo>
                    <a:pt x="3730" y="0"/>
                  </a:lnTo>
                  <a:close/>
                  <a:moveTo>
                    <a:pt x="256" y="3456"/>
                  </a:moveTo>
                  <a:lnTo>
                    <a:pt x="1" y="3709"/>
                  </a:lnTo>
                  <a:lnTo>
                    <a:pt x="87" y="3763"/>
                  </a:lnTo>
                  <a:lnTo>
                    <a:pt x="340" y="3510"/>
                  </a:lnTo>
                  <a:cubicBezTo>
                    <a:pt x="313" y="3493"/>
                    <a:pt x="283" y="3473"/>
                    <a:pt x="256" y="345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0"/>
            <p:cNvSpPr/>
            <p:nvPr/>
          </p:nvSpPr>
          <p:spPr>
            <a:xfrm>
              <a:off x="4464025" y="1232075"/>
              <a:ext cx="234075" cy="234075"/>
            </a:xfrm>
            <a:custGeom>
              <a:avLst/>
              <a:gdLst/>
              <a:ahLst/>
              <a:cxnLst/>
              <a:rect l="l" t="t" r="r" b="b"/>
              <a:pathLst>
                <a:path w="9363" h="9363" extrusionOk="0">
                  <a:moveTo>
                    <a:pt x="9362" y="0"/>
                  </a:moveTo>
                  <a:lnTo>
                    <a:pt x="9362" y="0"/>
                  </a:lnTo>
                  <a:cubicBezTo>
                    <a:pt x="8562" y="761"/>
                    <a:pt x="7774" y="1532"/>
                    <a:pt x="6986" y="2305"/>
                  </a:cubicBezTo>
                  <a:lnTo>
                    <a:pt x="4635" y="4635"/>
                  </a:lnTo>
                  <a:lnTo>
                    <a:pt x="2305" y="6986"/>
                  </a:lnTo>
                  <a:lnTo>
                    <a:pt x="1147" y="8169"/>
                  </a:lnTo>
                  <a:lnTo>
                    <a:pt x="0" y="9362"/>
                  </a:lnTo>
                  <a:lnTo>
                    <a:pt x="1193" y="8216"/>
                  </a:lnTo>
                  <a:lnTo>
                    <a:pt x="2376" y="7057"/>
                  </a:lnTo>
                  <a:lnTo>
                    <a:pt x="4728" y="4728"/>
                  </a:lnTo>
                  <a:lnTo>
                    <a:pt x="7057" y="2376"/>
                  </a:lnTo>
                  <a:cubicBezTo>
                    <a:pt x="7831" y="1588"/>
                    <a:pt x="8601" y="798"/>
                    <a:pt x="93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0"/>
            <p:cNvSpPr/>
            <p:nvPr/>
          </p:nvSpPr>
          <p:spPr>
            <a:xfrm>
              <a:off x="4556800" y="955675"/>
              <a:ext cx="238075" cy="238175"/>
            </a:xfrm>
            <a:custGeom>
              <a:avLst/>
              <a:gdLst/>
              <a:ahLst/>
              <a:cxnLst/>
              <a:rect l="l" t="t" r="r" b="b"/>
              <a:pathLst>
                <a:path w="9523" h="9527" extrusionOk="0">
                  <a:moveTo>
                    <a:pt x="9471" y="0"/>
                  </a:moveTo>
                  <a:cubicBezTo>
                    <a:pt x="9471" y="1"/>
                    <a:pt x="9472" y="1"/>
                    <a:pt x="9472" y="2"/>
                  </a:cubicBezTo>
                  <a:lnTo>
                    <a:pt x="9472" y="2"/>
                  </a:lnTo>
                  <a:cubicBezTo>
                    <a:pt x="9472" y="1"/>
                    <a:pt x="9473" y="1"/>
                    <a:pt x="9473" y="0"/>
                  </a:cubicBezTo>
                  <a:close/>
                  <a:moveTo>
                    <a:pt x="9472" y="2"/>
                  </a:moveTo>
                  <a:cubicBezTo>
                    <a:pt x="9180" y="288"/>
                    <a:pt x="8889" y="573"/>
                    <a:pt x="8599" y="860"/>
                  </a:cubicBezTo>
                  <a:lnTo>
                    <a:pt x="5710" y="3727"/>
                  </a:lnTo>
                  <a:lnTo>
                    <a:pt x="2843" y="6613"/>
                  </a:lnTo>
                  <a:lnTo>
                    <a:pt x="1417" y="8064"/>
                  </a:lnTo>
                  <a:lnTo>
                    <a:pt x="1" y="9527"/>
                  </a:lnTo>
                  <a:lnTo>
                    <a:pt x="1461" y="8111"/>
                  </a:lnTo>
                  <a:lnTo>
                    <a:pt x="2914" y="6684"/>
                  </a:lnTo>
                  <a:lnTo>
                    <a:pt x="5801" y="3817"/>
                  </a:lnTo>
                  <a:lnTo>
                    <a:pt x="8668" y="931"/>
                  </a:lnTo>
                  <a:cubicBezTo>
                    <a:pt x="8953" y="641"/>
                    <a:pt x="9238" y="351"/>
                    <a:pt x="9522" y="62"/>
                  </a:cubicBezTo>
                  <a:cubicBezTo>
                    <a:pt x="9506" y="40"/>
                    <a:pt x="9489" y="21"/>
                    <a:pt x="9472" y="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0"/>
            <p:cNvSpPr/>
            <p:nvPr/>
          </p:nvSpPr>
          <p:spPr>
            <a:xfrm>
              <a:off x="4800500" y="931975"/>
              <a:ext cx="18375" cy="18325"/>
            </a:xfrm>
            <a:custGeom>
              <a:avLst/>
              <a:gdLst/>
              <a:ahLst/>
              <a:cxnLst/>
              <a:rect l="l" t="t" r="r" b="b"/>
              <a:pathLst>
                <a:path w="735" h="733" extrusionOk="0">
                  <a:moveTo>
                    <a:pt x="692" y="1"/>
                  </a:moveTo>
                  <a:cubicBezTo>
                    <a:pt x="462" y="227"/>
                    <a:pt x="231" y="453"/>
                    <a:pt x="0" y="676"/>
                  </a:cubicBezTo>
                  <a:lnTo>
                    <a:pt x="47" y="732"/>
                  </a:lnTo>
                  <a:cubicBezTo>
                    <a:pt x="278" y="499"/>
                    <a:pt x="506" y="264"/>
                    <a:pt x="734" y="30"/>
                  </a:cubicBezTo>
                  <a:lnTo>
                    <a:pt x="692" y="1"/>
                  </a:ln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0"/>
            <p:cNvSpPr/>
            <p:nvPr/>
          </p:nvSpPr>
          <p:spPr>
            <a:xfrm>
              <a:off x="4817800" y="906100"/>
              <a:ext cx="26775" cy="26650"/>
            </a:xfrm>
            <a:custGeom>
              <a:avLst/>
              <a:gdLst/>
              <a:ahLst/>
              <a:cxnLst/>
              <a:rect l="l" t="t" r="r" b="b"/>
              <a:pathLst>
                <a:path w="1071" h="1066" extrusionOk="0">
                  <a:moveTo>
                    <a:pt x="1071" y="0"/>
                  </a:moveTo>
                  <a:lnTo>
                    <a:pt x="1071" y="0"/>
                  </a:lnTo>
                  <a:cubicBezTo>
                    <a:pt x="712" y="344"/>
                    <a:pt x="356" y="690"/>
                    <a:pt x="0" y="1036"/>
                  </a:cubicBezTo>
                  <a:lnTo>
                    <a:pt x="42" y="1065"/>
                  </a:lnTo>
                  <a:cubicBezTo>
                    <a:pt x="386" y="712"/>
                    <a:pt x="729" y="356"/>
                    <a:pt x="1071" y="0"/>
                  </a:cubicBezTo>
                  <a:close/>
                </a:path>
              </a:pathLst>
            </a:custGeom>
            <a:solidFill>
              <a:srgbClr val="FF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0"/>
            <p:cNvSpPr/>
            <p:nvPr/>
          </p:nvSpPr>
          <p:spPr>
            <a:xfrm>
              <a:off x="4793625" y="949600"/>
              <a:ext cx="6150" cy="7625"/>
            </a:xfrm>
            <a:custGeom>
              <a:avLst/>
              <a:gdLst/>
              <a:ahLst/>
              <a:cxnLst/>
              <a:rect l="l" t="t" r="r" b="b"/>
              <a:pathLst>
                <a:path w="246" h="305" extrusionOk="0">
                  <a:moveTo>
                    <a:pt x="246" y="0"/>
                  </a:moveTo>
                  <a:cubicBezTo>
                    <a:pt x="246" y="1"/>
                    <a:pt x="245" y="2"/>
                    <a:pt x="245" y="3"/>
                  </a:cubicBezTo>
                  <a:lnTo>
                    <a:pt x="245" y="3"/>
                  </a:lnTo>
                  <a:cubicBezTo>
                    <a:pt x="245" y="3"/>
                    <a:pt x="246" y="3"/>
                    <a:pt x="246" y="3"/>
                  </a:cubicBezTo>
                  <a:lnTo>
                    <a:pt x="246" y="0"/>
                  </a:lnTo>
                  <a:close/>
                  <a:moveTo>
                    <a:pt x="245" y="3"/>
                  </a:moveTo>
                  <a:lnTo>
                    <a:pt x="245" y="3"/>
                  </a:lnTo>
                  <a:cubicBezTo>
                    <a:pt x="162" y="82"/>
                    <a:pt x="81" y="163"/>
                    <a:pt x="0" y="243"/>
                  </a:cubicBezTo>
                  <a:cubicBezTo>
                    <a:pt x="17" y="263"/>
                    <a:pt x="35" y="283"/>
                    <a:pt x="52" y="305"/>
                  </a:cubicBezTo>
                  <a:lnTo>
                    <a:pt x="231" y="121"/>
                  </a:lnTo>
                  <a:cubicBezTo>
                    <a:pt x="236" y="82"/>
                    <a:pt x="241" y="44"/>
                    <a:pt x="245" y="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0"/>
            <p:cNvSpPr/>
            <p:nvPr/>
          </p:nvSpPr>
          <p:spPr>
            <a:xfrm>
              <a:off x="4799375" y="948850"/>
              <a:ext cx="2375" cy="3775"/>
            </a:xfrm>
            <a:custGeom>
              <a:avLst/>
              <a:gdLst/>
              <a:ahLst/>
              <a:cxnLst/>
              <a:rect l="l" t="t" r="r" b="b"/>
              <a:pathLst>
                <a:path w="95" h="151" extrusionOk="0">
                  <a:moveTo>
                    <a:pt x="45" y="1"/>
                  </a:moveTo>
                  <a:lnTo>
                    <a:pt x="16" y="33"/>
                  </a:lnTo>
                  <a:cubicBezTo>
                    <a:pt x="11" y="72"/>
                    <a:pt x="6" y="111"/>
                    <a:pt x="1" y="151"/>
                  </a:cubicBezTo>
                  <a:lnTo>
                    <a:pt x="94" y="57"/>
                  </a:lnTo>
                  <a:lnTo>
                    <a:pt x="48" y="3"/>
                  </a:lnTo>
                  <a:lnTo>
                    <a:pt x="45" y="1"/>
                  </a:lnTo>
                  <a:close/>
                </a:path>
              </a:pathLst>
            </a:custGeom>
            <a:solidFill>
              <a:srgbClr val="EAB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0"/>
            <p:cNvSpPr/>
            <p:nvPr/>
          </p:nvSpPr>
          <p:spPr>
            <a:xfrm>
              <a:off x="4319800" y="921975"/>
              <a:ext cx="360000" cy="360075"/>
            </a:xfrm>
            <a:custGeom>
              <a:avLst/>
              <a:gdLst/>
              <a:ahLst/>
              <a:cxnLst/>
              <a:rect l="l" t="t" r="r" b="b"/>
              <a:pathLst>
                <a:path w="14400" h="14403" extrusionOk="0">
                  <a:moveTo>
                    <a:pt x="14400" y="1"/>
                  </a:moveTo>
                  <a:lnTo>
                    <a:pt x="12576" y="1778"/>
                  </a:lnTo>
                  <a:lnTo>
                    <a:pt x="10764" y="3565"/>
                  </a:lnTo>
                  <a:lnTo>
                    <a:pt x="7154" y="7156"/>
                  </a:lnTo>
                  <a:lnTo>
                    <a:pt x="3563" y="10765"/>
                  </a:lnTo>
                  <a:lnTo>
                    <a:pt x="1778" y="12579"/>
                  </a:lnTo>
                  <a:lnTo>
                    <a:pt x="1" y="14402"/>
                  </a:lnTo>
                  <a:lnTo>
                    <a:pt x="1822" y="12625"/>
                  </a:lnTo>
                  <a:lnTo>
                    <a:pt x="3636" y="10838"/>
                  </a:lnTo>
                  <a:lnTo>
                    <a:pt x="7247" y="7247"/>
                  </a:lnTo>
                  <a:lnTo>
                    <a:pt x="10836" y="3639"/>
                  </a:lnTo>
                  <a:lnTo>
                    <a:pt x="12623" y="1825"/>
                  </a:lnTo>
                  <a:lnTo>
                    <a:pt x="1440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0"/>
            <p:cNvSpPr/>
            <p:nvPr/>
          </p:nvSpPr>
          <p:spPr>
            <a:xfrm>
              <a:off x="4029925" y="812700"/>
              <a:ext cx="648525" cy="648600"/>
            </a:xfrm>
            <a:custGeom>
              <a:avLst/>
              <a:gdLst/>
              <a:ahLst/>
              <a:cxnLst/>
              <a:rect l="l" t="t" r="r" b="b"/>
              <a:pathLst>
                <a:path w="25941" h="25944" extrusionOk="0">
                  <a:moveTo>
                    <a:pt x="25941" y="0"/>
                  </a:moveTo>
                  <a:lnTo>
                    <a:pt x="22676" y="3221"/>
                  </a:lnTo>
                  <a:lnTo>
                    <a:pt x="19426" y="6456"/>
                  </a:lnTo>
                  <a:lnTo>
                    <a:pt x="12924" y="12924"/>
                  </a:lnTo>
                  <a:lnTo>
                    <a:pt x="6453" y="19426"/>
                  </a:lnTo>
                  <a:lnTo>
                    <a:pt x="3218" y="22676"/>
                  </a:lnTo>
                  <a:lnTo>
                    <a:pt x="0" y="25943"/>
                  </a:lnTo>
                  <a:lnTo>
                    <a:pt x="0" y="25943"/>
                  </a:lnTo>
                  <a:lnTo>
                    <a:pt x="3265" y="22723"/>
                  </a:lnTo>
                  <a:lnTo>
                    <a:pt x="6517" y="19488"/>
                  </a:lnTo>
                  <a:lnTo>
                    <a:pt x="13017" y="13017"/>
                  </a:lnTo>
                  <a:lnTo>
                    <a:pt x="19488" y="6517"/>
                  </a:lnTo>
                  <a:lnTo>
                    <a:pt x="22720" y="3265"/>
                  </a:lnTo>
                  <a:lnTo>
                    <a:pt x="259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5" name="Google Shape;245;p30"/>
          <p:cNvSpPr txBox="1">
            <a:spLocks noGrp="1"/>
          </p:cNvSpPr>
          <p:nvPr>
            <p:ph type="title" idx="4294967295"/>
          </p:nvPr>
        </p:nvSpPr>
        <p:spPr>
          <a:xfrm>
            <a:off x="760026" y="5481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solidFill>
                  <a:schemeClr val="lt1"/>
                </a:solidFill>
                <a:latin typeface="Abadi" panose="020F0502020204030204" pitchFamily="34" charset="0"/>
              </a:rPr>
              <a:t>Introduction/Motivation</a:t>
            </a:r>
            <a:endParaRPr sz="3000" dirty="0">
              <a:solidFill>
                <a:schemeClr val="lt1"/>
              </a:solidFill>
              <a:latin typeface="Abadi" panose="020F0502020204030204" pitchFamily="34" charset="0"/>
            </a:endParaRPr>
          </a:p>
        </p:txBody>
      </p:sp>
      <p:sp>
        <p:nvSpPr>
          <p:cNvPr id="246" name="Google Shape;246;p30"/>
          <p:cNvSpPr txBox="1">
            <a:spLocks noGrp="1"/>
          </p:cNvSpPr>
          <p:nvPr>
            <p:ph type="body" idx="4294967295"/>
          </p:nvPr>
        </p:nvSpPr>
        <p:spPr>
          <a:xfrm>
            <a:off x="635976" y="1119925"/>
            <a:ext cx="7788000" cy="36951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1200"/>
              </a:spcBef>
              <a:spcAft>
                <a:spcPts val="0"/>
              </a:spcAft>
              <a:buClr>
                <a:schemeClr val="accent1"/>
              </a:buClr>
              <a:buSzPts val="1800"/>
              <a:buChar char="●"/>
            </a:pPr>
            <a:endParaRPr>
              <a:solidFill>
                <a:schemeClr val="accent1"/>
              </a:solidFill>
            </a:endParaRPr>
          </a:p>
          <a:p>
            <a:pPr marL="457200" lvl="0" indent="0" algn="l" rtl="0">
              <a:lnSpc>
                <a:spcPct val="100000"/>
              </a:lnSpc>
              <a:spcBef>
                <a:spcPts val="1200"/>
              </a:spcBef>
              <a:spcAft>
                <a:spcPts val="1600"/>
              </a:spcAft>
              <a:buNone/>
            </a:pPr>
            <a:endParaRPr>
              <a:solidFill>
                <a:schemeClr val="accent1"/>
              </a:solidFill>
            </a:endParaRPr>
          </a:p>
        </p:txBody>
      </p:sp>
      <p:sp>
        <p:nvSpPr>
          <p:cNvPr id="2" name="TextBox 1">
            <a:extLst>
              <a:ext uri="{FF2B5EF4-FFF2-40B4-BE49-F238E27FC236}">
                <a16:creationId xmlns:a16="http://schemas.microsoft.com/office/drawing/2014/main" id="{76CCF5A5-B949-C6DD-CA34-4DF4DE11AEC9}"/>
              </a:ext>
            </a:extLst>
          </p:cNvPr>
          <p:cNvSpPr txBox="1"/>
          <p:nvPr/>
        </p:nvSpPr>
        <p:spPr>
          <a:xfrm>
            <a:off x="832899" y="1316425"/>
            <a:ext cx="4063952" cy="2677656"/>
          </a:xfrm>
          <a:prstGeom prst="rect">
            <a:avLst/>
          </a:prstGeom>
          <a:noFill/>
        </p:spPr>
        <p:txBody>
          <a:bodyPr wrap="square" rtlCol="0">
            <a:spAutoFit/>
          </a:bodyPr>
          <a:lstStyle/>
          <a:p>
            <a:r>
              <a:rPr lang="en-US" b="1" dirty="0">
                <a:solidFill>
                  <a:schemeClr val="accent1"/>
                </a:solidFill>
                <a:latin typeface="Nunito Sans"/>
                <a:sym typeface="Nunito Sans Light"/>
              </a:rPr>
              <a:t>Field goals are a critical part of NFL strategy</a:t>
            </a:r>
          </a:p>
          <a:p>
            <a:endParaRPr lang="en-US" dirty="0"/>
          </a:p>
          <a:p>
            <a:r>
              <a:rPr lang="en-US" b="1" dirty="0">
                <a:solidFill>
                  <a:schemeClr val="accent1"/>
                </a:solidFill>
                <a:latin typeface="Nunito Sans"/>
              </a:rPr>
              <a:t>Coaches are faced with the decision: </a:t>
            </a:r>
          </a:p>
          <a:p>
            <a:r>
              <a:rPr lang="en-US" b="1" dirty="0">
                <a:solidFill>
                  <a:schemeClr val="accent1"/>
                </a:solidFill>
                <a:latin typeface="Nunito Sans"/>
              </a:rPr>
              <a:t>Attempt a FG or go for it on 4th down in order to win a game</a:t>
            </a:r>
          </a:p>
          <a:p>
            <a:endParaRPr lang="en-US" b="1" dirty="0">
              <a:solidFill>
                <a:schemeClr val="accent1"/>
              </a:solidFill>
              <a:latin typeface="Nunito Sans"/>
            </a:endParaRPr>
          </a:p>
          <a:p>
            <a:r>
              <a:rPr lang="en-US" b="1" dirty="0">
                <a:solidFill>
                  <a:schemeClr val="accent1"/>
                </a:solidFill>
                <a:latin typeface="Nunito Sans"/>
              </a:rPr>
              <a:t>Kickers are kicking father than ever, but many teams such as the Lions and Commanders opt to go for it on 4</a:t>
            </a:r>
            <a:r>
              <a:rPr lang="en-US" b="1" baseline="30000" dirty="0">
                <a:solidFill>
                  <a:schemeClr val="accent1"/>
                </a:solidFill>
                <a:latin typeface="Nunito Sans"/>
              </a:rPr>
              <a:t>th</a:t>
            </a:r>
            <a:r>
              <a:rPr lang="en-US" b="1" dirty="0">
                <a:solidFill>
                  <a:schemeClr val="accent1"/>
                </a:solidFill>
                <a:latin typeface="Nunito Sans"/>
              </a:rPr>
              <a:t> down instead of kicking a FG</a:t>
            </a:r>
          </a:p>
          <a:p>
            <a:endParaRPr lang="en-US" b="1" dirty="0">
              <a:solidFill>
                <a:schemeClr val="accent1"/>
              </a:solidFill>
              <a:latin typeface="Nunito Sans"/>
            </a:endParaRPr>
          </a:p>
          <a:p>
            <a:r>
              <a:rPr lang="en-US" b="1" dirty="0">
                <a:solidFill>
                  <a:schemeClr val="accent1"/>
                </a:solidFill>
                <a:latin typeface="Nunito Sans"/>
              </a:rPr>
              <a:t>While other teams, like the Steelers, win games by exclusively scoring with FGs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382CD96A-C306-5029-F466-EB4FE50C8F72}"/>
            </a:ext>
          </a:extLst>
        </p:cNvPr>
        <p:cNvGrpSpPr/>
        <p:nvPr/>
      </p:nvGrpSpPr>
      <p:grpSpPr>
        <a:xfrm>
          <a:off x="0" y="0"/>
          <a:ext cx="0" cy="0"/>
          <a:chOff x="0" y="0"/>
          <a:chExt cx="0" cy="0"/>
        </a:xfrm>
      </p:grpSpPr>
      <p:grpSp>
        <p:nvGrpSpPr>
          <p:cNvPr id="190" name="Google Shape;190;p30">
            <a:extLst>
              <a:ext uri="{FF2B5EF4-FFF2-40B4-BE49-F238E27FC236}">
                <a16:creationId xmlns:a16="http://schemas.microsoft.com/office/drawing/2014/main" id="{622379FC-B3A2-3782-1F9B-B3806C90E515}"/>
              </a:ext>
            </a:extLst>
          </p:cNvPr>
          <p:cNvGrpSpPr/>
          <p:nvPr/>
        </p:nvGrpSpPr>
        <p:grpSpPr>
          <a:xfrm flipH="1">
            <a:off x="5362004" y="1327366"/>
            <a:ext cx="2742357" cy="3803561"/>
            <a:chOff x="845875" y="2400750"/>
            <a:chExt cx="942650" cy="1307425"/>
          </a:xfrm>
        </p:grpSpPr>
        <p:sp>
          <p:nvSpPr>
            <p:cNvPr id="191" name="Google Shape;191;p30">
              <a:extLst>
                <a:ext uri="{FF2B5EF4-FFF2-40B4-BE49-F238E27FC236}">
                  <a16:creationId xmlns:a16="http://schemas.microsoft.com/office/drawing/2014/main" id="{630AEE70-8D0C-4723-EC6A-817820E8E515}"/>
                </a:ext>
              </a:extLst>
            </p:cNvPr>
            <p:cNvSpPr/>
            <p:nvPr/>
          </p:nvSpPr>
          <p:spPr>
            <a:xfrm>
              <a:off x="1758800" y="2513325"/>
              <a:ext cx="19400" cy="1035150"/>
            </a:xfrm>
            <a:custGeom>
              <a:avLst/>
              <a:gdLst/>
              <a:ahLst/>
              <a:cxnLst/>
              <a:rect l="l" t="t" r="r" b="b"/>
              <a:pathLst>
                <a:path w="776" h="41406" extrusionOk="0">
                  <a:moveTo>
                    <a:pt x="390" y="1"/>
                  </a:moveTo>
                  <a:cubicBezTo>
                    <a:pt x="181" y="1"/>
                    <a:pt x="1" y="168"/>
                    <a:pt x="1" y="385"/>
                  </a:cubicBezTo>
                  <a:lnTo>
                    <a:pt x="1" y="41308"/>
                  </a:lnTo>
                  <a:lnTo>
                    <a:pt x="775" y="41406"/>
                  </a:lnTo>
                  <a:lnTo>
                    <a:pt x="775" y="385"/>
                  </a:lnTo>
                  <a:cubicBezTo>
                    <a:pt x="775" y="194"/>
                    <a:pt x="631" y="29"/>
                    <a:pt x="435" y="3"/>
                  </a:cubicBezTo>
                  <a:cubicBezTo>
                    <a:pt x="420" y="1"/>
                    <a:pt x="405" y="1"/>
                    <a:pt x="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0">
              <a:extLst>
                <a:ext uri="{FF2B5EF4-FFF2-40B4-BE49-F238E27FC236}">
                  <a16:creationId xmlns:a16="http://schemas.microsoft.com/office/drawing/2014/main" id="{DADC2DDE-E6E0-5E4A-15F1-9B4011CD88E4}"/>
                </a:ext>
              </a:extLst>
            </p:cNvPr>
            <p:cNvSpPr/>
            <p:nvPr/>
          </p:nvSpPr>
          <p:spPr>
            <a:xfrm>
              <a:off x="866000" y="2956700"/>
              <a:ext cx="902525" cy="131825"/>
            </a:xfrm>
            <a:custGeom>
              <a:avLst/>
              <a:gdLst/>
              <a:ahLst/>
              <a:cxnLst/>
              <a:rect l="l" t="t" r="r" b="b"/>
              <a:pathLst>
                <a:path w="36101" h="5273" extrusionOk="0">
                  <a:moveTo>
                    <a:pt x="1" y="0"/>
                  </a:moveTo>
                  <a:lnTo>
                    <a:pt x="1" y="770"/>
                  </a:lnTo>
                  <a:lnTo>
                    <a:pt x="36100" y="5273"/>
                  </a:lnTo>
                  <a:lnTo>
                    <a:pt x="36100" y="449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0">
              <a:extLst>
                <a:ext uri="{FF2B5EF4-FFF2-40B4-BE49-F238E27FC236}">
                  <a16:creationId xmlns:a16="http://schemas.microsoft.com/office/drawing/2014/main" id="{4BCD52F8-19F8-02B6-01E6-BBC5D6341370}"/>
                </a:ext>
              </a:extLst>
            </p:cNvPr>
            <p:cNvSpPr/>
            <p:nvPr/>
          </p:nvSpPr>
          <p:spPr>
            <a:xfrm>
              <a:off x="1748225" y="3512525"/>
              <a:ext cx="40300" cy="195650"/>
            </a:xfrm>
            <a:custGeom>
              <a:avLst/>
              <a:gdLst/>
              <a:ahLst/>
              <a:cxnLst/>
              <a:rect l="l" t="t" r="r" b="b"/>
              <a:pathLst>
                <a:path w="1612" h="7826" extrusionOk="0">
                  <a:moveTo>
                    <a:pt x="799" y="1"/>
                  </a:moveTo>
                  <a:cubicBezTo>
                    <a:pt x="364" y="1"/>
                    <a:pt x="1" y="353"/>
                    <a:pt x="1" y="803"/>
                  </a:cubicBezTo>
                  <a:lnTo>
                    <a:pt x="6" y="7826"/>
                  </a:lnTo>
                  <a:lnTo>
                    <a:pt x="1612" y="7826"/>
                  </a:lnTo>
                  <a:lnTo>
                    <a:pt x="1612" y="803"/>
                  </a:lnTo>
                  <a:cubicBezTo>
                    <a:pt x="1612" y="395"/>
                    <a:pt x="1307" y="54"/>
                    <a:pt x="904" y="8"/>
                  </a:cubicBezTo>
                  <a:cubicBezTo>
                    <a:pt x="869" y="3"/>
                    <a:pt x="834" y="1"/>
                    <a:pt x="7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0">
              <a:extLst>
                <a:ext uri="{FF2B5EF4-FFF2-40B4-BE49-F238E27FC236}">
                  <a16:creationId xmlns:a16="http://schemas.microsoft.com/office/drawing/2014/main" id="{1783B2D1-A90A-3D24-538D-7C29E6AACBEF}"/>
                </a:ext>
              </a:extLst>
            </p:cNvPr>
            <p:cNvSpPr/>
            <p:nvPr/>
          </p:nvSpPr>
          <p:spPr>
            <a:xfrm>
              <a:off x="856325" y="2400750"/>
              <a:ext cx="19375" cy="1035300"/>
            </a:xfrm>
            <a:custGeom>
              <a:avLst/>
              <a:gdLst/>
              <a:ahLst/>
              <a:cxnLst/>
              <a:rect l="l" t="t" r="r" b="b"/>
              <a:pathLst>
                <a:path w="775" h="41412" extrusionOk="0">
                  <a:moveTo>
                    <a:pt x="390" y="1"/>
                  </a:moveTo>
                  <a:cubicBezTo>
                    <a:pt x="181" y="1"/>
                    <a:pt x="0" y="168"/>
                    <a:pt x="0" y="385"/>
                  </a:cubicBezTo>
                  <a:lnTo>
                    <a:pt x="0" y="41313"/>
                  </a:lnTo>
                  <a:lnTo>
                    <a:pt x="775" y="41411"/>
                  </a:lnTo>
                  <a:lnTo>
                    <a:pt x="775" y="385"/>
                  </a:lnTo>
                  <a:cubicBezTo>
                    <a:pt x="775" y="194"/>
                    <a:pt x="630" y="29"/>
                    <a:pt x="434" y="3"/>
                  </a:cubicBezTo>
                  <a:cubicBezTo>
                    <a:pt x="419" y="2"/>
                    <a:pt x="404" y="1"/>
                    <a:pt x="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0">
              <a:extLst>
                <a:ext uri="{FF2B5EF4-FFF2-40B4-BE49-F238E27FC236}">
                  <a16:creationId xmlns:a16="http://schemas.microsoft.com/office/drawing/2014/main" id="{67ED5AE6-2591-3C92-8992-C366DB76AAA5}"/>
                </a:ext>
              </a:extLst>
            </p:cNvPr>
            <p:cNvSpPr/>
            <p:nvPr/>
          </p:nvSpPr>
          <p:spPr>
            <a:xfrm>
              <a:off x="845875" y="3399975"/>
              <a:ext cx="40150" cy="308200"/>
            </a:xfrm>
            <a:custGeom>
              <a:avLst/>
              <a:gdLst/>
              <a:ahLst/>
              <a:cxnLst/>
              <a:rect l="l" t="t" r="r" b="b"/>
              <a:pathLst>
                <a:path w="1606" h="12328" extrusionOk="0">
                  <a:moveTo>
                    <a:pt x="799" y="0"/>
                  </a:moveTo>
                  <a:cubicBezTo>
                    <a:pt x="364" y="0"/>
                    <a:pt x="0" y="352"/>
                    <a:pt x="0" y="802"/>
                  </a:cubicBezTo>
                  <a:lnTo>
                    <a:pt x="0" y="12328"/>
                  </a:lnTo>
                  <a:lnTo>
                    <a:pt x="1606" y="12328"/>
                  </a:lnTo>
                  <a:lnTo>
                    <a:pt x="1606" y="802"/>
                  </a:lnTo>
                  <a:cubicBezTo>
                    <a:pt x="1606" y="399"/>
                    <a:pt x="1306" y="53"/>
                    <a:pt x="904" y="7"/>
                  </a:cubicBezTo>
                  <a:cubicBezTo>
                    <a:pt x="868" y="2"/>
                    <a:pt x="833" y="0"/>
                    <a:pt x="7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30">
            <a:extLst>
              <a:ext uri="{FF2B5EF4-FFF2-40B4-BE49-F238E27FC236}">
                <a16:creationId xmlns:a16="http://schemas.microsoft.com/office/drawing/2014/main" id="{6FE57CF9-0790-9F1C-A867-3B047D8F1387}"/>
              </a:ext>
            </a:extLst>
          </p:cNvPr>
          <p:cNvGrpSpPr/>
          <p:nvPr/>
        </p:nvGrpSpPr>
        <p:grpSpPr>
          <a:xfrm>
            <a:off x="4169943" y="2086281"/>
            <a:ext cx="2386842" cy="1784370"/>
            <a:chOff x="4029925" y="586725"/>
            <a:chExt cx="1224775" cy="915625"/>
          </a:xfrm>
        </p:grpSpPr>
        <p:sp>
          <p:nvSpPr>
            <p:cNvPr id="197" name="Google Shape;197;p30">
              <a:extLst>
                <a:ext uri="{FF2B5EF4-FFF2-40B4-BE49-F238E27FC236}">
                  <a16:creationId xmlns:a16="http://schemas.microsoft.com/office/drawing/2014/main" id="{ABCF3279-DEAD-ECC0-95C3-09FEBD9D2895}"/>
                </a:ext>
              </a:extLst>
            </p:cNvPr>
            <p:cNvSpPr/>
            <p:nvPr/>
          </p:nvSpPr>
          <p:spPr>
            <a:xfrm>
              <a:off x="4795575" y="649425"/>
              <a:ext cx="401425" cy="396825"/>
            </a:xfrm>
            <a:custGeom>
              <a:avLst/>
              <a:gdLst/>
              <a:ahLst/>
              <a:cxnLst/>
              <a:rect l="l" t="t" r="r" b="b"/>
              <a:pathLst>
                <a:path w="16057" h="15873" extrusionOk="0">
                  <a:moveTo>
                    <a:pt x="14012" y="1"/>
                  </a:moveTo>
                  <a:cubicBezTo>
                    <a:pt x="13004" y="1"/>
                    <a:pt x="11996" y="90"/>
                    <a:pt x="11003" y="269"/>
                  </a:cubicBezTo>
                  <a:cubicBezTo>
                    <a:pt x="10472" y="362"/>
                    <a:pt x="9950" y="485"/>
                    <a:pt x="9432" y="632"/>
                  </a:cubicBezTo>
                  <a:cubicBezTo>
                    <a:pt x="7576" y="1170"/>
                    <a:pt x="5592" y="2137"/>
                    <a:pt x="3891" y="3836"/>
                  </a:cubicBezTo>
                  <a:cubicBezTo>
                    <a:pt x="2190" y="5537"/>
                    <a:pt x="1226" y="7520"/>
                    <a:pt x="688" y="9376"/>
                  </a:cubicBezTo>
                  <a:cubicBezTo>
                    <a:pt x="538" y="9894"/>
                    <a:pt x="418" y="10417"/>
                    <a:pt x="322" y="10947"/>
                  </a:cubicBezTo>
                  <a:cubicBezTo>
                    <a:pt x="77" y="12324"/>
                    <a:pt x="1" y="13728"/>
                    <a:pt x="97" y="15125"/>
                  </a:cubicBezTo>
                  <a:cubicBezTo>
                    <a:pt x="126" y="15532"/>
                    <a:pt x="163" y="15766"/>
                    <a:pt x="163" y="15766"/>
                  </a:cubicBezTo>
                  <a:cubicBezTo>
                    <a:pt x="163" y="15766"/>
                    <a:pt x="236" y="15775"/>
                    <a:pt x="374" y="15793"/>
                  </a:cubicBezTo>
                  <a:cubicBezTo>
                    <a:pt x="660" y="15824"/>
                    <a:pt x="1218" y="15873"/>
                    <a:pt x="1962" y="15873"/>
                  </a:cubicBezTo>
                  <a:cubicBezTo>
                    <a:pt x="2782" y="15873"/>
                    <a:pt x="3828" y="15813"/>
                    <a:pt x="4981" y="15606"/>
                  </a:cubicBezTo>
                  <a:cubicBezTo>
                    <a:pt x="5511" y="15510"/>
                    <a:pt x="6034" y="15387"/>
                    <a:pt x="6552" y="15240"/>
                  </a:cubicBezTo>
                  <a:cubicBezTo>
                    <a:pt x="8408" y="14703"/>
                    <a:pt x="10391" y="13738"/>
                    <a:pt x="12092" y="12037"/>
                  </a:cubicBezTo>
                  <a:cubicBezTo>
                    <a:pt x="13794" y="10338"/>
                    <a:pt x="14758" y="8352"/>
                    <a:pt x="15296" y="6497"/>
                  </a:cubicBezTo>
                  <a:cubicBezTo>
                    <a:pt x="15443" y="5979"/>
                    <a:pt x="15566" y="5456"/>
                    <a:pt x="15659" y="4926"/>
                  </a:cubicBezTo>
                  <a:cubicBezTo>
                    <a:pt x="16057" y="2729"/>
                    <a:pt x="15914" y="920"/>
                    <a:pt x="15848" y="321"/>
                  </a:cubicBezTo>
                  <a:cubicBezTo>
                    <a:pt x="15831" y="183"/>
                    <a:pt x="15821" y="107"/>
                    <a:pt x="15821" y="107"/>
                  </a:cubicBezTo>
                  <a:cubicBezTo>
                    <a:pt x="15821" y="107"/>
                    <a:pt x="15588" y="73"/>
                    <a:pt x="15180" y="41"/>
                  </a:cubicBezTo>
                  <a:cubicBezTo>
                    <a:pt x="14791" y="14"/>
                    <a:pt x="14402" y="1"/>
                    <a:pt x="14012" y="1"/>
                  </a:cubicBezTo>
                  <a:close/>
                </a:path>
              </a:pathLst>
            </a:custGeom>
            <a:solidFill>
              <a:srgbClr val="D47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0">
              <a:extLst>
                <a:ext uri="{FF2B5EF4-FFF2-40B4-BE49-F238E27FC236}">
                  <a16:creationId xmlns:a16="http://schemas.microsoft.com/office/drawing/2014/main" id="{783EA289-DE3A-B223-6BAB-5F0105E0E3C3}"/>
                </a:ext>
              </a:extLst>
            </p:cNvPr>
            <p:cNvSpPr/>
            <p:nvPr/>
          </p:nvSpPr>
          <p:spPr>
            <a:xfrm>
              <a:off x="4797975" y="650425"/>
              <a:ext cx="393750" cy="393825"/>
            </a:xfrm>
            <a:custGeom>
              <a:avLst/>
              <a:gdLst/>
              <a:ahLst/>
              <a:cxnLst/>
              <a:rect l="l" t="t" r="r" b="b"/>
              <a:pathLst>
                <a:path w="15750" h="15753" extrusionOk="0">
                  <a:moveTo>
                    <a:pt x="15084" y="1"/>
                  </a:moveTo>
                  <a:cubicBezTo>
                    <a:pt x="13580" y="406"/>
                    <a:pt x="9500" y="1793"/>
                    <a:pt x="5644" y="5647"/>
                  </a:cubicBezTo>
                  <a:lnTo>
                    <a:pt x="5646" y="5647"/>
                  </a:lnTo>
                  <a:cubicBezTo>
                    <a:pt x="1790" y="9500"/>
                    <a:pt x="406" y="13580"/>
                    <a:pt x="1" y="15085"/>
                  </a:cubicBezTo>
                  <a:cubicBezTo>
                    <a:pt x="30" y="15492"/>
                    <a:pt x="67" y="15726"/>
                    <a:pt x="67" y="15726"/>
                  </a:cubicBezTo>
                  <a:cubicBezTo>
                    <a:pt x="67" y="15726"/>
                    <a:pt x="140" y="15735"/>
                    <a:pt x="278" y="15753"/>
                  </a:cubicBezTo>
                  <a:cubicBezTo>
                    <a:pt x="327" y="15495"/>
                    <a:pt x="1328" y="10566"/>
                    <a:pt x="5946" y="5949"/>
                  </a:cubicBezTo>
                  <a:cubicBezTo>
                    <a:pt x="10570" y="1324"/>
                    <a:pt x="15492" y="330"/>
                    <a:pt x="15750" y="281"/>
                  </a:cubicBezTo>
                  <a:cubicBezTo>
                    <a:pt x="15735" y="143"/>
                    <a:pt x="15723" y="67"/>
                    <a:pt x="15723" y="67"/>
                  </a:cubicBezTo>
                  <a:cubicBezTo>
                    <a:pt x="15723" y="67"/>
                    <a:pt x="15492" y="33"/>
                    <a:pt x="15084" y="1"/>
                  </a:cubicBezTo>
                  <a:close/>
                </a:path>
              </a:pathLst>
            </a:custGeom>
            <a:solidFill>
              <a:srgbClr val="CC6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a:extLst>
                <a:ext uri="{FF2B5EF4-FFF2-40B4-BE49-F238E27FC236}">
                  <a16:creationId xmlns:a16="http://schemas.microsoft.com/office/drawing/2014/main" id="{94BEB44E-CE38-7B65-D523-75612E8CD385}"/>
                </a:ext>
              </a:extLst>
            </p:cNvPr>
            <p:cNvSpPr/>
            <p:nvPr/>
          </p:nvSpPr>
          <p:spPr>
            <a:xfrm>
              <a:off x="5031300" y="656150"/>
              <a:ext cx="155775" cy="155700"/>
            </a:xfrm>
            <a:custGeom>
              <a:avLst/>
              <a:gdLst/>
              <a:ahLst/>
              <a:cxnLst/>
              <a:rect l="l" t="t" r="r" b="b"/>
              <a:pathLst>
                <a:path w="6231" h="6228" extrusionOk="0">
                  <a:moveTo>
                    <a:pt x="1571" y="0"/>
                  </a:moveTo>
                  <a:cubicBezTo>
                    <a:pt x="1043" y="93"/>
                    <a:pt x="518" y="216"/>
                    <a:pt x="0" y="363"/>
                  </a:cubicBezTo>
                  <a:lnTo>
                    <a:pt x="3" y="363"/>
                  </a:lnTo>
                  <a:cubicBezTo>
                    <a:pt x="646" y="1534"/>
                    <a:pt x="1502" y="2668"/>
                    <a:pt x="2531" y="3699"/>
                  </a:cubicBezTo>
                  <a:cubicBezTo>
                    <a:pt x="3559" y="4728"/>
                    <a:pt x="4696" y="5585"/>
                    <a:pt x="5864" y="6228"/>
                  </a:cubicBezTo>
                  <a:cubicBezTo>
                    <a:pt x="6014" y="5710"/>
                    <a:pt x="6137" y="5187"/>
                    <a:pt x="6230" y="4657"/>
                  </a:cubicBezTo>
                  <a:cubicBezTo>
                    <a:pt x="4320" y="3508"/>
                    <a:pt x="2722" y="1907"/>
                    <a:pt x="1571"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0">
              <a:extLst>
                <a:ext uri="{FF2B5EF4-FFF2-40B4-BE49-F238E27FC236}">
                  <a16:creationId xmlns:a16="http://schemas.microsoft.com/office/drawing/2014/main" id="{D2D512E0-696C-2AD4-E6EE-B6AAC1AF3C8D}"/>
                </a:ext>
              </a:extLst>
            </p:cNvPr>
            <p:cNvSpPr/>
            <p:nvPr/>
          </p:nvSpPr>
          <p:spPr>
            <a:xfrm>
              <a:off x="4803625" y="883825"/>
              <a:ext cx="155700" cy="155750"/>
            </a:xfrm>
            <a:custGeom>
              <a:avLst/>
              <a:gdLst/>
              <a:ahLst/>
              <a:cxnLst/>
              <a:rect l="l" t="t" r="r" b="b"/>
              <a:pathLst>
                <a:path w="6228" h="6230" extrusionOk="0">
                  <a:moveTo>
                    <a:pt x="366" y="0"/>
                  </a:moveTo>
                  <a:cubicBezTo>
                    <a:pt x="216" y="518"/>
                    <a:pt x="96" y="1041"/>
                    <a:pt x="0" y="1571"/>
                  </a:cubicBezTo>
                  <a:cubicBezTo>
                    <a:pt x="1910" y="2722"/>
                    <a:pt x="3508" y="4320"/>
                    <a:pt x="4659" y="6230"/>
                  </a:cubicBezTo>
                  <a:cubicBezTo>
                    <a:pt x="5187" y="6134"/>
                    <a:pt x="5712" y="6011"/>
                    <a:pt x="6228" y="5864"/>
                  </a:cubicBezTo>
                  <a:cubicBezTo>
                    <a:pt x="5585" y="4693"/>
                    <a:pt x="4728" y="3559"/>
                    <a:pt x="3700" y="2531"/>
                  </a:cubicBezTo>
                  <a:cubicBezTo>
                    <a:pt x="2671" y="1502"/>
                    <a:pt x="1534" y="643"/>
                    <a:pt x="366"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0">
              <a:extLst>
                <a:ext uri="{FF2B5EF4-FFF2-40B4-BE49-F238E27FC236}">
                  <a16:creationId xmlns:a16="http://schemas.microsoft.com/office/drawing/2014/main" id="{164FF5E8-68D1-F2F1-7616-817DA62392EF}"/>
                </a:ext>
              </a:extLst>
            </p:cNvPr>
            <p:cNvSpPr/>
            <p:nvPr/>
          </p:nvSpPr>
          <p:spPr>
            <a:xfrm>
              <a:off x="4889725" y="745000"/>
              <a:ext cx="108150" cy="103050"/>
            </a:xfrm>
            <a:custGeom>
              <a:avLst/>
              <a:gdLst/>
              <a:ahLst/>
              <a:cxnLst/>
              <a:rect l="l" t="t" r="r" b="b"/>
              <a:pathLst>
                <a:path w="4326" h="4122" extrusionOk="0">
                  <a:moveTo>
                    <a:pt x="3374" y="1"/>
                  </a:moveTo>
                  <a:cubicBezTo>
                    <a:pt x="3178" y="1"/>
                    <a:pt x="2982" y="67"/>
                    <a:pt x="2821" y="204"/>
                  </a:cubicBezTo>
                  <a:cubicBezTo>
                    <a:pt x="2376" y="590"/>
                    <a:pt x="1942" y="995"/>
                    <a:pt x="1525" y="1412"/>
                  </a:cubicBezTo>
                  <a:cubicBezTo>
                    <a:pt x="1107" y="1829"/>
                    <a:pt x="702" y="2264"/>
                    <a:pt x="317" y="2708"/>
                  </a:cubicBezTo>
                  <a:cubicBezTo>
                    <a:pt x="0" y="3076"/>
                    <a:pt x="52" y="3631"/>
                    <a:pt x="430" y="3935"/>
                  </a:cubicBezTo>
                  <a:cubicBezTo>
                    <a:pt x="586" y="4060"/>
                    <a:pt x="774" y="4121"/>
                    <a:pt x="961" y="4121"/>
                  </a:cubicBezTo>
                  <a:cubicBezTo>
                    <a:pt x="1200" y="4121"/>
                    <a:pt x="1438" y="4022"/>
                    <a:pt x="1606" y="3827"/>
                  </a:cubicBezTo>
                  <a:cubicBezTo>
                    <a:pt x="1964" y="3413"/>
                    <a:pt x="2342" y="3008"/>
                    <a:pt x="2730" y="2617"/>
                  </a:cubicBezTo>
                  <a:cubicBezTo>
                    <a:pt x="3118" y="2229"/>
                    <a:pt x="3523" y="1851"/>
                    <a:pt x="3940" y="1493"/>
                  </a:cubicBezTo>
                  <a:cubicBezTo>
                    <a:pt x="4291" y="1184"/>
                    <a:pt x="4325" y="649"/>
                    <a:pt x="4018" y="295"/>
                  </a:cubicBezTo>
                  <a:cubicBezTo>
                    <a:pt x="3850" y="101"/>
                    <a:pt x="3612" y="1"/>
                    <a:pt x="3374" y="1"/>
                  </a:cubicBezTo>
                  <a:close/>
                </a:path>
              </a:pathLst>
            </a:custGeom>
            <a:solidFill>
              <a:srgbClr val="B85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0">
              <a:extLst>
                <a:ext uri="{FF2B5EF4-FFF2-40B4-BE49-F238E27FC236}">
                  <a16:creationId xmlns:a16="http://schemas.microsoft.com/office/drawing/2014/main" id="{B34684F3-3003-F15C-1A79-F4E17C47D38E}"/>
                </a:ext>
              </a:extLst>
            </p:cNvPr>
            <p:cNvSpPr/>
            <p:nvPr/>
          </p:nvSpPr>
          <p:spPr>
            <a:xfrm>
              <a:off x="4948075" y="744825"/>
              <a:ext cx="48325" cy="46700"/>
            </a:xfrm>
            <a:custGeom>
              <a:avLst/>
              <a:gdLst/>
              <a:ahLst/>
              <a:cxnLst/>
              <a:rect l="l" t="t" r="r" b="b"/>
              <a:pathLst>
                <a:path w="1933" h="1868" extrusionOk="0">
                  <a:moveTo>
                    <a:pt x="365" y="1"/>
                  </a:moveTo>
                  <a:cubicBezTo>
                    <a:pt x="281" y="1"/>
                    <a:pt x="196" y="33"/>
                    <a:pt x="131" y="98"/>
                  </a:cubicBezTo>
                  <a:cubicBezTo>
                    <a:pt x="3" y="224"/>
                    <a:pt x="1" y="430"/>
                    <a:pt x="123" y="560"/>
                  </a:cubicBezTo>
                  <a:lnTo>
                    <a:pt x="1333" y="1768"/>
                  </a:lnTo>
                  <a:cubicBezTo>
                    <a:pt x="1398" y="1834"/>
                    <a:pt x="1483" y="1867"/>
                    <a:pt x="1568" y="1867"/>
                  </a:cubicBezTo>
                  <a:cubicBezTo>
                    <a:pt x="1653" y="1867"/>
                    <a:pt x="1738" y="1835"/>
                    <a:pt x="1802" y="1770"/>
                  </a:cubicBezTo>
                  <a:cubicBezTo>
                    <a:pt x="1932" y="1640"/>
                    <a:pt x="1932" y="1429"/>
                    <a:pt x="1800" y="1301"/>
                  </a:cubicBezTo>
                  <a:lnTo>
                    <a:pt x="592" y="91"/>
                  </a:lnTo>
                  <a:cubicBezTo>
                    <a:pt x="528" y="31"/>
                    <a:pt x="447" y="1"/>
                    <a:pt x="365" y="1"/>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0">
              <a:extLst>
                <a:ext uri="{FF2B5EF4-FFF2-40B4-BE49-F238E27FC236}">
                  <a16:creationId xmlns:a16="http://schemas.microsoft.com/office/drawing/2014/main" id="{51424968-9F38-810B-C563-CD39C8A65C21}"/>
                </a:ext>
              </a:extLst>
            </p:cNvPr>
            <p:cNvSpPr/>
            <p:nvPr/>
          </p:nvSpPr>
          <p:spPr>
            <a:xfrm>
              <a:off x="4928450" y="762875"/>
              <a:ext cx="48075" cy="46475"/>
            </a:xfrm>
            <a:custGeom>
              <a:avLst/>
              <a:gdLst/>
              <a:ahLst/>
              <a:cxnLst/>
              <a:rect l="l" t="t" r="r" b="b"/>
              <a:pathLst>
                <a:path w="1923" h="1859" extrusionOk="0">
                  <a:moveTo>
                    <a:pt x="361" y="0"/>
                  </a:moveTo>
                  <a:cubicBezTo>
                    <a:pt x="277" y="0"/>
                    <a:pt x="193" y="32"/>
                    <a:pt x="128" y="96"/>
                  </a:cubicBezTo>
                  <a:cubicBezTo>
                    <a:pt x="3" y="223"/>
                    <a:pt x="0" y="427"/>
                    <a:pt x="123" y="557"/>
                  </a:cubicBezTo>
                  <a:lnTo>
                    <a:pt x="1328" y="1765"/>
                  </a:lnTo>
                  <a:cubicBezTo>
                    <a:pt x="1393" y="1827"/>
                    <a:pt x="1476" y="1858"/>
                    <a:pt x="1559" y="1858"/>
                  </a:cubicBezTo>
                  <a:cubicBezTo>
                    <a:pt x="1643" y="1858"/>
                    <a:pt x="1728" y="1826"/>
                    <a:pt x="1792" y="1760"/>
                  </a:cubicBezTo>
                  <a:cubicBezTo>
                    <a:pt x="1920" y="1632"/>
                    <a:pt x="1922" y="1426"/>
                    <a:pt x="1794" y="1296"/>
                  </a:cubicBezTo>
                  <a:lnTo>
                    <a:pt x="589" y="91"/>
                  </a:lnTo>
                  <a:cubicBezTo>
                    <a:pt x="525" y="30"/>
                    <a:pt x="443" y="0"/>
                    <a:pt x="361"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0">
              <a:extLst>
                <a:ext uri="{FF2B5EF4-FFF2-40B4-BE49-F238E27FC236}">
                  <a16:creationId xmlns:a16="http://schemas.microsoft.com/office/drawing/2014/main" id="{F59736A8-2A77-DB8A-A943-199F6D162701}"/>
                </a:ext>
              </a:extLst>
            </p:cNvPr>
            <p:cNvSpPr/>
            <p:nvPr/>
          </p:nvSpPr>
          <p:spPr>
            <a:xfrm>
              <a:off x="4909225" y="781350"/>
              <a:ext cx="48625" cy="46950"/>
            </a:xfrm>
            <a:custGeom>
              <a:avLst/>
              <a:gdLst/>
              <a:ahLst/>
              <a:cxnLst/>
              <a:rect l="l" t="t" r="r" b="b"/>
              <a:pathLst>
                <a:path w="1945" h="1878" extrusionOk="0">
                  <a:moveTo>
                    <a:pt x="365" y="1"/>
                  </a:moveTo>
                  <a:cubicBezTo>
                    <a:pt x="280" y="1"/>
                    <a:pt x="196" y="33"/>
                    <a:pt x="131" y="98"/>
                  </a:cubicBezTo>
                  <a:cubicBezTo>
                    <a:pt x="1" y="228"/>
                    <a:pt x="1" y="439"/>
                    <a:pt x="133" y="567"/>
                  </a:cubicBezTo>
                  <a:lnTo>
                    <a:pt x="1344" y="1777"/>
                  </a:lnTo>
                  <a:cubicBezTo>
                    <a:pt x="1408" y="1844"/>
                    <a:pt x="1494" y="1878"/>
                    <a:pt x="1581" y="1878"/>
                  </a:cubicBezTo>
                  <a:cubicBezTo>
                    <a:pt x="1665" y="1878"/>
                    <a:pt x="1749" y="1846"/>
                    <a:pt x="1815" y="1782"/>
                  </a:cubicBezTo>
                  <a:cubicBezTo>
                    <a:pt x="1945" y="1649"/>
                    <a:pt x="1942" y="1438"/>
                    <a:pt x="1810" y="1311"/>
                  </a:cubicBezTo>
                  <a:lnTo>
                    <a:pt x="600" y="100"/>
                  </a:lnTo>
                  <a:cubicBezTo>
                    <a:pt x="536" y="34"/>
                    <a:pt x="450" y="1"/>
                    <a:pt x="365" y="1"/>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a:extLst>
                <a:ext uri="{FF2B5EF4-FFF2-40B4-BE49-F238E27FC236}">
                  <a16:creationId xmlns:a16="http://schemas.microsoft.com/office/drawing/2014/main" id="{ECE893DF-CEFC-E831-0D9B-10BC4D45A3D0}"/>
                </a:ext>
              </a:extLst>
            </p:cNvPr>
            <p:cNvSpPr/>
            <p:nvPr/>
          </p:nvSpPr>
          <p:spPr>
            <a:xfrm>
              <a:off x="4891550" y="801375"/>
              <a:ext cx="48075" cy="46425"/>
            </a:xfrm>
            <a:custGeom>
              <a:avLst/>
              <a:gdLst/>
              <a:ahLst/>
              <a:cxnLst/>
              <a:rect l="l" t="t" r="r" b="b"/>
              <a:pathLst>
                <a:path w="1923" h="1857" extrusionOk="0">
                  <a:moveTo>
                    <a:pt x="365" y="0"/>
                  </a:moveTo>
                  <a:cubicBezTo>
                    <a:pt x="280" y="0"/>
                    <a:pt x="195" y="33"/>
                    <a:pt x="131" y="97"/>
                  </a:cubicBezTo>
                  <a:cubicBezTo>
                    <a:pt x="3" y="225"/>
                    <a:pt x="1" y="429"/>
                    <a:pt x="124" y="559"/>
                  </a:cubicBezTo>
                  <a:lnTo>
                    <a:pt x="1334" y="1766"/>
                  </a:lnTo>
                  <a:cubicBezTo>
                    <a:pt x="1398" y="1827"/>
                    <a:pt x="1480" y="1857"/>
                    <a:pt x="1561" y="1857"/>
                  </a:cubicBezTo>
                  <a:cubicBezTo>
                    <a:pt x="1645" y="1857"/>
                    <a:pt x="1729" y="1825"/>
                    <a:pt x="1793" y="1761"/>
                  </a:cubicBezTo>
                  <a:cubicBezTo>
                    <a:pt x="1920" y="1634"/>
                    <a:pt x="1923" y="1430"/>
                    <a:pt x="1800" y="1300"/>
                  </a:cubicBezTo>
                  <a:lnTo>
                    <a:pt x="590" y="90"/>
                  </a:lnTo>
                  <a:cubicBezTo>
                    <a:pt x="527" y="30"/>
                    <a:pt x="446" y="0"/>
                    <a:pt x="365"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0">
              <a:extLst>
                <a:ext uri="{FF2B5EF4-FFF2-40B4-BE49-F238E27FC236}">
                  <a16:creationId xmlns:a16="http://schemas.microsoft.com/office/drawing/2014/main" id="{8013BCA0-3CA3-6006-10C1-99C04A0C03EC}"/>
                </a:ext>
              </a:extLst>
            </p:cNvPr>
            <p:cNvSpPr/>
            <p:nvPr/>
          </p:nvSpPr>
          <p:spPr>
            <a:xfrm>
              <a:off x="5191025" y="652150"/>
              <a:ext cx="700" cy="5300"/>
            </a:xfrm>
            <a:custGeom>
              <a:avLst/>
              <a:gdLst/>
              <a:ahLst/>
              <a:cxnLst/>
              <a:rect l="l" t="t" r="r" b="b"/>
              <a:pathLst>
                <a:path w="28" h="212" extrusionOk="0">
                  <a:moveTo>
                    <a:pt x="1" y="1"/>
                  </a:moveTo>
                  <a:cubicBezTo>
                    <a:pt x="3" y="8"/>
                    <a:pt x="13" y="82"/>
                    <a:pt x="28" y="212"/>
                  </a:cubicBezTo>
                  <a:cubicBezTo>
                    <a:pt x="15" y="82"/>
                    <a:pt x="3" y="8"/>
                    <a:pt x="3" y="1"/>
                  </a:cubicBezTo>
                  <a:close/>
                </a:path>
              </a:pathLst>
            </a:custGeom>
            <a:solidFill>
              <a:srgbClr val="DCC7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0">
              <a:extLst>
                <a:ext uri="{FF2B5EF4-FFF2-40B4-BE49-F238E27FC236}">
                  <a16:creationId xmlns:a16="http://schemas.microsoft.com/office/drawing/2014/main" id="{0B821945-3BDC-33AD-534B-766EF47B9723}"/>
                </a:ext>
              </a:extLst>
            </p:cNvPr>
            <p:cNvSpPr/>
            <p:nvPr/>
          </p:nvSpPr>
          <p:spPr>
            <a:xfrm>
              <a:off x="5042525" y="657425"/>
              <a:ext cx="154475" cy="318900"/>
            </a:xfrm>
            <a:custGeom>
              <a:avLst/>
              <a:gdLst/>
              <a:ahLst/>
              <a:cxnLst/>
              <a:rect l="l" t="t" r="r" b="b"/>
              <a:pathLst>
                <a:path w="6179" h="12756" extrusionOk="0">
                  <a:moveTo>
                    <a:pt x="5968" y="1"/>
                  </a:moveTo>
                  <a:cubicBezTo>
                    <a:pt x="5953" y="3"/>
                    <a:pt x="5921" y="11"/>
                    <a:pt x="5869" y="20"/>
                  </a:cubicBezTo>
                  <a:cubicBezTo>
                    <a:pt x="5847" y="646"/>
                    <a:pt x="5732" y="2203"/>
                    <a:pt x="5138" y="4129"/>
                  </a:cubicBezTo>
                  <a:cubicBezTo>
                    <a:pt x="5133" y="4149"/>
                    <a:pt x="5128" y="4169"/>
                    <a:pt x="5121" y="4186"/>
                  </a:cubicBezTo>
                  <a:cubicBezTo>
                    <a:pt x="5339" y="4336"/>
                    <a:pt x="5560" y="4476"/>
                    <a:pt x="5781" y="4608"/>
                  </a:cubicBezTo>
                  <a:cubicBezTo>
                    <a:pt x="6179" y="2409"/>
                    <a:pt x="6036" y="602"/>
                    <a:pt x="5968" y="1"/>
                  </a:cubicBezTo>
                  <a:close/>
                  <a:moveTo>
                    <a:pt x="4583" y="5678"/>
                  </a:moveTo>
                  <a:cubicBezTo>
                    <a:pt x="3864" y="7414"/>
                    <a:pt x="2750" y="9309"/>
                    <a:pt x="1017" y="11044"/>
                  </a:cubicBezTo>
                  <a:cubicBezTo>
                    <a:pt x="683" y="11376"/>
                    <a:pt x="344" y="11687"/>
                    <a:pt x="0" y="11975"/>
                  </a:cubicBezTo>
                  <a:cubicBezTo>
                    <a:pt x="280" y="12196"/>
                    <a:pt x="565" y="12414"/>
                    <a:pt x="852" y="12625"/>
                  </a:cubicBezTo>
                  <a:cubicBezTo>
                    <a:pt x="911" y="12669"/>
                    <a:pt x="970" y="12713"/>
                    <a:pt x="1029" y="12755"/>
                  </a:cubicBezTo>
                  <a:cubicBezTo>
                    <a:pt x="1446" y="12436"/>
                    <a:pt x="1841" y="12090"/>
                    <a:pt x="2214" y="11717"/>
                  </a:cubicBezTo>
                  <a:cubicBezTo>
                    <a:pt x="3564" y="10367"/>
                    <a:pt x="4448" y="8840"/>
                    <a:pt x="5027" y="7340"/>
                  </a:cubicBezTo>
                  <a:cubicBezTo>
                    <a:pt x="5177" y="6950"/>
                    <a:pt x="5305" y="6560"/>
                    <a:pt x="5418" y="6177"/>
                  </a:cubicBezTo>
                  <a:cubicBezTo>
                    <a:pt x="5135" y="6022"/>
                    <a:pt x="4858" y="5855"/>
                    <a:pt x="4583" y="5678"/>
                  </a:cubicBez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0">
              <a:extLst>
                <a:ext uri="{FF2B5EF4-FFF2-40B4-BE49-F238E27FC236}">
                  <a16:creationId xmlns:a16="http://schemas.microsoft.com/office/drawing/2014/main" id="{BE57AA81-D401-9BBC-7D7E-8343716EEB7F}"/>
                </a:ext>
              </a:extLst>
            </p:cNvPr>
            <p:cNvSpPr/>
            <p:nvPr/>
          </p:nvSpPr>
          <p:spPr>
            <a:xfrm>
              <a:off x="5189300" y="651900"/>
              <a:ext cx="2425" cy="6050"/>
            </a:xfrm>
            <a:custGeom>
              <a:avLst/>
              <a:gdLst/>
              <a:ahLst/>
              <a:cxnLst/>
              <a:rect l="l" t="t" r="r" b="b"/>
              <a:pathLst>
                <a:path w="97" h="242" extrusionOk="0">
                  <a:moveTo>
                    <a:pt x="6" y="1"/>
                  </a:moveTo>
                  <a:cubicBezTo>
                    <a:pt x="6" y="50"/>
                    <a:pt x="6" y="131"/>
                    <a:pt x="1" y="241"/>
                  </a:cubicBezTo>
                  <a:cubicBezTo>
                    <a:pt x="50" y="232"/>
                    <a:pt x="82" y="224"/>
                    <a:pt x="97" y="222"/>
                  </a:cubicBezTo>
                  <a:cubicBezTo>
                    <a:pt x="84" y="92"/>
                    <a:pt x="72" y="20"/>
                    <a:pt x="72" y="11"/>
                  </a:cubicBezTo>
                  <a:cubicBezTo>
                    <a:pt x="72" y="11"/>
                    <a:pt x="48" y="6"/>
                    <a:pt x="6" y="1"/>
                  </a:cubicBezTo>
                  <a:close/>
                </a:path>
              </a:pathLst>
            </a:custGeom>
            <a:solidFill>
              <a:srgbClr val="B960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0">
              <a:extLst>
                <a:ext uri="{FF2B5EF4-FFF2-40B4-BE49-F238E27FC236}">
                  <a16:creationId xmlns:a16="http://schemas.microsoft.com/office/drawing/2014/main" id="{130DA0B1-E8D3-81DF-D401-67BA097AC1AC}"/>
                </a:ext>
              </a:extLst>
            </p:cNvPr>
            <p:cNvSpPr/>
            <p:nvPr/>
          </p:nvSpPr>
          <p:spPr>
            <a:xfrm>
              <a:off x="5157100" y="762050"/>
              <a:ext cx="29975" cy="49800"/>
            </a:xfrm>
            <a:custGeom>
              <a:avLst/>
              <a:gdLst/>
              <a:ahLst/>
              <a:cxnLst/>
              <a:rect l="l" t="t" r="r" b="b"/>
              <a:pathLst>
                <a:path w="1199" h="1992" extrusionOk="0">
                  <a:moveTo>
                    <a:pt x="538" y="1"/>
                  </a:moveTo>
                  <a:cubicBezTo>
                    <a:pt x="398" y="455"/>
                    <a:pt x="228" y="931"/>
                    <a:pt x="30" y="1420"/>
                  </a:cubicBezTo>
                  <a:cubicBezTo>
                    <a:pt x="20" y="1444"/>
                    <a:pt x="10" y="1469"/>
                    <a:pt x="0" y="1493"/>
                  </a:cubicBezTo>
                  <a:cubicBezTo>
                    <a:pt x="275" y="1670"/>
                    <a:pt x="552" y="1837"/>
                    <a:pt x="832" y="1992"/>
                  </a:cubicBezTo>
                  <a:cubicBezTo>
                    <a:pt x="982" y="1474"/>
                    <a:pt x="1105" y="951"/>
                    <a:pt x="1198" y="421"/>
                  </a:cubicBezTo>
                  <a:cubicBezTo>
                    <a:pt x="977" y="291"/>
                    <a:pt x="756" y="151"/>
                    <a:pt x="538" y="1"/>
                  </a:cubicBezTo>
                  <a:close/>
                </a:path>
              </a:pathLst>
            </a:custGeom>
            <a:solidFill>
              <a:srgbClr val="DCC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0">
              <a:extLst>
                <a:ext uri="{FF2B5EF4-FFF2-40B4-BE49-F238E27FC236}">
                  <a16:creationId xmlns:a16="http://schemas.microsoft.com/office/drawing/2014/main" id="{F5EE4DDA-BBA0-A7EF-DD99-EEC7EF206229}"/>
                </a:ext>
              </a:extLst>
            </p:cNvPr>
            <p:cNvSpPr/>
            <p:nvPr/>
          </p:nvSpPr>
          <p:spPr>
            <a:xfrm>
              <a:off x="4906725" y="1039625"/>
              <a:ext cx="12975" cy="2100"/>
            </a:xfrm>
            <a:custGeom>
              <a:avLst/>
              <a:gdLst/>
              <a:ahLst/>
              <a:cxnLst/>
              <a:rect l="l" t="t" r="r" b="b"/>
              <a:pathLst>
                <a:path w="519" h="84" extrusionOk="0">
                  <a:moveTo>
                    <a:pt x="0" y="84"/>
                  </a:moveTo>
                  <a:lnTo>
                    <a:pt x="0" y="84"/>
                  </a:lnTo>
                  <a:close/>
                  <a:moveTo>
                    <a:pt x="22" y="81"/>
                  </a:moveTo>
                  <a:lnTo>
                    <a:pt x="17" y="81"/>
                  </a:lnTo>
                  <a:lnTo>
                    <a:pt x="22" y="81"/>
                  </a:lnTo>
                  <a:close/>
                  <a:moveTo>
                    <a:pt x="42" y="79"/>
                  </a:moveTo>
                  <a:lnTo>
                    <a:pt x="35" y="79"/>
                  </a:lnTo>
                  <a:lnTo>
                    <a:pt x="42" y="79"/>
                  </a:lnTo>
                  <a:close/>
                  <a:moveTo>
                    <a:pt x="69" y="74"/>
                  </a:moveTo>
                  <a:lnTo>
                    <a:pt x="47" y="79"/>
                  </a:lnTo>
                  <a:lnTo>
                    <a:pt x="69" y="74"/>
                  </a:lnTo>
                  <a:close/>
                  <a:moveTo>
                    <a:pt x="481" y="8"/>
                  </a:moveTo>
                  <a:cubicBezTo>
                    <a:pt x="341" y="32"/>
                    <a:pt x="204" y="54"/>
                    <a:pt x="69" y="74"/>
                  </a:cubicBezTo>
                  <a:cubicBezTo>
                    <a:pt x="204" y="54"/>
                    <a:pt x="341" y="32"/>
                    <a:pt x="481" y="8"/>
                  </a:cubicBezTo>
                  <a:close/>
                  <a:moveTo>
                    <a:pt x="501" y="3"/>
                  </a:moveTo>
                  <a:lnTo>
                    <a:pt x="484" y="8"/>
                  </a:lnTo>
                  <a:lnTo>
                    <a:pt x="501" y="3"/>
                  </a:lnTo>
                  <a:close/>
                  <a:moveTo>
                    <a:pt x="518" y="0"/>
                  </a:moveTo>
                  <a:lnTo>
                    <a:pt x="511" y="0"/>
                  </a:lnTo>
                  <a:lnTo>
                    <a:pt x="518" y="0"/>
                  </a:lnTo>
                  <a:close/>
                </a:path>
              </a:pathLst>
            </a:custGeom>
            <a:solidFill>
              <a:srgbClr val="DCC7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0">
              <a:extLst>
                <a:ext uri="{FF2B5EF4-FFF2-40B4-BE49-F238E27FC236}">
                  <a16:creationId xmlns:a16="http://schemas.microsoft.com/office/drawing/2014/main" id="{40244891-31DB-EC3A-C93F-1259260F0FD5}"/>
                </a:ext>
              </a:extLst>
            </p:cNvPr>
            <p:cNvSpPr/>
            <p:nvPr/>
          </p:nvSpPr>
          <p:spPr>
            <a:xfrm>
              <a:off x="4889475" y="963100"/>
              <a:ext cx="170875" cy="80175"/>
            </a:xfrm>
            <a:custGeom>
              <a:avLst/>
              <a:gdLst/>
              <a:ahLst/>
              <a:cxnLst/>
              <a:rect l="l" t="t" r="r" b="b"/>
              <a:pathLst>
                <a:path w="6835" h="3207" extrusionOk="0">
                  <a:moveTo>
                    <a:pt x="5820" y="0"/>
                  </a:moveTo>
                  <a:cubicBezTo>
                    <a:pt x="4782" y="833"/>
                    <a:pt x="3648" y="1535"/>
                    <a:pt x="2440" y="2094"/>
                  </a:cubicBezTo>
                  <a:cubicBezTo>
                    <a:pt x="2566" y="2296"/>
                    <a:pt x="2683" y="2497"/>
                    <a:pt x="2794" y="2698"/>
                  </a:cubicBezTo>
                  <a:cubicBezTo>
                    <a:pt x="3938" y="2372"/>
                    <a:pt x="5032" y="1898"/>
                    <a:pt x="6051" y="1284"/>
                  </a:cubicBezTo>
                  <a:cubicBezTo>
                    <a:pt x="6314" y="1125"/>
                    <a:pt x="6576" y="953"/>
                    <a:pt x="6834" y="769"/>
                  </a:cubicBezTo>
                  <a:lnTo>
                    <a:pt x="6751" y="707"/>
                  </a:lnTo>
                  <a:cubicBezTo>
                    <a:pt x="6437" y="477"/>
                    <a:pt x="6127" y="241"/>
                    <a:pt x="5820" y="0"/>
                  </a:cubicBezTo>
                  <a:close/>
                  <a:moveTo>
                    <a:pt x="995" y="2683"/>
                  </a:moveTo>
                  <a:lnTo>
                    <a:pt x="995" y="2683"/>
                  </a:lnTo>
                  <a:cubicBezTo>
                    <a:pt x="732" y="2777"/>
                    <a:pt x="474" y="2863"/>
                    <a:pt x="226" y="2939"/>
                  </a:cubicBezTo>
                  <a:cubicBezTo>
                    <a:pt x="148" y="2963"/>
                    <a:pt x="74" y="2985"/>
                    <a:pt x="0" y="3007"/>
                  </a:cubicBezTo>
                  <a:cubicBezTo>
                    <a:pt x="76" y="3074"/>
                    <a:pt x="155" y="3140"/>
                    <a:pt x="231" y="3206"/>
                  </a:cubicBezTo>
                  <a:cubicBezTo>
                    <a:pt x="381" y="3189"/>
                    <a:pt x="533" y="3169"/>
                    <a:pt x="688" y="3145"/>
                  </a:cubicBezTo>
                  <a:lnTo>
                    <a:pt x="690" y="3145"/>
                  </a:lnTo>
                  <a:lnTo>
                    <a:pt x="707" y="3142"/>
                  </a:lnTo>
                  <a:lnTo>
                    <a:pt x="737" y="3142"/>
                  </a:lnTo>
                  <a:lnTo>
                    <a:pt x="759" y="3140"/>
                  </a:lnTo>
                  <a:cubicBezTo>
                    <a:pt x="894" y="3118"/>
                    <a:pt x="1031" y="3096"/>
                    <a:pt x="1171" y="3071"/>
                  </a:cubicBezTo>
                  <a:lnTo>
                    <a:pt x="1174" y="3071"/>
                  </a:lnTo>
                  <a:lnTo>
                    <a:pt x="1191" y="3069"/>
                  </a:lnTo>
                  <a:lnTo>
                    <a:pt x="1201" y="3066"/>
                  </a:lnTo>
                  <a:lnTo>
                    <a:pt x="1208" y="3066"/>
                  </a:lnTo>
                  <a:lnTo>
                    <a:pt x="1225" y="3064"/>
                  </a:lnTo>
                  <a:cubicBezTo>
                    <a:pt x="1152" y="2939"/>
                    <a:pt x="1073" y="2813"/>
                    <a:pt x="992" y="2688"/>
                  </a:cubicBezTo>
                  <a:lnTo>
                    <a:pt x="995" y="2683"/>
                  </a:ln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0">
              <a:extLst>
                <a:ext uri="{FF2B5EF4-FFF2-40B4-BE49-F238E27FC236}">
                  <a16:creationId xmlns:a16="http://schemas.microsoft.com/office/drawing/2014/main" id="{A822811F-2C37-86F7-69BC-CBD2388CD6E0}"/>
                </a:ext>
              </a:extLst>
            </p:cNvPr>
            <p:cNvSpPr/>
            <p:nvPr/>
          </p:nvSpPr>
          <p:spPr>
            <a:xfrm>
              <a:off x="4914275" y="1015325"/>
              <a:ext cx="45050" cy="24250"/>
            </a:xfrm>
            <a:custGeom>
              <a:avLst/>
              <a:gdLst/>
              <a:ahLst/>
              <a:cxnLst/>
              <a:rect l="l" t="t" r="r" b="b"/>
              <a:pathLst>
                <a:path w="1802" h="970" extrusionOk="0">
                  <a:moveTo>
                    <a:pt x="1451" y="0"/>
                  </a:moveTo>
                  <a:cubicBezTo>
                    <a:pt x="1200" y="116"/>
                    <a:pt x="952" y="224"/>
                    <a:pt x="707" y="324"/>
                  </a:cubicBezTo>
                  <a:cubicBezTo>
                    <a:pt x="469" y="423"/>
                    <a:pt x="233" y="511"/>
                    <a:pt x="0" y="594"/>
                  </a:cubicBezTo>
                  <a:cubicBezTo>
                    <a:pt x="81" y="720"/>
                    <a:pt x="160" y="845"/>
                    <a:pt x="233" y="970"/>
                  </a:cubicBezTo>
                  <a:cubicBezTo>
                    <a:pt x="763" y="874"/>
                    <a:pt x="1286" y="751"/>
                    <a:pt x="1802" y="604"/>
                  </a:cubicBezTo>
                  <a:cubicBezTo>
                    <a:pt x="1691" y="400"/>
                    <a:pt x="1574" y="199"/>
                    <a:pt x="1451" y="0"/>
                  </a:cubicBezTo>
                  <a:close/>
                </a:path>
              </a:pathLst>
            </a:custGeom>
            <a:solidFill>
              <a:srgbClr val="DCC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0">
              <a:extLst>
                <a:ext uri="{FF2B5EF4-FFF2-40B4-BE49-F238E27FC236}">
                  <a16:creationId xmlns:a16="http://schemas.microsoft.com/office/drawing/2014/main" id="{923C8429-647D-7A31-D759-4757B9D5453E}"/>
                </a:ext>
              </a:extLst>
            </p:cNvPr>
            <p:cNvSpPr/>
            <p:nvPr/>
          </p:nvSpPr>
          <p:spPr>
            <a:xfrm>
              <a:off x="4859150" y="1041350"/>
              <a:ext cx="22850" cy="4625"/>
            </a:xfrm>
            <a:custGeom>
              <a:avLst/>
              <a:gdLst/>
              <a:ahLst/>
              <a:cxnLst/>
              <a:rect l="l" t="t" r="r" b="b"/>
              <a:pathLst>
                <a:path w="914" h="185" extrusionOk="0">
                  <a:moveTo>
                    <a:pt x="764" y="0"/>
                  </a:moveTo>
                  <a:cubicBezTo>
                    <a:pt x="502" y="71"/>
                    <a:pt x="246" y="133"/>
                    <a:pt x="1" y="184"/>
                  </a:cubicBezTo>
                  <a:cubicBezTo>
                    <a:pt x="288" y="177"/>
                    <a:pt x="592" y="157"/>
                    <a:pt x="914" y="130"/>
                  </a:cubicBezTo>
                  <a:lnTo>
                    <a:pt x="764" y="0"/>
                  </a:ln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0">
              <a:extLst>
                <a:ext uri="{FF2B5EF4-FFF2-40B4-BE49-F238E27FC236}">
                  <a16:creationId xmlns:a16="http://schemas.microsoft.com/office/drawing/2014/main" id="{67973498-603F-7899-D989-189916C17929}"/>
                </a:ext>
              </a:extLst>
            </p:cNvPr>
            <p:cNvSpPr/>
            <p:nvPr/>
          </p:nvSpPr>
          <p:spPr>
            <a:xfrm>
              <a:off x="4788650" y="586725"/>
              <a:ext cx="214000" cy="196525"/>
            </a:xfrm>
            <a:custGeom>
              <a:avLst/>
              <a:gdLst/>
              <a:ahLst/>
              <a:cxnLst/>
              <a:rect l="l" t="t" r="r" b="b"/>
              <a:pathLst>
                <a:path w="8560" h="7861" extrusionOk="0">
                  <a:moveTo>
                    <a:pt x="1698" y="1"/>
                  </a:moveTo>
                  <a:cubicBezTo>
                    <a:pt x="1455" y="1"/>
                    <a:pt x="1214" y="43"/>
                    <a:pt x="985" y="124"/>
                  </a:cubicBezTo>
                  <a:cubicBezTo>
                    <a:pt x="739" y="212"/>
                    <a:pt x="526" y="372"/>
                    <a:pt x="369" y="580"/>
                  </a:cubicBezTo>
                  <a:cubicBezTo>
                    <a:pt x="214" y="789"/>
                    <a:pt x="128" y="1039"/>
                    <a:pt x="84" y="1285"/>
                  </a:cubicBezTo>
                  <a:cubicBezTo>
                    <a:pt x="0" y="1783"/>
                    <a:pt x="76" y="2272"/>
                    <a:pt x="187" y="2738"/>
                  </a:cubicBezTo>
                  <a:cubicBezTo>
                    <a:pt x="423" y="3673"/>
                    <a:pt x="828" y="4542"/>
                    <a:pt x="1284" y="5372"/>
                  </a:cubicBezTo>
                  <a:cubicBezTo>
                    <a:pt x="1746" y="6199"/>
                    <a:pt x="2259" y="6997"/>
                    <a:pt x="2813" y="7763"/>
                  </a:cubicBezTo>
                  <a:cubicBezTo>
                    <a:pt x="2838" y="7795"/>
                    <a:pt x="2863" y="7829"/>
                    <a:pt x="2885" y="7861"/>
                  </a:cubicBezTo>
                  <a:cubicBezTo>
                    <a:pt x="2961" y="7755"/>
                    <a:pt x="3039" y="7650"/>
                    <a:pt x="3118" y="7544"/>
                  </a:cubicBezTo>
                  <a:lnTo>
                    <a:pt x="3118" y="7542"/>
                  </a:lnTo>
                  <a:cubicBezTo>
                    <a:pt x="2561" y="6793"/>
                    <a:pt x="2050" y="6012"/>
                    <a:pt x="1586" y="5202"/>
                  </a:cubicBezTo>
                  <a:cubicBezTo>
                    <a:pt x="1355" y="4800"/>
                    <a:pt x="1147" y="4385"/>
                    <a:pt x="955" y="3963"/>
                  </a:cubicBezTo>
                  <a:cubicBezTo>
                    <a:pt x="764" y="3543"/>
                    <a:pt x="604" y="3109"/>
                    <a:pt x="482" y="2664"/>
                  </a:cubicBezTo>
                  <a:cubicBezTo>
                    <a:pt x="366" y="2225"/>
                    <a:pt x="293" y="1766"/>
                    <a:pt x="356" y="1329"/>
                  </a:cubicBezTo>
                  <a:cubicBezTo>
                    <a:pt x="391" y="1115"/>
                    <a:pt x="459" y="907"/>
                    <a:pt x="580" y="737"/>
                  </a:cubicBezTo>
                  <a:cubicBezTo>
                    <a:pt x="705" y="566"/>
                    <a:pt x="877" y="433"/>
                    <a:pt x="1076" y="359"/>
                  </a:cubicBezTo>
                  <a:cubicBezTo>
                    <a:pt x="1289" y="280"/>
                    <a:pt x="1517" y="239"/>
                    <a:pt x="1744" y="239"/>
                  </a:cubicBezTo>
                  <a:cubicBezTo>
                    <a:pt x="1757" y="239"/>
                    <a:pt x="1770" y="239"/>
                    <a:pt x="1782" y="239"/>
                  </a:cubicBezTo>
                  <a:cubicBezTo>
                    <a:pt x="1989" y="242"/>
                    <a:pt x="2197" y="261"/>
                    <a:pt x="2401" y="296"/>
                  </a:cubicBezTo>
                  <a:cubicBezTo>
                    <a:pt x="2858" y="384"/>
                    <a:pt x="3302" y="514"/>
                    <a:pt x="3731" y="686"/>
                  </a:cubicBezTo>
                  <a:cubicBezTo>
                    <a:pt x="4603" y="1020"/>
                    <a:pt x="5433" y="1461"/>
                    <a:pt x="6233" y="1948"/>
                  </a:cubicBezTo>
                  <a:cubicBezTo>
                    <a:pt x="7035" y="2431"/>
                    <a:pt x="7806" y="2969"/>
                    <a:pt x="8560" y="3528"/>
                  </a:cubicBezTo>
                  <a:cubicBezTo>
                    <a:pt x="7833" y="2932"/>
                    <a:pt x="7075" y="2375"/>
                    <a:pt x="6289" y="1859"/>
                  </a:cubicBezTo>
                  <a:cubicBezTo>
                    <a:pt x="5499" y="1346"/>
                    <a:pt x="4679" y="875"/>
                    <a:pt x="3803" y="507"/>
                  </a:cubicBezTo>
                  <a:cubicBezTo>
                    <a:pt x="3366" y="318"/>
                    <a:pt x="2909" y="175"/>
                    <a:pt x="2443" y="77"/>
                  </a:cubicBezTo>
                  <a:cubicBezTo>
                    <a:pt x="2205" y="30"/>
                    <a:pt x="1964" y="6"/>
                    <a:pt x="1724" y="3"/>
                  </a:cubicBezTo>
                  <a:lnTo>
                    <a:pt x="1724" y="1"/>
                  </a:lnTo>
                  <a:lnTo>
                    <a:pt x="1719" y="1"/>
                  </a:lnTo>
                  <a:cubicBezTo>
                    <a:pt x="1712" y="1"/>
                    <a:pt x="1705" y="1"/>
                    <a:pt x="16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0">
              <a:extLst>
                <a:ext uri="{FF2B5EF4-FFF2-40B4-BE49-F238E27FC236}">
                  <a16:creationId xmlns:a16="http://schemas.microsoft.com/office/drawing/2014/main" id="{2EF5BAEA-0707-FC16-019F-24A8A4422052}"/>
                </a:ext>
              </a:extLst>
            </p:cNvPr>
            <p:cNvSpPr/>
            <p:nvPr/>
          </p:nvSpPr>
          <p:spPr>
            <a:xfrm>
              <a:off x="4860825" y="775250"/>
              <a:ext cx="181725" cy="187750"/>
            </a:xfrm>
            <a:custGeom>
              <a:avLst/>
              <a:gdLst/>
              <a:ahLst/>
              <a:cxnLst/>
              <a:rect l="l" t="t" r="r" b="b"/>
              <a:pathLst>
                <a:path w="7269" h="7510" extrusionOk="0">
                  <a:moveTo>
                    <a:pt x="233" y="1"/>
                  </a:moveTo>
                  <a:cubicBezTo>
                    <a:pt x="152" y="106"/>
                    <a:pt x="76" y="212"/>
                    <a:pt x="0" y="317"/>
                  </a:cubicBezTo>
                  <a:cubicBezTo>
                    <a:pt x="405" y="875"/>
                    <a:pt x="830" y="1419"/>
                    <a:pt x="1274" y="1950"/>
                  </a:cubicBezTo>
                  <a:cubicBezTo>
                    <a:pt x="1286" y="1837"/>
                    <a:pt x="1323" y="1729"/>
                    <a:pt x="1382" y="1631"/>
                  </a:cubicBezTo>
                  <a:lnTo>
                    <a:pt x="1355" y="1604"/>
                  </a:lnTo>
                  <a:cubicBezTo>
                    <a:pt x="1281" y="1530"/>
                    <a:pt x="1247" y="1429"/>
                    <a:pt x="1259" y="1326"/>
                  </a:cubicBezTo>
                  <a:cubicBezTo>
                    <a:pt x="906" y="894"/>
                    <a:pt x="565" y="452"/>
                    <a:pt x="233" y="1"/>
                  </a:cubicBezTo>
                  <a:close/>
                  <a:moveTo>
                    <a:pt x="2531" y="2806"/>
                  </a:moveTo>
                  <a:cubicBezTo>
                    <a:pt x="2403" y="2875"/>
                    <a:pt x="2261" y="2912"/>
                    <a:pt x="2118" y="2912"/>
                  </a:cubicBezTo>
                  <a:lnTo>
                    <a:pt x="2101" y="2912"/>
                  </a:lnTo>
                  <a:cubicBezTo>
                    <a:pt x="2592" y="3459"/>
                    <a:pt x="3095" y="3994"/>
                    <a:pt x="3613" y="4517"/>
                  </a:cubicBezTo>
                  <a:cubicBezTo>
                    <a:pt x="4671" y="5578"/>
                    <a:pt x="5793" y="6579"/>
                    <a:pt x="6969" y="7510"/>
                  </a:cubicBezTo>
                  <a:cubicBezTo>
                    <a:pt x="7069" y="7429"/>
                    <a:pt x="7170" y="7348"/>
                    <a:pt x="7268" y="7262"/>
                  </a:cubicBezTo>
                  <a:cubicBezTo>
                    <a:pt x="6085" y="6321"/>
                    <a:pt x="4958" y="5310"/>
                    <a:pt x="3893" y="4237"/>
                  </a:cubicBezTo>
                  <a:cubicBezTo>
                    <a:pt x="3429" y="3771"/>
                    <a:pt x="2975" y="3292"/>
                    <a:pt x="2531" y="2806"/>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0">
              <a:extLst>
                <a:ext uri="{FF2B5EF4-FFF2-40B4-BE49-F238E27FC236}">
                  <a16:creationId xmlns:a16="http://schemas.microsoft.com/office/drawing/2014/main" id="{799A4DC1-366C-7AAB-7A98-7A60F1F2C8E3}"/>
                </a:ext>
              </a:extLst>
            </p:cNvPr>
            <p:cNvSpPr/>
            <p:nvPr/>
          </p:nvSpPr>
          <p:spPr>
            <a:xfrm>
              <a:off x="4892600" y="816000"/>
              <a:ext cx="31500" cy="32050"/>
            </a:xfrm>
            <a:custGeom>
              <a:avLst/>
              <a:gdLst/>
              <a:ahLst/>
              <a:cxnLst/>
              <a:rect l="l" t="t" r="r" b="b"/>
              <a:pathLst>
                <a:path w="1260" h="1282" extrusionOk="0">
                  <a:moveTo>
                    <a:pt x="109" y="1"/>
                  </a:moveTo>
                  <a:cubicBezTo>
                    <a:pt x="52" y="99"/>
                    <a:pt x="15" y="207"/>
                    <a:pt x="1" y="320"/>
                  </a:cubicBezTo>
                  <a:cubicBezTo>
                    <a:pt x="273" y="646"/>
                    <a:pt x="548" y="965"/>
                    <a:pt x="830" y="1282"/>
                  </a:cubicBezTo>
                  <a:lnTo>
                    <a:pt x="847" y="1282"/>
                  </a:lnTo>
                  <a:cubicBezTo>
                    <a:pt x="990" y="1282"/>
                    <a:pt x="1132" y="1245"/>
                    <a:pt x="1260" y="1176"/>
                  </a:cubicBezTo>
                  <a:cubicBezTo>
                    <a:pt x="1184" y="1093"/>
                    <a:pt x="1110" y="1009"/>
                    <a:pt x="1036" y="926"/>
                  </a:cubicBezTo>
                  <a:lnTo>
                    <a:pt x="109" y="1"/>
                  </a:lnTo>
                  <a:close/>
                </a:path>
              </a:pathLst>
            </a:custGeom>
            <a:solidFill>
              <a:srgbClr val="CD8D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a:extLst>
                <a:ext uri="{FF2B5EF4-FFF2-40B4-BE49-F238E27FC236}">
                  <a16:creationId xmlns:a16="http://schemas.microsoft.com/office/drawing/2014/main" id="{1D58F4FA-ED22-C8A7-991A-6847D8D41E31}"/>
                </a:ext>
              </a:extLst>
            </p:cNvPr>
            <p:cNvSpPr/>
            <p:nvPr/>
          </p:nvSpPr>
          <p:spPr>
            <a:xfrm>
              <a:off x="4891925" y="808450"/>
              <a:ext cx="26600" cy="30775"/>
            </a:xfrm>
            <a:custGeom>
              <a:avLst/>
              <a:gdLst/>
              <a:ahLst/>
              <a:cxnLst/>
              <a:rect l="l" t="t" r="r" b="b"/>
              <a:pathLst>
                <a:path w="1064" h="1231" extrusionOk="0">
                  <a:moveTo>
                    <a:pt x="15" y="1"/>
                  </a:moveTo>
                  <a:cubicBezTo>
                    <a:pt x="1" y="101"/>
                    <a:pt x="35" y="204"/>
                    <a:pt x="109" y="276"/>
                  </a:cubicBezTo>
                  <a:lnTo>
                    <a:pt x="136" y="305"/>
                  </a:lnTo>
                  <a:lnTo>
                    <a:pt x="1063" y="1230"/>
                  </a:lnTo>
                  <a:cubicBezTo>
                    <a:pt x="705" y="828"/>
                    <a:pt x="354" y="418"/>
                    <a:pt x="15" y="3"/>
                  </a:cubicBezTo>
                  <a:lnTo>
                    <a:pt x="15" y="1"/>
                  </a:lnTo>
                  <a:close/>
                </a:path>
              </a:pathLst>
            </a:custGeom>
            <a:solidFill>
              <a:srgbClr val="FF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0">
              <a:extLst>
                <a:ext uri="{FF2B5EF4-FFF2-40B4-BE49-F238E27FC236}">
                  <a16:creationId xmlns:a16="http://schemas.microsoft.com/office/drawing/2014/main" id="{94393E63-776A-77DF-6AEF-D86BE3F9ED72}"/>
                </a:ext>
              </a:extLst>
            </p:cNvPr>
            <p:cNvSpPr/>
            <p:nvPr/>
          </p:nvSpPr>
          <p:spPr>
            <a:xfrm>
              <a:off x="5060375" y="840925"/>
              <a:ext cx="194325" cy="210575"/>
            </a:xfrm>
            <a:custGeom>
              <a:avLst/>
              <a:gdLst/>
              <a:ahLst/>
              <a:cxnLst/>
              <a:rect l="l" t="t" r="r" b="b"/>
              <a:pathLst>
                <a:path w="7773" h="8423" extrusionOk="0">
                  <a:moveTo>
                    <a:pt x="315" y="5415"/>
                  </a:moveTo>
                  <a:cubicBezTo>
                    <a:pt x="209" y="5496"/>
                    <a:pt x="106" y="5572"/>
                    <a:pt x="1" y="5648"/>
                  </a:cubicBezTo>
                  <a:cubicBezTo>
                    <a:pt x="104" y="5724"/>
                    <a:pt x="209" y="5801"/>
                    <a:pt x="317" y="5874"/>
                  </a:cubicBezTo>
                  <a:lnTo>
                    <a:pt x="585" y="5612"/>
                  </a:lnTo>
                  <a:cubicBezTo>
                    <a:pt x="494" y="5545"/>
                    <a:pt x="403" y="5481"/>
                    <a:pt x="315" y="5415"/>
                  </a:cubicBezTo>
                  <a:close/>
                  <a:moveTo>
                    <a:pt x="634" y="5646"/>
                  </a:moveTo>
                  <a:lnTo>
                    <a:pt x="369" y="5913"/>
                  </a:lnTo>
                  <a:cubicBezTo>
                    <a:pt x="992" y="6348"/>
                    <a:pt x="1633" y="6755"/>
                    <a:pt x="2298" y="7131"/>
                  </a:cubicBezTo>
                  <a:cubicBezTo>
                    <a:pt x="2657" y="7327"/>
                    <a:pt x="3020" y="7519"/>
                    <a:pt x="3393" y="7691"/>
                  </a:cubicBezTo>
                  <a:lnTo>
                    <a:pt x="3648" y="7440"/>
                  </a:lnTo>
                  <a:cubicBezTo>
                    <a:pt x="3248" y="7254"/>
                    <a:pt x="2855" y="7048"/>
                    <a:pt x="2470" y="6827"/>
                  </a:cubicBezTo>
                  <a:cubicBezTo>
                    <a:pt x="1839" y="6463"/>
                    <a:pt x="1228" y="6068"/>
                    <a:pt x="634" y="5646"/>
                  </a:cubicBezTo>
                  <a:close/>
                  <a:moveTo>
                    <a:pt x="4311" y="0"/>
                  </a:moveTo>
                  <a:lnTo>
                    <a:pt x="4311" y="0"/>
                  </a:lnTo>
                  <a:cubicBezTo>
                    <a:pt x="4868" y="756"/>
                    <a:pt x="5398" y="1532"/>
                    <a:pt x="5884" y="2335"/>
                  </a:cubicBezTo>
                  <a:cubicBezTo>
                    <a:pt x="6368" y="3137"/>
                    <a:pt x="6800" y="3972"/>
                    <a:pt x="7127" y="4843"/>
                  </a:cubicBezTo>
                  <a:cubicBezTo>
                    <a:pt x="7289" y="5278"/>
                    <a:pt x="7424" y="5724"/>
                    <a:pt x="7492" y="6179"/>
                  </a:cubicBezTo>
                  <a:cubicBezTo>
                    <a:pt x="7559" y="6625"/>
                    <a:pt x="7563" y="7104"/>
                    <a:pt x="7372" y="7489"/>
                  </a:cubicBezTo>
                  <a:cubicBezTo>
                    <a:pt x="7188" y="7880"/>
                    <a:pt x="6773" y="8093"/>
                    <a:pt x="6336" y="8128"/>
                  </a:cubicBezTo>
                  <a:cubicBezTo>
                    <a:pt x="6262" y="8133"/>
                    <a:pt x="6186" y="8137"/>
                    <a:pt x="6113" y="8137"/>
                  </a:cubicBezTo>
                  <a:cubicBezTo>
                    <a:pt x="5742" y="8137"/>
                    <a:pt x="5364" y="8061"/>
                    <a:pt x="4998" y="7958"/>
                  </a:cubicBezTo>
                  <a:cubicBezTo>
                    <a:pt x="4556" y="7831"/>
                    <a:pt x="4124" y="7666"/>
                    <a:pt x="3705" y="7467"/>
                  </a:cubicBezTo>
                  <a:lnTo>
                    <a:pt x="3457" y="7723"/>
                  </a:lnTo>
                  <a:cubicBezTo>
                    <a:pt x="3928" y="7939"/>
                    <a:pt x="4417" y="8118"/>
                    <a:pt x="4917" y="8255"/>
                  </a:cubicBezTo>
                  <a:cubicBezTo>
                    <a:pt x="5286" y="8349"/>
                    <a:pt x="5666" y="8422"/>
                    <a:pt x="6054" y="8422"/>
                  </a:cubicBezTo>
                  <a:cubicBezTo>
                    <a:pt x="6157" y="8422"/>
                    <a:pt x="6260" y="8415"/>
                    <a:pt x="6363" y="8405"/>
                  </a:cubicBezTo>
                  <a:cubicBezTo>
                    <a:pt x="6618" y="8380"/>
                    <a:pt x="6864" y="8302"/>
                    <a:pt x="7085" y="8169"/>
                  </a:cubicBezTo>
                  <a:cubicBezTo>
                    <a:pt x="7306" y="8034"/>
                    <a:pt x="7485" y="7835"/>
                    <a:pt x="7595" y="7600"/>
                  </a:cubicBezTo>
                  <a:cubicBezTo>
                    <a:pt x="7701" y="7369"/>
                    <a:pt x="7757" y="7121"/>
                    <a:pt x="7765" y="6871"/>
                  </a:cubicBezTo>
                  <a:cubicBezTo>
                    <a:pt x="7772" y="6628"/>
                    <a:pt x="7755" y="6385"/>
                    <a:pt x="7711" y="6144"/>
                  </a:cubicBezTo>
                  <a:cubicBezTo>
                    <a:pt x="7630" y="5670"/>
                    <a:pt x="7482" y="5214"/>
                    <a:pt x="7306" y="4775"/>
                  </a:cubicBezTo>
                  <a:cubicBezTo>
                    <a:pt x="6947" y="3896"/>
                    <a:pt x="6481" y="3071"/>
                    <a:pt x="5973" y="2281"/>
                  </a:cubicBezTo>
                  <a:cubicBezTo>
                    <a:pt x="5460" y="1490"/>
                    <a:pt x="4907" y="729"/>
                    <a:pt x="43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0">
              <a:extLst>
                <a:ext uri="{FF2B5EF4-FFF2-40B4-BE49-F238E27FC236}">
                  <a16:creationId xmlns:a16="http://schemas.microsoft.com/office/drawing/2014/main" id="{B80333F7-98A2-A57C-FB69-1060F164CD17}"/>
                </a:ext>
              </a:extLst>
            </p:cNvPr>
            <p:cNvSpPr/>
            <p:nvPr/>
          </p:nvSpPr>
          <p:spPr>
            <a:xfrm>
              <a:off x="5035025" y="956775"/>
              <a:ext cx="33225" cy="25425"/>
            </a:xfrm>
            <a:custGeom>
              <a:avLst/>
              <a:gdLst/>
              <a:ahLst/>
              <a:cxnLst/>
              <a:rect l="l" t="t" r="r" b="b"/>
              <a:pathLst>
                <a:path w="1329" h="1017" extrusionOk="0">
                  <a:moveTo>
                    <a:pt x="300" y="1"/>
                  </a:moveTo>
                  <a:cubicBezTo>
                    <a:pt x="202" y="87"/>
                    <a:pt x="101" y="168"/>
                    <a:pt x="1" y="249"/>
                  </a:cubicBezTo>
                  <a:cubicBezTo>
                    <a:pt x="305" y="489"/>
                    <a:pt x="615" y="725"/>
                    <a:pt x="929" y="955"/>
                  </a:cubicBezTo>
                  <a:lnTo>
                    <a:pt x="1015" y="1017"/>
                  </a:lnTo>
                  <a:cubicBezTo>
                    <a:pt x="1120" y="941"/>
                    <a:pt x="1223" y="862"/>
                    <a:pt x="1329" y="784"/>
                  </a:cubicBezTo>
                  <a:cubicBezTo>
                    <a:pt x="1270" y="739"/>
                    <a:pt x="1211" y="695"/>
                    <a:pt x="1152" y="651"/>
                  </a:cubicBezTo>
                  <a:cubicBezTo>
                    <a:pt x="865" y="440"/>
                    <a:pt x="583" y="224"/>
                    <a:pt x="300" y="1"/>
                  </a:cubicBez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0">
              <a:extLst>
                <a:ext uri="{FF2B5EF4-FFF2-40B4-BE49-F238E27FC236}">
                  <a16:creationId xmlns:a16="http://schemas.microsoft.com/office/drawing/2014/main" id="{5B746CE0-D896-2F59-D43A-5DD17C5DDCD1}"/>
                </a:ext>
              </a:extLst>
            </p:cNvPr>
            <p:cNvSpPr/>
            <p:nvPr/>
          </p:nvSpPr>
          <p:spPr>
            <a:xfrm>
              <a:off x="4702550" y="752050"/>
              <a:ext cx="145825" cy="209425"/>
            </a:xfrm>
            <a:custGeom>
              <a:avLst/>
              <a:gdLst/>
              <a:ahLst/>
              <a:cxnLst/>
              <a:rect l="l" t="t" r="r" b="b"/>
              <a:pathLst>
                <a:path w="5833" h="8377" extrusionOk="0">
                  <a:moveTo>
                    <a:pt x="1436" y="1"/>
                  </a:moveTo>
                  <a:cubicBezTo>
                    <a:pt x="1260" y="1"/>
                    <a:pt x="1083" y="23"/>
                    <a:pt x="911" y="72"/>
                  </a:cubicBezTo>
                  <a:cubicBezTo>
                    <a:pt x="720" y="126"/>
                    <a:pt x="545" y="229"/>
                    <a:pt x="406" y="367"/>
                  </a:cubicBezTo>
                  <a:cubicBezTo>
                    <a:pt x="268" y="511"/>
                    <a:pt x="167" y="686"/>
                    <a:pt x="113" y="877"/>
                  </a:cubicBezTo>
                  <a:cubicBezTo>
                    <a:pt x="1" y="1253"/>
                    <a:pt x="28" y="1636"/>
                    <a:pt x="91" y="1996"/>
                  </a:cubicBezTo>
                  <a:cubicBezTo>
                    <a:pt x="158" y="2355"/>
                    <a:pt x="258" y="2708"/>
                    <a:pt x="388" y="3050"/>
                  </a:cubicBezTo>
                  <a:cubicBezTo>
                    <a:pt x="644" y="3729"/>
                    <a:pt x="980" y="4373"/>
                    <a:pt x="1348" y="4989"/>
                  </a:cubicBezTo>
                  <a:cubicBezTo>
                    <a:pt x="1719" y="5605"/>
                    <a:pt x="2124" y="6201"/>
                    <a:pt x="2551" y="6778"/>
                  </a:cubicBezTo>
                  <a:cubicBezTo>
                    <a:pt x="2899" y="7245"/>
                    <a:pt x="3265" y="7701"/>
                    <a:pt x="3643" y="8145"/>
                  </a:cubicBezTo>
                  <a:cubicBezTo>
                    <a:pt x="3724" y="8064"/>
                    <a:pt x="3805" y="7983"/>
                    <a:pt x="3889" y="7905"/>
                  </a:cubicBezTo>
                  <a:cubicBezTo>
                    <a:pt x="3889" y="7885"/>
                    <a:pt x="3891" y="7866"/>
                    <a:pt x="3894" y="7846"/>
                  </a:cubicBezTo>
                  <a:cubicBezTo>
                    <a:pt x="3535" y="7424"/>
                    <a:pt x="3187" y="6994"/>
                    <a:pt x="2850" y="6552"/>
                  </a:cubicBezTo>
                  <a:cubicBezTo>
                    <a:pt x="2421" y="5990"/>
                    <a:pt x="2016" y="5408"/>
                    <a:pt x="1645" y="4810"/>
                  </a:cubicBezTo>
                  <a:cubicBezTo>
                    <a:pt x="1461" y="4508"/>
                    <a:pt x="1284" y="4203"/>
                    <a:pt x="1120" y="3891"/>
                  </a:cubicBezTo>
                  <a:cubicBezTo>
                    <a:pt x="955" y="3582"/>
                    <a:pt x="806" y="3266"/>
                    <a:pt x="673" y="2939"/>
                  </a:cubicBezTo>
                  <a:cubicBezTo>
                    <a:pt x="541" y="2620"/>
                    <a:pt x="435" y="2286"/>
                    <a:pt x="364" y="1947"/>
                  </a:cubicBezTo>
                  <a:cubicBezTo>
                    <a:pt x="295" y="1611"/>
                    <a:pt x="266" y="1263"/>
                    <a:pt x="352" y="948"/>
                  </a:cubicBezTo>
                  <a:cubicBezTo>
                    <a:pt x="391" y="794"/>
                    <a:pt x="469" y="651"/>
                    <a:pt x="575" y="533"/>
                  </a:cubicBezTo>
                  <a:cubicBezTo>
                    <a:pt x="685" y="418"/>
                    <a:pt x="825" y="332"/>
                    <a:pt x="977" y="286"/>
                  </a:cubicBezTo>
                  <a:cubicBezTo>
                    <a:pt x="1137" y="236"/>
                    <a:pt x="1303" y="212"/>
                    <a:pt x="1469" y="212"/>
                  </a:cubicBezTo>
                  <a:cubicBezTo>
                    <a:pt x="1477" y="212"/>
                    <a:pt x="1485" y="212"/>
                    <a:pt x="1493" y="212"/>
                  </a:cubicBezTo>
                  <a:cubicBezTo>
                    <a:pt x="1660" y="214"/>
                    <a:pt x="1822" y="227"/>
                    <a:pt x="1984" y="256"/>
                  </a:cubicBezTo>
                  <a:cubicBezTo>
                    <a:pt x="2674" y="369"/>
                    <a:pt x="3339" y="639"/>
                    <a:pt x="3977" y="946"/>
                  </a:cubicBezTo>
                  <a:cubicBezTo>
                    <a:pt x="4615" y="1263"/>
                    <a:pt x="5234" y="1614"/>
                    <a:pt x="5833" y="1999"/>
                  </a:cubicBezTo>
                  <a:cubicBezTo>
                    <a:pt x="5256" y="1577"/>
                    <a:pt x="4652" y="1194"/>
                    <a:pt x="4024" y="853"/>
                  </a:cubicBezTo>
                  <a:cubicBezTo>
                    <a:pt x="3393" y="519"/>
                    <a:pt x="2735" y="214"/>
                    <a:pt x="2021" y="65"/>
                  </a:cubicBezTo>
                  <a:cubicBezTo>
                    <a:pt x="1827" y="25"/>
                    <a:pt x="1633" y="6"/>
                    <a:pt x="1436" y="3"/>
                  </a:cubicBezTo>
                  <a:lnTo>
                    <a:pt x="1436" y="1"/>
                  </a:lnTo>
                  <a:close/>
                  <a:moveTo>
                    <a:pt x="3874" y="8023"/>
                  </a:moveTo>
                  <a:lnTo>
                    <a:pt x="3695" y="8207"/>
                  </a:lnTo>
                  <a:cubicBezTo>
                    <a:pt x="3744" y="8263"/>
                    <a:pt x="3791" y="8320"/>
                    <a:pt x="3840" y="8376"/>
                  </a:cubicBezTo>
                  <a:cubicBezTo>
                    <a:pt x="3852" y="8261"/>
                    <a:pt x="3862" y="8143"/>
                    <a:pt x="3874" y="802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0">
              <a:extLst>
                <a:ext uri="{FF2B5EF4-FFF2-40B4-BE49-F238E27FC236}">
                  <a16:creationId xmlns:a16="http://schemas.microsoft.com/office/drawing/2014/main" id="{DB91BA6A-3B84-AFDD-6879-91786C1AF7F5}"/>
                </a:ext>
              </a:extLst>
            </p:cNvPr>
            <p:cNvSpPr/>
            <p:nvPr/>
          </p:nvSpPr>
          <p:spPr>
            <a:xfrm>
              <a:off x="4798525" y="948125"/>
              <a:ext cx="90900" cy="93250"/>
            </a:xfrm>
            <a:custGeom>
              <a:avLst/>
              <a:gdLst/>
              <a:ahLst/>
              <a:cxnLst/>
              <a:rect l="l" t="t" r="r" b="b"/>
              <a:pathLst>
                <a:path w="3636" h="3730" extrusionOk="0">
                  <a:moveTo>
                    <a:pt x="55" y="0"/>
                  </a:moveTo>
                  <a:lnTo>
                    <a:pt x="55" y="3"/>
                  </a:lnTo>
                  <a:cubicBezTo>
                    <a:pt x="52" y="23"/>
                    <a:pt x="50" y="40"/>
                    <a:pt x="47" y="59"/>
                  </a:cubicBezTo>
                  <a:lnTo>
                    <a:pt x="79" y="30"/>
                  </a:lnTo>
                  <a:lnTo>
                    <a:pt x="55" y="0"/>
                  </a:lnTo>
                  <a:close/>
                  <a:moveTo>
                    <a:pt x="1115" y="1184"/>
                  </a:moveTo>
                  <a:lnTo>
                    <a:pt x="1113" y="1186"/>
                  </a:lnTo>
                  <a:cubicBezTo>
                    <a:pt x="1113" y="1186"/>
                    <a:pt x="1113" y="1187"/>
                    <a:pt x="1114" y="1187"/>
                  </a:cubicBezTo>
                  <a:lnTo>
                    <a:pt x="1114" y="1187"/>
                  </a:lnTo>
                  <a:cubicBezTo>
                    <a:pt x="1114" y="1186"/>
                    <a:pt x="1115" y="1185"/>
                    <a:pt x="1115" y="1184"/>
                  </a:cubicBezTo>
                  <a:close/>
                  <a:moveTo>
                    <a:pt x="126" y="86"/>
                  </a:moveTo>
                  <a:lnTo>
                    <a:pt x="35" y="180"/>
                  </a:lnTo>
                  <a:cubicBezTo>
                    <a:pt x="23" y="300"/>
                    <a:pt x="10" y="418"/>
                    <a:pt x="1" y="533"/>
                  </a:cubicBezTo>
                  <a:cubicBezTo>
                    <a:pt x="207" y="771"/>
                    <a:pt x="418" y="1007"/>
                    <a:pt x="631" y="1240"/>
                  </a:cubicBezTo>
                  <a:cubicBezTo>
                    <a:pt x="683" y="1112"/>
                    <a:pt x="739" y="977"/>
                    <a:pt x="796" y="842"/>
                  </a:cubicBezTo>
                  <a:cubicBezTo>
                    <a:pt x="570" y="592"/>
                    <a:pt x="344" y="342"/>
                    <a:pt x="126" y="86"/>
                  </a:cubicBezTo>
                  <a:close/>
                  <a:moveTo>
                    <a:pt x="1114" y="1187"/>
                  </a:moveTo>
                  <a:lnTo>
                    <a:pt x="1114" y="1187"/>
                  </a:lnTo>
                  <a:cubicBezTo>
                    <a:pt x="1058" y="1323"/>
                    <a:pt x="1004" y="1455"/>
                    <a:pt x="955" y="1584"/>
                  </a:cubicBezTo>
                  <a:cubicBezTo>
                    <a:pt x="1144" y="1785"/>
                    <a:pt x="1336" y="1984"/>
                    <a:pt x="1532" y="2180"/>
                  </a:cubicBezTo>
                  <a:cubicBezTo>
                    <a:pt x="2067" y="2715"/>
                    <a:pt x="2620" y="3231"/>
                    <a:pt x="3189" y="3729"/>
                  </a:cubicBezTo>
                  <a:cubicBezTo>
                    <a:pt x="3334" y="3692"/>
                    <a:pt x="3484" y="3651"/>
                    <a:pt x="3636" y="3606"/>
                  </a:cubicBezTo>
                  <a:cubicBezTo>
                    <a:pt x="3005" y="3064"/>
                    <a:pt x="2399" y="2494"/>
                    <a:pt x="1812" y="1903"/>
                  </a:cubicBezTo>
                  <a:cubicBezTo>
                    <a:pt x="1577" y="1668"/>
                    <a:pt x="1344" y="1427"/>
                    <a:pt x="1114" y="1187"/>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0">
              <a:extLst>
                <a:ext uri="{FF2B5EF4-FFF2-40B4-BE49-F238E27FC236}">
                  <a16:creationId xmlns:a16="http://schemas.microsoft.com/office/drawing/2014/main" id="{A73F86EB-295E-C758-4520-3618B2B5B91C}"/>
                </a:ext>
              </a:extLst>
            </p:cNvPr>
            <p:cNvSpPr/>
            <p:nvPr/>
          </p:nvSpPr>
          <p:spPr>
            <a:xfrm>
              <a:off x="4814350" y="969175"/>
              <a:ext cx="12075" cy="18550"/>
            </a:xfrm>
            <a:custGeom>
              <a:avLst/>
              <a:gdLst/>
              <a:ahLst/>
              <a:cxnLst/>
              <a:rect l="l" t="t" r="r" b="b"/>
              <a:pathLst>
                <a:path w="483" h="742" extrusionOk="0">
                  <a:moveTo>
                    <a:pt x="165" y="0"/>
                  </a:moveTo>
                  <a:cubicBezTo>
                    <a:pt x="106" y="135"/>
                    <a:pt x="52" y="268"/>
                    <a:pt x="1" y="398"/>
                  </a:cubicBezTo>
                  <a:cubicBezTo>
                    <a:pt x="106" y="513"/>
                    <a:pt x="214" y="629"/>
                    <a:pt x="320" y="742"/>
                  </a:cubicBezTo>
                  <a:cubicBezTo>
                    <a:pt x="372" y="614"/>
                    <a:pt x="426" y="479"/>
                    <a:pt x="482" y="342"/>
                  </a:cubicBezTo>
                  <a:cubicBezTo>
                    <a:pt x="376" y="229"/>
                    <a:pt x="271" y="116"/>
                    <a:pt x="165" y="0"/>
                  </a:cubicBezTo>
                  <a:close/>
                </a:path>
              </a:pathLst>
            </a:custGeom>
            <a:solidFill>
              <a:srgbClr val="DB98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0">
              <a:extLst>
                <a:ext uri="{FF2B5EF4-FFF2-40B4-BE49-F238E27FC236}">
                  <a16:creationId xmlns:a16="http://schemas.microsoft.com/office/drawing/2014/main" id="{B72B8610-AF37-F48D-AE02-24B980395197}"/>
                </a:ext>
              </a:extLst>
            </p:cNvPr>
            <p:cNvSpPr/>
            <p:nvPr/>
          </p:nvSpPr>
          <p:spPr>
            <a:xfrm>
              <a:off x="4881975" y="1043250"/>
              <a:ext cx="80250" cy="56425"/>
            </a:xfrm>
            <a:custGeom>
              <a:avLst/>
              <a:gdLst/>
              <a:ahLst/>
              <a:cxnLst/>
              <a:rect l="l" t="t" r="r" b="b"/>
              <a:pathLst>
                <a:path w="3210" h="2257" extrusionOk="0">
                  <a:moveTo>
                    <a:pt x="534" y="0"/>
                  </a:moveTo>
                  <a:cubicBezTo>
                    <a:pt x="352" y="20"/>
                    <a:pt x="175" y="40"/>
                    <a:pt x="1" y="54"/>
                  </a:cubicBezTo>
                  <a:cubicBezTo>
                    <a:pt x="465" y="454"/>
                    <a:pt x="944" y="837"/>
                    <a:pt x="1432" y="1205"/>
                  </a:cubicBezTo>
                  <a:cubicBezTo>
                    <a:pt x="1925" y="1574"/>
                    <a:pt x="2431" y="1930"/>
                    <a:pt x="2954" y="2256"/>
                  </a:cubicBezTo>
                  <a:lnTo>
                    <a:pt x="3209" y="2003"/>
                  </a:lnTo>
                  <a:cubicBezTo>
                    <a:pt x="2677" y="1662"/>
                    <a:pt x="2161" y="1294"/>
                    <a:pt x="1658" y="906"/>
                  </a:cubicBezTo>
                  <a:cubicBezTo>
                    <a:pt x="1275" y="614"/>
                    <a:pt x="899" y="312"/>
                    <a:pt x="5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0">
              <a:extLst>
                <a:ext uri="{FF2B5EF4-FFF2-40B4-BE49-F238E27FC236}">
                  <a16:creationId xmlns:a16="http://schemas.microsoft.com/office/drawing/2014/main" id="{85C11856-F84F-B2FE-4A9D-F2501F9A255A}"/>
                </a:ext>
              </a:extLst>
            </p:cNvPr>
            <p:cNvSpPr/>
            <p:nvPr/>
          </p:nvSpPr>
          <p:spPr>
            <a:xfrm>
              <a:off x="4881975" y="1043250"/>
              <a:ext cx="13350" cy="1375"/>
            </a:xfrm>
            <a:custGeom>
              <a:avLst/>
              <a:gdLst/>
              <a:ahLst/>
              <a:cxnLst/>
              <a:rect l="l" t="t" r="r" b="b"/>
              <a:pathLst>
                <a:path w="534" h="55" extrusionOk="0">
                  <a:moveTo>
                    <a:pt x="531" y="0"/>
                  </a:moveTo>
                  <a:cubicBezTo>
                    <a:pt x="352" y="20"/>
                    <a:pt x="175" y="40"/>
                    <a:pt x="1" y="54"/>
                  </a:cubicBezTo>
                  <a:cubicBezTo>
                    <a:pt x="175" y="40"/>
                    <a:pt x="352" y="20"/>
                    <a:pt x="534" y="0"/>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0">
              <a:extLst>
                <a:ext uri="{FF2B5EF4-FFF2-40B4-BE49-F238E27FC236}">
                  <a16:creationId xmlns:a16="http://schemas.microsoft.com/office/drawing/2014/main" id="{D300A7DC-208C-8F73-42C3-916D25093EF7}"/>
                </a:ext>
              </a:extLst>
            </p:cNvPr>
            <p:cNvSpPr/>
            <p:nvPr/>
          </p:nvSpPr>
          <p:spPr>
            <a:xfrm>
              <a:off x="4878250" y="1038200"/>
              <a:ext cx="17025" cy="6350"/>
            </a:xfrm>
            <a:custGeom>
              <a:avLst/>
              <a:gdLst/>
              <a:ahLst/>
              <a:cxnLst/>
              <a:rect l="l" t="t" r="r" b="b"/>
              <a:pathLst>
                <a:path w="681" h="254" extrusionOk="0">
                  <a:moveTo>
                    <a:pt x="447" y="1"/>
                  </a:moveTo>
                  <a:lnTo>
                    <a:pt x="447" y="3"/>
                  </a:lnTo>
                  <a:cubicBezTo>
                    <a:pt x="295" y="48"/>
                    <a:pt x="147" y="87"/>
                    <a:pt x="0" y="126"/>
                  </a:cubicBezTo>
                  <a:lnTo>
                    <a:pt x="150" y="254"/>
                  </a:lnTo>
                  <a:cubicBezTo>
                    <a:pt x="322" y="239"/>
                    <a:pt x="498" y="222"/>
                    <a:pt x="680" y="200"/>
                  </a:cubicBezTo>
                  <a:cubicBezTo>
                    <a:pt x="602" y="134"/>
                    <a:pt x="523" y="67"/>
                    <a:pt x="447" y="1"/>
                  </a:cubicBez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0">
              <a:extLst>
                <a:ext uri="{FF2B5EF4-FFF2-40B4-BE49-F238E27FC236}">
                  <a16:creationId xmlns:a16="http://schemas.microsoft.com/office/drawing/2014/main" id="{9D0E3CA0-6EB0-A699-00BF-1DF5F59593BF}"/>
                </a:ext>
              </a:extLst>
            </p:cNvPr>
            <p:cNvSpPr/>
            <p:nvPr/>
          </p:nvSpPr>
          <p:spPr>
            <a:xfrm>
              <a:off x="5040750" y="995075"/>
              <a:ext cx="8300" cy="12475"/>
            </a:xfrm>
            <a:custGeom>
              <a:avLst/>
              <a:gdLst/>
              <a:ahLst/>
              <a:cxnLst/>
              <a:rect l="l" t="t" r="r" b="b"/>
              <a:pathLst>
                <a:path w="332" h="499" extrusionOk="0">
                  <a:moveTo>
                    <a:pt x="0" y="0"/>
                  </a:moveTo>
                  <a:cubicBezTo>
                    <a:pt x="106" y="165"/>
                    <a:pt x="206" y="332"/>
                    <a:pt x="307" y="499"/>
                  </a:cubicBezTo>
                  <a:lnTo>
                    <a:pt x="332" y="474"/>
                  </a:lnTo>
                  <a:cubicBezTo>
                    <a:pt x="224" y="315"/>
                    <a:pt x="113" y="157"/>
                    <a:pt x="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0">
              <a:extLst>
                <a:ext uri="{FF2B5EF4-FFF2-40B4-BE49-F238E27FC236}">
                  <a16:creationId xmlns:a16="http://schemas.microsoft.com/office/drawing/2014/main" id="{28BE4B4C-82A2-1AFE-FCCE-0352D93CA910}"/>
                </a:ext>
              </a:extLst>
            </p:cNvPr>
            <p:cNvSpPr/>
            <p:nvPr/>
          </p:nvSpPr>
          <p:spPr>
            <a:xfrm>
              <a:off x="5040750" y="995075"/>
              <a:ext cx="25" cy="25"/>
            </a:xfrm>
            <a:custGeom>
              <a:avLst/>
              <a:gdLst/>
              <a:ahLst/>
              <a:cxnLst/>
              <a:rect l="l" t="t" r="r" b="b"/>
              <a:pathLst>
                <a:path w="1" h="1" extrusionOk="0">
                  <a:moveTo>
                    <a:pt x="0" y="0"/>
                  </a:moveTo>
                  <a:lnTo>
                    <a:pt x="0" y="0"/>
                  </a:lnTo>
                  <a:lnTo>
                    <a:pt x="0" y="0"/>
                  </a:lnTo>
                  <a:lnTo>
                    <a:pt x="0" y="0"/>
                  </a:ln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0">
              <a:extLst>
                <a:ext uri="{FF2B5EF4-FFF2-40B4-BE49-F238E27FC236}">
                  <a16:creationId xmlns:a16="http://schemas.microsoft.com/office/drawing/2014/main" id="{CEC443AB-6E01-68BE-3F47-54A16BA8E973}"/>
                </a:ext>
              </a:extLst>
            </p:cNvPr>
            <p:cNvSpPr/>
            <p:nvPr/>
          </p:nvSpPr>
          <p:spPr>
            <a:xfrm>
              <a:off x="4957950" y="1008450"/>
              <a:ext cx="131775" cy="129375"/>
            </a:xfrm>
            <a:custGeom>
              <a:avLst/>
              <a:gdLst/>
              <a:ahLst/>
              <a:cxnLst/>
              <a:rect l="l" t="t" r="r" b="b"/>
              <a:pathLst>
                <a:path w="5271" h="5175" extrusionOk="0">
                  <a:moveTo>
                    <a:pt x="3680" y="0"/>
                  </a:moveTo>
                  <a:cubicBezTo>
                    <a:pt x="3681" y="1"/>
                    <a:pt x="3681" y="1"/>
                    <a:pt x="3681" y="2"/>
                  </a:cubicBezTo>
                  <a:lnTo>
                    <a:pt x="3681" y="2"/>
                  </a:lnTo>
                  <a:lnTo>
                    <a:pt x="3683" y="0"/>
                  </a:lnTo>
                  <a:close/>
                  <a:moveTo>
                    <a:pt x="5222" y="3385"/>
                  </a:moveTo>
                  <a:lnTo>
                    <a:pt x="5219" y="3388"/>
                  </a:lnTo>
                  <a:cubicBezTo>
                    <a:pt x="5219" y="3388"/>
                    <a:pt x="5219" y="3388"/>
                    <a:pt x="5219" y="3388"/>
                  </a:cubicBezTo>
                  <a:lnTo>
                    <a:pt x="5219" y="3388"/>
                  </a:lnTo>
                  <a:lnTo>
                    <a:pt x="5222" y="3385"/>
                  </a:lnTo>
                  <a:close/>
                  <a:moveTo>
                    <a:pt x="3681" y="2"/>
                  </a:moveTo>
                  <a:lnTo>
                    <a:pt x="3656" y="27"/>
                  </a:lnTo>
                  <a:cubicBezTo>
                    <a:pt x="3906" y="452"/>
                    <a:pt x="4142" y="887"/>
                    <a:pt x="4355" y="1328"/>
                  </a:cubicBezTo>
                  <a:cubicBezTo>
                    <a:pt x="4655" y="1969"/>
                    <a:pt x="4917" y="2639"/>
                    <a:pt x="5016" y="3329"/>
                  </a:cubicBezTo>
                  <a:cubicBezTo>
                    <a:pt x="5018" y="3358"/>
                    <a:pt x="5023" y="3390"/>
                    <a:pt x="5025" y="3420"/>
                  </a:cubicBezTo>
                  <a:lnTo>
                    <a:pt x="5197" y="3250"/>
                  </a:lnTo>
                  <a:cubicBezTo>
                    <a:pt x="5131" y="2909"/>
                    <a:pt x="5030" y="2578"/>
                    <a:pt x="4900" y="2259"/>
                  </a:cubicBezTo>
                  <a:cubicBezTo>
                    <a:pt x="4768" y="1925"/>
                    <a:pt x="4618" y="1598"/>
                    <a:pt x="4449" y="1282"/>
                  </a:cubicBezTo>
                  <a:cubicBezTo>
                    <a:pt x="4216" y="840"/>
                    <a:pt x="3958" y="414"/>
                    <a:pt x="3681" y="2"/>
                  </a:cubicBezTo>
                  <a:close/>
                  <a:moveTo>
                    <a:pt x="254" y="3447"/>
                  </a:moveTo>
                  <a:lnTo>
                    <a:pt x="254" y="3449"/>
                  </a:lnTo>
                  <a:lnTo>
                    <a:pt x="1" y="3702"/>
                  </a:lnTo>
                  <a:cubicBezTo>
                    <a:pt x="57" y="3739"/>
                    <a:pt x="116" y="3773"/>
                    <a:pt x="175" y="3810"/>
                  </a:cubicBezTo>
                  <a:cubicBezTo>
                    <a:pt x="789" y="4183"/>
                    <a:pt x="1429" y="4522"/>
                    <a:pt x="2107" y="4785"/>
                  </a:cubicBezTo>
                  <a:cubicBezTo>
                    <a:pt x="2446" y="4920"/>
                    <a:pt x="2794" y="5028"/>
                    <a:pt x="3153" y="5104"/>
                  </a:cubicBezTo>
                  <a:cubicBezTo>
                    <a:pt x="3204" y="5114"/>
                    <a:pt x="3253" y="5121"/>
                    <a:pt x="3305" y="5131"/>
                  </a:cubicBezTo>
                  <a:lnTo>
                    <a:pt x="3486" y="4947"/>
                  </a:lnTo>
                  <a:lnTo>
                    <a:pt x="3543" y="4890"/>
                  </a:lnTo>
                  <a:cubicBezTo>
                    <a:pt x="3432" y="4875"/>
                    <a:pt x="3320" y="4853"/>
                    <a:pt x="3209" y="4829"/>
                  </a:cubicBezTo>
                  <a:cubicBezTo>
                    <a:pt x="2870" y="4748"/>
                    <a:pt x="2539" y="4637"/>
                    <a:pt x="2220" y="4500"/>
                  </a:cubicBezTo>
                  <a:cubicBezTo>
                    <a:pt x="1577" y="4227"/>
                    <a:pt x="956" y="3884"/>
                    <a:pt x="357" y="3511"/>
                  </a:cubicBezTo>
                  <a:lnTo>
                    <a:pt x="254" y="3447"/>
                  </a:lnTo>
                  <a:close/>
                  <a:moveTo>
                    <a:pt x="5219" y="3388"/>
                  </a:moveTo>
                  <a:lnTo>
                    <a:pt x="5040" y="3570"/>
                  </a:lnTo>
                  <a:cubicBezTo>
                    <a:pt x="5055" y="3832"/>
                    <a:pt x="5033" y="4092"/>
                    <a:pt x="4937" y="4323"/>
                  </a:cubicBezTo>
                  <a:cubicBezTo>
                    <a:pt x="4878" y="4470"/>
                    <a:pt x="4778" y="4600"/>
                    <a:pt x="4652" y="4696"/>
                  </a:cubicBezTo>
                  <a:cubicBezTo>
                    <a:pt x="4522" y="4789"/>
                    <a:pt x="4373" y="4853"/>
                    <a:pt x="4215" y="4883"/>
                  </a:cubicBezTo>
                  <a:cubicBezTo>
                    <a:pt x="4105" y="4905"/>
                    <a:pt x="3992" y="4915"/>
                    <a:pt x="3879" y="4915"/>
                  </a:cubicBezTo>
                  <a:cubicBezTo>
                    <a:pt x="3823" y="4915"/>
                    <a:pt x="3766" y="4912"/>
                    <a:pt x="3710" y="4907"/>
                  </a:cubicBezTo>
                  <a:lnTo>
                    <a:pt x="3580" y="5040"/>
                  </a:lnTo>
                  <a:lnTo>
                    <a:pt x="3467" y="5153"/>
                  </a:lnTo>
                  <a:cubicBezTo>
                    <a:pt x="3582" y="5168"/>
                    <a:pt x="3700" y="5175"/>
                    <a:pt x="3815" y="5175"/>
                  </a:cubicBezTo>
                  <a:cubicBezTo>
                    <a:pt x="3968" y="5175"/>
                    <a:pt x="4120" y="5160"/>
                    <a:pt x="4267" y="5131"/>
                  </a:cubicBezTo>
                  <a:cubicBezTo>
                    <a:pt x="4458" y="5089"/>
                    <a:pt x="4640" y="5006"/>
                    <a:pt x="4797" y="4885"/>
                  </a:cubicBezTo>
                  <a:cubicBezTo>
                    <a:pt x="4952" y="4760"/>
                    <a:pt x="5072" y="4596"/>
                    <a:pt x="5143" y="4409"/>
                  </a:cubicBezTo>
                  <a:cubicBezTo>
                    <a:pt x="5271" y="4073"/>
                    <a:pt x="5266" y="3722"/>
                    <a:pt x="5219" y="338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0">
              <a:extLst>
                <a:ext uri="{FF2B5EF4-FFF2-40B4-BE49-F238E27FC236}">
                  <a16:creationId xmlns:a16="http://schemas.microsoft.com/office/drawing/2014/main" id="{89AB6C9B-FAC0-8A0C-4D27-9EFE2962A087}"/>
                </a:ext>
              </a:extLst>
            </p:cNvPr>
            <p:cNvSpPr/>
            <p:nvPr/>
          </p:nvSpPr>
          <p:spPr>
            <a:xfrm>
              <a:off x="5087925" y="996850"/>
              <a:ext cx="94850" cy="96250"/>
            </a:xfrm>
            <a:custGeom>
              <a:avLst/>
              <a:gdLst/>
              <a:ahLst/>
              <a:cxnLst/>
              <a:rect l="l" t="t" r="r" b="b"/>
              <a:pathLst>
                <a:path w="3794" h="3850" extrusionOk="0">
                  <a:moveTo>
                    <a:pt x="3793" y="1"/>
                  </a:moveTo>
                  <a:lnTo>
                    <a:pt x="3793" y="1"/>
                  </a:lnTo>
                  <a:cubicBezTo>
                    <a:pt x="3376" y="398"/>
                    <a:pt x="2961" y="801"/>
                    <a:pt x="2549" y="1203"/>
                  </a:cubicBezTo>
                  <a:lnTo>
                    <a:pt x="2603" y="1228"/>
                  </a:lnTo>
                  <a:cubicBezTo>
                    <a:pt x="3000" y="820"/>
                    <a:pt x="3398" y="410"/>
                    <a:pt x="3793" y="1"/>
                  </a:cubicBezTo>
                  <a:close/>
                  <a:moveTo>
                    <a:pt x="2291" y="1454"/>
                  </a:moveTo>
                  <a:cubicBezTo>
                    <a:pt x="1869" y="1866"/>
                    <a:pt x="1447" y="2278"/>
                    <a:pt x="1027" y="2693"/>
                  </a:cubicBezTo>
                  <a:lnTo>
                    <a:pt x="1" y="3712"/>
                  </a:lnTo>
                  <a:cubicBezTo>
                    <a:pt x="3" y="3729"/>
                    <a:pt x="6" y="3746"/>
                    <a:pt x="8" y="3761"/>
                  </a:cubicBezTo>
                  <a:cubicBezTo>
                    <a:pt x="13" y="3793"/>
                    <a:pt x="18" y="3820"/>
                    <a:pt x="23" y="3849"/>
                  </a:cubicBezTo>
                  <a:lnTo>
                    <a:pt x="1098" y="2764"/>
                  </a:lnTo>
                  <a:cubicBezTo>
                    <a:pt x="1518" y="2337"/>
                    <a:pt x="1937" y="1910"/>
                    <a:pt x="2357" y="1483"/>
                  </a:cubicBezTo>
                  <a:lnTo>
                    <a:pt x="2291" y="145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0">
              <a:extLst>
                <a:ext uri="{FF2B5EF4-FFF2-40B4-BE49-F238E27FC236}">
                  <a16:creationId xmlns:a16="http://schemas.microsoft.com/office/drawing/2014/main" id="{927C103E-5E9B-2FBE-8DBD-273ED6C0F61F}"/>
                </a:ext>
              </a:extLst>
            </p:cNvPr>
            <p:cNvSpPr/>
            <p:nvPr/>
          </p:nvSpPr>
          <p:spPr>
            <a:xfrm>
              <a:off x="5145175" y="1026925"/>
              <a:ext cx="7825" cy="7075"/>
            </a:xfrm>
            <a:custGeom>
              <a:avLst/>
              <a:gdLst/>
              <a:ahLst/>
              <a:cxnLst/>
              <a:rect l="l" t="t" r="r" b="b"/>
              <a:pathLst>
                <a:path w="313" h="283" extrusionOk="0">
                  <a:moveTo>
                    <a:pt x="256" y="0"/>
                  </a:moveTo>
                  <a:lnTo>
                    <a:pt x="1" y="251"/>
                  </a:lnTo>
                  <a:lnTo>
                    <a:pt x="65" y="283"/>
                  </a:lnTo>
                  <a:lnTo>
                    <a:pt x="313" y="30"/>
                  </a:lnTo>
                  <a:lnTo>
                    <a:pt x="256" y="3"/>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0">
              <a:extLst>
                <a:ext uri="{FF2B5EF4-FFF2-40B4-BE49-F238E27FC236}">
                  <a16:creationId xmlns:a16="http://schemas.microsoft.com/office/drawing/2014/main" id="{53C11657-10ED-ECE3-DC4C-8F47DA092960}"/>
                </a:ext>
              </a:extLst>
            </p:cNvPr>
            <p:cNvSpPr/>
            <p:nvPr/>
          </p:nvSpPr>
          <p:spPr>
            <a:xfrm>
              <a:off x="4909900" y="1094000"/>
              <a:ext cx="174075" cy="175700"/>
            </a:xfrm>
            <a:custGeom>
              <a:avLst/>
              <a:gdLst/>
              <a:ahLst/>
              <a:cxnLst/>
              <a:rect l="l" t="t" r="r" b="b"/>
              <a:pathLst>
                <a:path w="6963" h="7028" extrusionOk="0">
                  <a:moveTo>
                    <a:pt x="6950" y="0"/>
                  </a:moveTo>
                  <a:lnTo>
                    <a:pt x="5467" y="1473"/>
                  </a:lnTo>
                  <a:cubicBezTo>
                    <a:pt x="5521" y="1480"/>
                    <a:pt x="5578" y="1485"/>
                    <a:pt x="5634" y="1490"/>
                  </a:cubicBezTo>
                  <a:lnTo>
                    <a:pt x="6962" y="150"/>
                  </a:lnTo>
                  <a:cubicBezTo>
                    <a:pt x="6960" y="101"/>
                    <a:pt x="6955" y="52"/>
                    <a:pt x="6950" y="0"/>
                  </a:cubicBezTo>
                  <a:close/>
                  <a:moveTo>
                    <a:pt x="5227" y="1709"/>
                  </a:moveTo>
                  <a:lnTo>
                    <a:pt x="2691" y="4264"/>
                  </a:lnTo>
                  <a:lnTo>
                    <a:pt x="1341" y="5641"/>
                  </a:lnTo>
                  <a:lnTo>
                    <a:pt x="1" y="7028"/>
                  </a:lnTo>
                  <a:lnTo>
                    <a:pt x="1388" y="5688"/>
                  </a:lnTo>
                  <a:lnTo>
                    <a:pt x="2765" y="4338"/>
                  </a:lnTo>
                  <a:lnTo>
                    <a:pt x="5391" y="1733"/>
                  </a:lnTo>
                  <a:cubicBezTo>
                    <a:pt x="5335" y="1726"/>
                    <a:pt x="5281" y="1719"/>
                    <a:pt x="5229" y="170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0">
              <a:extLst>
                <a:ext uri="{FF2B5EF4-FFF2-40B4-BE49-F238E27FC236}">
                  <a16:creationId xmlns:a16="http://schemas.microsoft.com/office/drawing/2014/main" id="{CE877DA7-35CE-0057-0275-8343D297A97A}"/>
                </a:ext>
              </a:extLst>
            </p:cNvPr>
            <p:cNvSpPr/>
            <p:nvPr/>
          </p:nvSpPr>
          <p:spPr>
            <a:xfrm>
              <a:off x="5040550" y="1089625"/>
              <a:ext cx="47950" cy="47650"/>
            </a:xfrm>
            <a:custGeom>
              <a:avLst/>
              <a:gdLst/>
              <a:ahLst/>
              <a:cxnLst/>
              <a:rect l="l" t="t" r="r" b="b"/>
              <a:pathLst>
                <a:path w="1918" h="1906" extrusionOk="0">
                  <a:moveTo>
                    <a:pt x="1896" y="1"/>
                  </a:moveTo>
                  <a:lnTo>
                    <a:pt x="1724" y="173"/>
                  </a:lnTo>
                  <a:cubicBezTo>
                    <a:pt x="1729" y="222"/>
                    <a:pt x="1734" y="273"/>
                    <a:pt x="1736" y="323"/>
                  </a:cubicBezTo>
                  <a:lnTo>
                    <a:pt x="1918" y="138"/>
                  </a:lnTo>
                  <a:cubicBezTo>
                    <a:pt x="1915" y="109"/>
                    <a:pt x="1910" y="80"/>
                    <a:pt x="1906" y="50"/>
                  </a:cubicBezTo>
                  <a:cubicBezTo>
                    <a:pt x="1903" y="35"/>
                    <a:pt x="1901" y="18"/>
                    <a:pt x="1896" y="1"/>
                  </a:cubicBezTo>
                  <a:close/>
                  <a:moveTo>
                    <a:pt x="239" y="1643"/>
                  </a:moveTo>
                  <a:lnTo>
                    <a:pt x="185" y="1700"/>
                  </a:lnTo>
                  <a:lnTo>
                    <a:pt x="1" y="1884"/>
                  </a:lnTo>
                  <a:cubicBezTo>
                    <a:pt x="55" y="1891"/>
                    <a:pt x="109" y="1901"/>
                    <a:pt x="163" y="1906"/>
                  </a:cubicBezTo>
                  <a:lnTo>
                    <a:pt x="276" y="1793"/>
                  </a:lnTo>
                  <a:lnTo>
                    <a:pt x="408" y="1660"/>
                  </a:lnTo>
                  <a:cubicBezTo>
                    <a:pt x="352" y="1658"/>
                    <a:pt x="295" y="1650"/>
                    <a:pt x="239" y="164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0">
              <a:extLst>
                <a:ext uri="{FF2B5EF4-FFF2-40B4-BE49-F238E27FC236}">
                  <a16:creationId xmlns:a16="http://schemas.microsoft.com/office/drawing/2014/main" id="{2E120D3E-7575-DF6E-FA32-C02CDF8EED8A}"/>
                </a:ext>
              </a:extLst>
            </p:cNvPr>
            <p:cNvSpPr/>
            <p:nvPr/>
          </p:nvSpPr>
          <p:spPr>
            <a:xfrm>
              <a:off x="5049025" y="915175"/>
              <a:ext cx="93050" cy="93300"/>
            </a:xfrm>
            <a:custGeom>
              <a:avLst/>
              <a:gdLst/>
              <a:ahLst/>
              <a:cxnLst/>
              <a:rect l="l" t="t" r="r" b="b"/>
              <a:pathLst>
                <a:path w="3722" h="3732" extrusionOk="0">
                  <a:moveTo>
                    <a:pt x="3722" y="0"/>
                  </a:moveTo>
                  <a:lnTo>
                    <a:pt x="1039" y="2642"/>
                  </a:lnTo>
                  <a:lnTo>
                    <a:pt x="1085" y="2676"/>
                  </a:lnTo>
                  <a:lnTo>
                    <a:pt x="3722" y="0"/>
                  </a:lnTo>
                  <a:close/>
                  <a:moveTo>
                    <a:pt x="771" y="2904"/>
                  </a:moveTo>
                  <a:lnTo>
                    <a:pt x="761" y="2914"/>
                  </a:lnTo>
                  <a:lnTo>
                    <a:pt x="1" y="3670"/>
                  </a:lnTo>
                  <a:lnTo>
                    <a:pt x="40" y="3731"/>
                  </a:lnTo>
                  <a:lnTo>
                    <a:pt x="808" y="2958"/>
                  </a:lnTo>
                  <a:lnTo>
                    <a:pt x="823" y="2943"/>
                  </a:lnTo>
                  <a:lnTo>
                    <a:pt x="771" y="29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0">
              <a:extLst>
                <a:ext uri="{FF2B5EF4-FFF2-40B4-BE49-F238E27FC236}">
                  <a16:creationId xmlns:a16="http://schemas.microsoft.com/office/drawing/2014/main" id="{44E41740-0E7B-A4B3-6339-81673D8BBBF8}"/>
                </a:ext>
              </a:extLst>
            </p:cNvPr>
            <p:cNvSpPr/>
            <p:nvPr/>
          </p:nvSpPr>
          <p:spPr>
            <a:xfrm>
              <a:off x="5068300" y="981200"/>
              <a:ext cx="7925" cy="7525"/>
            </a:xfrm>
            <a:custGeom>
              <a:avLst/>
              <a:gdLst/>
              <a:ahLst/>
              <a:cxnLst/>
              <a:rect l="l" t="t" r="r" b="b"/>
              <a:pathLst>
                <a:path w="317" h="301" extrusionOk="0">
                  <a:moveTo>
                    <a:pt x="268" y="1"/>
                  </a:moveTo>
                  <a:lnTo>
                    <a:pt x="0" y="263"/>
                  </a:lnTo>
                  <a:lnTo>
                    <a:pt x="54" y="300"/>
                  </a:lnTo>
                  <a:lnTo>
                    <a:pt x="317" y="35"/>
                  </a:lnTo>
                  <a:lnTo>
                    <a:pt x="2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a:extLst>
                <a:ext uri="{FF2B5EF4-FFF2-40B4-BE49-F238E27FC236}">
                  <a16:creationId xmlns:a16="http://schemas.microsoft.com/office/drawing/2014/main" id="{3B7D61EF-10E0-0970-33E1-7AF14FA14410}"/>
                </a:ext>
              </a:extLst>
            </p:cNvPr>
            <p:cNvSpPr/>
            <p:nvPr/>
          </p:nvSpPr>
          <p:spPr>
            <a:xfrm>
              <a:off x="4554900" y="1007525"/>
              <a:ext cx="494525" cy="494825"/>
            </a:xfrm>
            <a:custGeom>
              <a:avLst/>
              <a:gdLst/>
              <a:ahLst/>
              <a:cxnLst/>
              <a:rect l="l" t="t" r="r" b="b"/>
              <a:pathLst>
                <a:path w="19781" h="19793" extrusionOk="0">
                  <a:moveTo>
                    <a:pt x="19741" y="1"/>
                  </a:moveTo>
                  <a:lnTo>
                    <a:pt x="17586" y="2146"/>
                  </a:lnTo>
                  <a:lnTo>
                    <a:pt x="16292" y="3432"/>
                  </a:lnTo>
                  <a:cubicBezTo>
                    <a:pt x="16319" y="3449"/>
                    <a:pt x="16349" y="3469"/>
                    <a:pt x="16376" y="3486"/>
                  </a:cubicBezTo>
                  <a:lnTo>
                    <a:pt x="17647" y="2210"/>
                  </a:lnTo>
                  <a:lnTo>
                    <a:pt x="19780" y="64"/>
                  </a:lnTo>
                  <a:lnTo>
                    <a:pt x="19743" y="3"/>
                  </a:lnTo>
                  <a:lnTo>
                    <a:pt x="19741" y="1"/>
                  </a:lnTo>
                  <a:close/>
                  <a:moveTo>
                    <a:pt x="16037" y="3685"/>
                  </a:moveTo>
                  <a:lnTo>
                    <a:pt x="11697" y="8003"/>
                  </a:lnTo>
                  <a:lnTo>
                    <a:pt x="5840" y="13889"/>
                  </a:lnTo>
                  <a:lnTo>
                    <a:pt x="2914" y="16832"/>
                  </a:lnTo>
                  <a:lnTo>
                    <a:pt x="1" y="19793"/>
                  </a:lnTo>
                  <a:lnTo>
                    <a:pt x="2958" y="16879"/>
                  </a:lnTo>
                  <a:lnTo>
                    <a:pt x="5902" y="13950"/>
                  </a:lnTo>
                  <a:lnTo>
                    <a:pt x="11790" y="8096"/>
                  </a:lnTo>
                  <a:lnTo>
                    <a:pt x="16123" y="3739"/>
                  </a:lnTo>
                  <a:lnTo>
                    <a:pt x="16037" y="368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a:extLst>
                <a:ext uri="{FF2B5EF4-FFF2-40B4-BE49-F238E27FC236}">
                  <a16:creationId xmlns:a16="http://schemas.microsoft.com/office/drawing/2014/main" id="{FEC1569D-6067-528F-C256-2AB459E3E5A4}"/>
                </a:ext>
              </a:extLst>
            </p:cNvPr>
            <p:cNvSpPr/>
            <p:nvPr/>
          </p:nvSpPr>
          <p:spPr>
            <a:xfrm>
              <a:off x="4955800" y="1006925"/>
              <a:ext cx="94225" cy="94100"/>
            </a:xfrm>
            <a:custGeom>
              <a:avLst/>
              <a:gdLst/>
              <a:ahLst/>
              <a:cxnLst/>
              <a:rect l="l" t="t" r="r" b="b"/>
              <a:pathLst>
                <a:path w="3769" h="3764" extrusionOk="0">
                  <a:moveTo>
                    <a:pt x="3730" y="0"/>
                  </a:moveTo>
                  <a:lnTo>
                    <a:pt x="3705" y="25"/>
                  </a:lnTo>
                  <a:lnTo>
                    <a:pt x="3742" y="86"/>
                  </a:lnTo>
                  <a:lnTo>
                    <a:pt x="3769" y="59"/>
                  </a:lnTo>
                  <a:lnTo>
                    <a:pt x="3730" y="0"/>
                  </a:lnTo>
                  <a:close/>
                  <a:moveTo>
                    <a:pt x="256" y="3456"/>
                  </a:moveTo>
                  <a:lnTo>
                    <a:pt x="1" y="3709"/>
                  </a:lnTo>
                  <a:lnTo>
                    <a:pt x="87" y="3763"/>
                  </a:lnTo>
                  <a:lnTo>
                    <a:pt x="340" y="3510"/>
                  </a:lnTo>
                  <a:cubicBezTo>
                    <a:pt x="313" y="3493"/>
                    <a:pt x="283" y="3473"/>
                    <a:pt x="256" y="345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0">
              <a:extLst>
                <a:ext uri="{FF2B5EF4-FFF2-40B4-BE49-F238E27FC236}">
                  <a16:creationId xmlns:a16="http://schemas.microsoft.com/office/drawing/2014/main" id="{CAB2AF55-9BFF-7D1F-8E8C-90C34FE1136F}"/>
                </a:ext>
              </a:extLst>
            </p:cNvPr>
            <p:cNvSpPr/>
            <p:nvPr/>
          </p:nvSpPr>
          <p:spPr>
            <a:xfrm>
              <a:off x="4464025" y="1232075"/>
              <a:ext cx="234075" cy="234075"/>
            </a:xfrm>
            <a:custGeom>
              <a:avLst/>
              <a:gdLst/>
              <a:ahLst/>
              <a:cxnLst/>
              <a:rect l="l" t="t" r="r" b="b"/>
              <a:pathLst>
                <a:path w="9363" h="9363" extrusionOk="0">
                  <a:moveTo>
                    <a:pt x="9362" y="0"/>
                  </a:moveTo>
                  <a:lnTo>
                    <a:pt x="9362" y="0"/>
                  </a:lnTo>
                  <a:cubicBezTo>
                    <a:pt x="8562" y="761"/>
                    <a:pt x="7774" y="1532"/>
                    <a:pt x="6986" y="2305"/>
                  </a:cubicBezTo>
                  <a:lnTo>
                    <a:pt x="4635" y="4635"/>
                  </a:lnTo>
                  <a:lnTo>
                    <a:pt x="2305" y="6986"/>
                  </a:lnTo>
                  <a:lnTo>
                    <a:pt x="1147" y="8169"/>
                  </a:lnTo>
                  <a:lnTo>
                    <a:pt x="0" y="9362"/>
                  </a:lnTo>
                  <a:lnTo>
                    <a:pt x="1193" y="8216"/>
                  </a:lnTo>
                  <a:lnTo>
                    <a:pt x="2376" y="7057"/>
                  </a:lnTo>
                  <a:lnTo>
                    <a:pt x="4728" y="4728"/>
                  </a:lnTo>
                  <a:lnTo>
                    <a:pt x="7057" y="2376"/>
                  </a:lnTo>
                  <a:cubicBezTo>
                    <a:pt x="7831" y="1588"/>
                    <a:pt x="8601" y="798"/>
                    <a:pt x="93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0">
              <a:extLst>
                <a:ext uri="{FF2B5EF4-FFF2-40B4-BE49-F238E27FC236}">
                  <a16:creationId xmlns:a16="http://schemas.microsoft.com/office/drawing/2014/main" id="{0EBD60D7-6704-1343-CD7E-61A916B32DC3}"/>
                </a:ext>
              </a:extLst>
            </p:cNvPr>
            <p:cNvSpPr/>
            <p:nvPr/>
          </p:nvSpPr>
          <p:spPr>
            <a:xfrm>
              <a:off x="4556800" y="955675"/>
              <a:ext cx="238075" cy="238175"/>
            </a:xfrm>
            <a:custGeom>
              <a:avLst/>
              <a:gdLst/>
              <a:ahLst/>
              <a:cxnLst/>
              <a:rect l="l" t="t" r="r" b="b"/>
              <a:pathLst>
                <a:path w="9523" h="9527" extrusionOk="0">
                  <a:moveTo>
                    <a:pt x="9471" y="0"/>
                  </a:moveTo>
                  <a:cubicBezTo>
                    <a:pt x="9471" y="1"/>
                    <a:pt x="9472" y="1"/>
                    <a:pt x="9472" y="2"/>
                  </a:cubicBezTo>
                  <a:lnTo>
                    <a:pt x="9472" y="2"/>
                  </a:lnTo>
                  <a:cubicBezTo>
                    <a:pt x="9472" y="1"/>
                    <a:pt x="9473" y="1"/>
                    <a:pt x="9473" y="0"/>
                  </a:cubicBezTo>
                  <a:close/>
                  <a:moveTo>
                    <a:pt x="9472" y="2"/>
                  </a:moveTo>
                  <a:cubicBezTo>
                    <a:pt x="9180" y="288"/>
                    <a:pt x="8889" y="573"/>
                    <a:pt x="8599" y="860"/>
                  </a:cubicBezTo>
                  <a:lnTo>
                    <a:pt x="5710" y="3727"/>
                  </a:lnTo>
                  <a:lnTo>
                    <a:pt x="2843" y="6613"/>
                  </a:lnTo>
                  <a:lnTo>
                    <a:pt x="1417" y="8064"/>
                  </a:lnTo>
                  <a:lnTo>
                    <a:pt x="1" y="9527"/>
                  </a:lnTo>
                  <a:lnTo>
                    <a:pt x="1461" y="8111"/>
                  </a:lnTo>
                  <a:lnTo>
                    <a:pt x="2914" y="6684"/>
                  </a:lnTo>
                  <a:lnTo>
                    <a:pt x="5801" y="3817"/>
                  </a:lnTo>
                  <a:lnTo>
                    <a:pt x="8668" y="931"/>
                  </a:lnTo>
                  <a:cubicBezTo>
                    <a:pt x="8953" y="641"/>
                    <a:pt x="9238" y="351"/>
                    <a:pt x="9522" y="62"/>
                  </a:cubicBezTo>
                  <a:cubicBezTo>
                    <a:pt x="9506" y="40"/>
                    <a:pt x="9489" y="21"/>
                    <a:pt x="9472" y="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0">
              <a:extLst>
                <a:ext uri="{FF2B5EF4-FFF2-40B4-BE49-F238E27FC236}">
                  <a16:creationId xmlns:a16="http://schemas.microsoft.com/office/drawing/2014/main" id="{EC23026C-13F8-C0D0-07C8-3FB723B83FDC}"/>
                </a:ext>
              </a:extLst>
            </p:cNvPr>
            <p:cNvSpPr/>
            <p:nvPr/>
          </p:nvSpPr>
          <p:spPr>
            <a:xfrm>
              <a:off x="4800500" y="931975"/>
              <a:ext cx="18375" cy="18325"/>
            </a:xfrm>
            <a:custGeom>
              <a:avLst/>
              <a:gdLst/>
              <a:ahLst/>
              <a:cxnLst/>
              <a:rect l="l" t="t" r="r" b="b"/>
              <a:pathLst>
                <a:path w="735" h="733" extrusionOk="0">
                  <a:moveTo>
                    <a:pt x="692" y="1"/>
                  </a:moveTo>
                  <a:cubicBezTo>
                    <a:pt x="462" y="227"/>
                    <a:pt x="231" y="453"/>
                    <a:pt x="0" y="676"/>
                  </a:cubicBezTo>
                  <a:lnTo>
                    <a:pt x="47" y="732"/>
                  </a:lnTo>
                  <a:cubicBezTo>
                    <a:pt x="278" y="499"/>
                    <a:pt x="506" y="264"/>
                    <a:pt x="734" y="30"/>
                  </a:cubicBezTo>
                  <a:lnTo>
                    <a:pt x="692" y="1"/>
                  </a:ln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0">
              <a:extLst>
                <a:ext uri="{FF2B5EF4-FFF2-40B4-BE49-F238E27FC236}">
                  <a16:creationId xmlns:a16="http://schemas.microsoft.com/office/drawing/2014/main" id="{F3E27600-8839-E482-8146-A2F5B975EB3A}"/>
                </a:ext>
              </a:extLst>
            </p:cNvPr>
            <p:cNvSpPr/>
            <p:nvPr/>
          </p:nvSpPr>
          <p:spPr>
            <a:xfrm>
              <a:off x="4817800" y="906100"/>
              <a:ext cx="26775" cy="26650"/>
            </a:xfrm>
            <a:custGeom>
              <a:avLst/>
              <a:gdLst/>
              <a:ahLst/>
              <a:cxnLst/>
              <a:rect l="l" t="t" r="r" b="b"/>
              <a:pathLst>
                <a:path w="1071" h="1066" extrusionOk="0">
                  <a:moveTo>
                    <a:pt x="1071" y="0"/>
                  </a:moveTo>
                  <a:lnTo>
                    <a:pt x="1071" y="0"/>
                  </a:lnTo>
                  <a:cubicBezTo>
                    <a:pt x="712" y="344"/>
                    <a:pt x="356" y="690"/>
                    <a:pt x="0" y="1036"/>
                  </a:cubicBezTo>
                  <a:lnTo>
                    <a:pt x="42" y="1065"/>
                  </a:lnTo>
                  <a:cubicBezTo>
                    <a:pt x="386" y="712"/>
                    <a:pt x="729" y="356"/>
                    <a:pt x="1071" y="0"/>
                  </a:cubicBezTo>
                  <a:close/>
                </a:path>
              </a:pathLst>
            </a:custGeom>
            <a:solidFill>
              <a:srgbClr val="FF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0">
              <a:extLst>
                <a:ext uri="{FF2B5EF4-FFF2-40B4-BE49-F238E27FC236}">
                  <a16:creationId xmlns:a16="http://schemas.microsoft.com/office/drawing/2014/main" id="{FF2CD72C-9D4C-560C-341B-DD2E783A9A90}"/>
                </a:ext>
              </a:extLst>
            </p:cNvPr>
            <p:cNvSpPr/>
            <p:nvPr/>
          </p:nvSpPr>
          <p:spPr>
            <a:xfrm>
              <a:off x="4793625" y="949600"/>
              <a:ext cx="6150" cy="7625"/>
            </a:xfrm>
            <a:custGeom>
              <a:avLst/>
              <a:gdLst/>
              <a:ahLst/>
              <a:cxnLst/>
              <a:rect l="l" t="t" r="r" b="b"/>
              <a:pathLst>
                <a:path w="246" h="305" extrusionOk="0">
                  <a:moveTo>
                    <a:pt x="246" y="0"/>
                  </a:moveTo>
                  <a:cubicBezTo>
                    <a:pt x="246" y="1"/>
                    <a:pt x="245" y="2"/>
                    <a:pt x="245" y="3"/>
                  </a:cubicBezTo>
                  <a:lnTo>
                    <a:pt x="245" y="3"/>
                  </a:lnTo>
                  <a:cubicBezTo>
                    <a:pt x="245" y="3"/>
                    <a:pt x="246" y="3"/>
                    <a:pt x="246" y="3"/>
                  </a:cubicBezTo>
                  <a:lnTo>
                    <a:pt x="246" y="0"/>
                  </a:lnTo>
                  <a:close/>
                  <a:moveTo>
                    <a:pt x="245" y="3"/>
                  </a:moveTo>
                  <a:lnTo>
                    <a:pt x="245" y="3"/>
                  </a:lnTo>
                  <a:cubicBezTo>
                    <a:pt x="162" y="82"/>
                    <a:pt x="81" y="163"/>
                    <a:pt x="0" y="243"/>
                  </a:cubicBezTo>
                  <a:cubicBezTo>
                    <a:pt x="17" y="263"/>
                    <a:pt x="35" y="283"/>
                    <a:pt x="52" y="305"/>
                  </a:cubicBezTo>
                  <a:lnTo>
                    <a:pt x="231" y="121"/>
                  </a:lnTo>
                  <a:cubicBezTo>
                    <a:pt x="236" y="82"/>
                    <a:pt x="241" y="44"/>
                    <a:pt x="245" y="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0">
              <a:extLst>
                <a:ext uri="{FF2B5EF4-FFF2-40B4-BE49-F238E27FC236}">
                  <a16:creationId xmlns:a16="http://schemas.microsoft.com/office/drawing/2014/main" id="{B741DA97-EF4A-12A7-0641-7BB2F5A7478D}"/>
                </a:ext>
              </a:extLst>
            </p:cNvPr>
            <p:cNvSpPr/>
            <p:nvPr/>
          </p:nvSpPr>
          <p:spPr>
            <a:xfrm>
              <a:off x="4799375" y="948850"/>
              <a:ext cx="2375" cy="3775"/>
            </a:xfrm>
            <a:custGeom>
              <a:avLst/>
              <a:gdLst/>
              <a:ahLst/>
              <a:cxnLst/>
              <a:rect l="l" t="t" r="r" b="b"/>
              <a:pathLst>
                <a:path w="95" h="151" extrusionOk="0">
                  <a:moveTo>
                    <a:pt x="45" y="1"/>
                  </a:moveTo>
                  <a:lnTo>
                    <a:pt x="16" y="33"/>
                  </a:lnTo>
                  <a:cubicBezTo>
                    <a:pt x="11" y="72"/>
                    <a:pt x="6" y="111"/>
                    <a:pt x="1" y="151"/>
                  </a:cubicBezTo>
                  <a:lnTo>
                    <a:pt x="94" y="57"/>
                  </a:lnTo>
                  <a:lnTo>
                    <a:pt x="48" y="3"/>
                  </a:lnTo>
                  <a:lnTo>
                    <a:pt x="45" y="1"/>
                  </a:lnTo>
                  <a:close/>
                </a:path>
              </a:pathLst>
            </a:custGeom>
            <a:solidFill>
              <a:srgbClr val="EAB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0">
              <a:extLst>
                <a:ext uri="{FF2B5EF4-FFF2-40B4-BE49-F238E27FC236}">
                  <a16:creationId xmlns:a16="http://schemas.microsoft.com/office/drawing/2014/main" id="{4C949A5B-2430-4A2D-05B1-81B689E1917C}"/>
                </a:ext>
              </a:extLst>
            </p:cNvPr>
            <p:cNvSpPr/>
            <p:nvPr/>
          </p:nvSpPr>
          <p:spPr>
            <a:xfrm>
              <a:off x="4319800" y="921975"/>
              <a:ext cx="360000" cy="360075"/>
            </a:xfrm>
            <a:custGeom>
              <a:avLst/>
              <a:gdLst/>
              <a:ahLst/>
              <a:cxnLst/>
              <a:rect l="l" t="t" r="r" b="b"/>
              <a:pathLst>
                <a:path w="14400" h="14403" extrusionOk="0">
                  <a:moveTo>
                    <a:pt x="14400" y="1"/>
                  </a:moveTo>
                  <a:lnTo>
                    <a:pt x="12576" y="1778"/>
                  </a:lnTo>
                  <a:lnTo>
                    <a:pt x="10764" y="3565"/>
                  </a:lnTo>
                  <a:lnTo>
                    <a:pt x="7154" y="7156"/>
                  </a:lnTo>
                  <a:lnTo>
                    <a:pt x="3563" y="10765"/>
                  </a:lnTo>
                  <a:lnTo>
                    <a:pt x="1778" y="12579"/>
                  </a:lnTo>
                  <a:lnTo>
                    <a:pt x="1" y="14402"/>
                  </a:lnTo>
                  <a:lnTo>
                    <a:pt x="1822" y="12625"/>
                  </a:lnTo>
                  <a:lnTo>
                    <a:pt x="3636" y="10838"/>
                  </a:lnTo>
                  <a:lnTo>
                    <a:pt x="7247" y="7247"/>
                  </a:lnTo>
                  <a:lnTo>
                    <a:pt x="10836" y="3639"/>
                  </a:lnTo>
                  <a:lnTo>
                    <a:pt x="12623" y="1825"/>
                  </a:lnTo>
                  <a:lnTo>
                    <a:pt x="1440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0">
              <a:extLst>
                <a:ext uri="{FF2B5EF4-FFF2-40B4-BE49-F238E27FC236}">
                  <a16:creationId xmlns:a16="http://schemas.microsoft.com/office/drawing/2014/main" id="{145C2AFA-4668-E22C-D196-D5F02A003959}"/>
                </a:ext>
              </a:extLst>
            </p:cNvPr>
            <p:cNvSpPr/>
            <p:nvPr/>
          </p:nvSpPr>
          <p:spPr>
            <a:xfrm>
              <a:off x="4029925" y="812700"/>
              <a:ext cx="648525" cy="648600"/>
            </a:xfrm>
            <a:custGeom>
              <a:avLst/>
              <a:gdLst/>
              <a:ahLst/>
              <a:cxnLst/>
              <a:rect l="l" t="t" r="r" b="b"/>
              <a:pathLst>
                <a:path w="25941" h="25944" extrusionOk="0">
                  <a:moveTo>
                    <a:pt x="25941" y="0"/>
                  </a:moveTo>
                  <a:lnTo>
                    <a:pt x="22676" y="3221"/>
                  </a:lnTo>
                  <a:lnTo>
                    <a:pt x="19426" y="6456"/>
                  </a:lnTo>
                  <a:lnTo>
                    <a:pt x="12924" y="12924"/>
                  </a:lnTo>
                  <a:lnTo>
                    <a:pt x="6453" y="19426"/>
                  </a:lnTo>
                  <a:lnTo>
                    <a:pt x="3218" y="22676"/>
                  </a:lnTo>
                  <a:lnTo>
                    <a:pt x="0" y="25943"/>
                  </a:lnTo>
                  <a:lnTo>
                    <a:pt x="0" y="25943"/>
                  </a:lnTo>
                  <a:lnTo>
                    <a:pt x="3265" y="22723"/>
                  </a:lnTo>
                  <a:lnTo>
                    <a:pt x="6517" y="19488"/>
                  </a:lnTo>
                  <a:lnTo>
                    <a:pt x="13017" y="13017"/>
                  </a:lnTo>
                  <a:lnTo>
                    <a:pt x="19488" y="6517"/>
                  </a:lnTo>
                  <a:lnTo>
                    <a:pt x="22720" y="3265"/>
                  </a:lnTo>
                  <a:lnTo>
                    <a:pt x="259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5" name="Google Shape;245;p30">
            <a:extLst>
              <a:ext uri="{FF2B5EF4-FFF2-40B4-BE49-F238E27FC236}">
                <a16:creationId xmlns:a16="http://schemas.microsoft.com/office/drawing/2014/main" id="{174939DA-A21C-5416-B13B-293C7D86EE0B}"/>
              </a:ext>
            </a:extLst>
          </p:cNvPr>
          <p:cNvSpPr txBox="1">
            <a:spLocks noGrp="1"/>
          </p:cNvSpPr>
          <p:nvPr>
            <p:ph type="title" idx="4294967295"/>
          </p:nvPr>
        </p:nvSpPr>
        <p:spPr>
          <a:xfrm>
            <a:off x="760026" y="5481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solidFill>
                  <a:schemeClr val="lt1"/>
                </a:solidFill>
                <a:latin typeface="Abadi" panose="020F0502020204030204" pitchFamily="34" charset="0"/>
              </a:rPr>
              <a:t>Introduction/Motivation</a:t>
            </a:r>
            <a:endParaRPr sz="3000" dirty="0">
              <a:solidFill>
                <a:schemeClr val="lt1"/>
              </a:solidFill>
              <a:latin typeface="Abadi" panose="020F0502020204030204" pitchFamily="34" charset="0"/>
            </a:endParaRPr>
          </a:p>
        </p:txBody>
      </p:sp>
      <p:sp>
        <p:nvSpPr>
          <p:cNvPr id="246" name="Google Shape;246;p30">
            <a:extLst>
              <a:ext uri="{FF2B5EF4-FFF2-40B4-BE49-F238E27FC236}">
                <a16:creationId xmlns:a16="http://schemas.microsoft.com/office/drawing/2014/main" id="{D80154C3-767E-3D73-24CE-DC2CB7715757}"/>
              </a:ext>
            </a:extLst>
          </p:cNvPr>
          <p:cNvSpPr txBox="1">
            <a:spLocks noGrp="1"/>
          </p:cNvSpPr>
          <p:nvPr>
            <p:ph type="body" idx="4294967295"/>
          </p:nvPr>
        </p:nvSpPr>
        <p:spPr>
          <a:xfrm>
            <a:off x="635976" y="1119925"/>
            <a:ext cx="7788000" cy="36951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1200"/>
              </a:spcBef>
              <a:spcAft>
                <a:spcPts val="0"/>
              </a:spcAft>
              <a:buClr>
                <a:schemeClr val="accent1"/>
              </a:buClr>
              <a:buSzPts val="1800"/>
              <a:buChar char="●"/>
            </a:pPr>
            <a:endParaRPr>
              <a:solidFill>
                <a:schemeClr val="accent1"/>
              </a:solidFill>
            </a:endParaRPr>
          </a:p>
          <a:p>
            <a:pPr marL="457200" lvl="0" indent="0" algn="l" rtl="0">
              <a:lnSpc>
                <a:spcPct val="100000"/>
              </a:lnSpc>
              <a:spcBef>
                <a:spcPts val="1200"/>
              </a:spcBef>
              <a:spcAft>
                <a:spcPts val="1600"/>
              </a:spcAft>
              <a:buNone/>
            </a:pPr>
            <a:endParaRPr>
              <a:solidFill>
                <a:schemeClr val="accent1"/>
              </a:solidFill>
            </a:endParaRPr>
          </a:p>
        </p:txBody>
      </p:sp>
      <p:sp>
        <p:nvSpPr>
          <p:cNvPr id="2" name="TextBox 1">
            <a:extLst>
              <a:ext uri="{FF2B5EF4-FFF2-40B4-BE49-F238E27FC236}">
                <a16:creationId xmlns:a16="http://schemas.microsoft.com/office/drawing/2014/main" id="{BFE0144F-1DDE-76E4-9335-85C3749DF925}"/>
              </a:ext>
            </a:extLst>
          </p:cNvPr>
          <p:cNvSpPr txBox="1"/>
          <p:nvPr/>
        </p:nvSpPr>
        <p:spPr>
          <a:xfrm>
            <a:off x="832899" y="1316425"/>
            <a:ext cx="4063952" cy="2031325"/>
          </a:xfrm>
          <a:prstGeom prst="rect">
            <a:avLst/>
          </a:prstGeom>
          <a:noFill/>
        </p:spPr>
        <p:txBody>
          <a:bodyPr wrap="square" rtlCol="0">
            <a:spAutoFit/>
          </a:bodyPr>
          <a:lstStyle/>
          <a:p>
            <a:r>
              <a:rPr lang="en-US" b="1" dirty="0">
                <a:solidFill>
                  <a:schemeClr val="accent1"/>
                </a:solidFill>
                <a:latin typeface="Nunito Sans"/>
              </a:rPr>
              <a:t>Obviously, distance affects field goal success, but by how much?</a:t>
            </a:r>
          </a:p>
          <a:p>
            <a:endParaRPr lang="en-US" b="1" dirty="0">
              <a:solidFill>
                <a:schemeClr val="accent1"/>
              </a:solidFill>
              <a:latin typeface="Nunito Sans"/>
            </a:endParaRPr>
          </a:p>
          <a:p>
            <a:r>
              <a:rPr lang="en-US" b="1" dirty="0">
                <a:solidFill>
                  <a:schemeClr val="accent1"/>
                </a:solidFill>
                <a:latin typeface="Nunito Sans"/>
              </a:rPr>
              <a:t>What distance do teams most often take a field goal from?</a:t>
            </a:r>
          </a:p>
          <a:p>
            <a:endParaRPr lang="en-US" b="1" dirty="0">
              <a:solidFill>
                <a:schemeClr val="accent1"/>
              </a:solidFill>
              <a:latin typeface="Nunito Sans"/>
            </a:endParaRPr>
          </a:p>
          <a:p>
            <a:r>
              <a:rPr lang="en-US" b="1" dirty="0">
                <a:solidFill>
                  <a:schemeClr val="accent1"/>
                </a:solidFill>
                <a:latin typeface="Nunito Sans"/>
              </a:rPr>
              <a:t>To answer these, we will apply Bayesian Inference and Logistical Regression</a:t>
            </a:r>
          </a:p>
          <a:p>
            <a:endParaRPr lang="en-US" b="1" dirty="0">
              <a:solidFill>
                <a:schemeClr val="accent1"/>
              </a:solidFill>
              <a:latin typeface="Nunito Sans"/>
            </a:endParaRPr>
          </a:p>
        </p:txBody>
      </p:sp>
    </p:spTree>
    <p:extLst>
      <p:ext uri="{BB962C8B-B14F-4D97-AF65-F5344CB8AC3E}">
        <p14:creationId xmlns:p14="http://schemas.microsoft.com/office/powerpoint/2010/main" val="406359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2"/>
          <p:cNvSpPr txBox="1">
            <a:spLocks noGrp="1"/>
          </p:cNvSpPr>
          <p:nvPr>
            <p:ph type="title"/>
          </p:nvPr>
        </p:nvSpPr>
        <p:spPr>
          <a:xfrm>
            <a:off x="607626" y="3957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Methods</a:t>
            </a:r>
            <a:endParaRPr sz="3000" dirty="0"/>
          </a:p>
        </p:txBody>
      </p:sp>
      <p:sp>
        <p:nvSpPr>
          <p:cNvPr id="258" name="Google Shape;258;p32"/>
          <p:cNvSpPr txBox="1">
            <a:spLocks noGrp="1"/>
          </p:cNvSpPr>
          <p:nvPr>
            <p:ph type="body" idx="1"/>
          </p:nvPr>
        </p:nvSpPr>
        <p:spPr>
          <a:xfrm>
            <a:off x="635976" y="1119925"/>
            <a:ext cx="7788000" cy="3695100"/>
          </a:xfrm>
          <a:prstGeom prst="rect">
            <a:avLst/>
          </a:prstGeom>
        </p:spPr>
        <p:txBody>
          <a:bodyPr spcFirstLastPara="1" wrap="square" lIns="91425" tIns="91425" rIns="91425" bIns="91425" anchor="t" anchorCtr="0">
            <a:noAutofit/>
          </a:bodyPr>
          <a:lstStyle/>
          <a:p>
            <a:pPr marL="457200" lvl="0" indent="-304800" algn="l" rtl="0">
              <a:lnSpc>
                <a:spcPct val="100000"/>
              </a:lnSpc>
              <a:spcBef>
                <a:spcPts val="0"/>
              </a:spcBef>
              <a:spcAft>
                <a:spcPts val="0"/>
              </a:spcAft>
              <a:buClr>
                <a:schemeClr val="accent1"/>
              </a:buClr>
              <a:buSzPts val="1200"/>
              <a:buFont typeface="Nunito Sans"/>
              <a:buChar char="●"/>
            </a:pPr>
            <a:r>
              <a:rPr lang="en" b="1" dirty="0">
                <a:solidFill>
                  <a:schemeClr val="accent1"/>
                </a:solidFill>
                <a:latin typeface="Nunito Sans"/>
                <a:ea typeface="Nunito Sans"/>
                <a:cs typeface="Nunito Sans"/>
                <a:sym typeface="Nunito Sans"/>
              </a:rPr>
              <a:t>Data Source:</a:t>
            </a:r>
            <a:endParaRPr b="1" dirty="0">
              <a:solidFill>
                <a:schemeClr val="accent1"/>
              </a:solidFill>
              <a:latin typeface="Nunito Sans"/>
              <a:ea typeface="Nunito Sans"/>
              <a:cs typeface="Nunito Sans"/>
              <a:sym typeface="Nunito Sans"/>
            </a:endParaRPr>
          </a:p>
          <a:p>
            <a:pPr marL="914400" lvl="1" indent="-304800" algn="l" rtl="0">
              <a:lnSpc>
                <a:spcPct val="100000"/>
              </a:lnSpc>
              <a:spcBef>
                <a:spcPts val="0"/>
              </a:spcBef>
              <a:spcAft>
                <a:spcPts val="0"/>
              </a:spcAft>
              <a:buClr>
                <a:schemeClr val="accent1"/>
              </a:buClr>
              <a:buSzPts val="1200"/>
              <a:buChar char="○"/>
            </a:pPr>
            <a:r>
              <a:rPr lang="en" dirty="0">
                <a:solidFill>
                  <a:schemeClr val="accent1"/>
                </a:solidFill>
              </a:rPr>
              <a:t>Aggregated NFL field goal data from the 2024 season</a:t>
            </a:r>
            <a:endParaRPr dirty="0">
              <a:solidFill>
                <a:schemeClr val="accent1"/>
              </a:solidFill>
            </a:endParaRPr>
          </a:p>
          <a:p>
            <a:pPr marL="914400" lvl="1" indent="-304800" algn="l" rtl="0">
              <a:lnSpc>
                <a:spcPct val="100000"/>
              </a:lnSpc>
              <a:spcBef>
                <a:spcPts val="0"/>
              </a:spcBef>
              <a:spcAft>
                <a:spcPts val="0"/>
              </a:spcAft>
              <a:buClr>
                <a:schemeClr val="accent1"/>
              </a:buClr>
              <a:buSzPts val="1200"/>
              <a:buChar char="○"/>
            </a:pPr>
            <a:r>
              <a:rPr lang="en" dirty="0">
                <a:solidFill>
                  <a:schemeClr val="accent1"/>
                </a:solidFill>
              </a:rPr>
              <a:t>Categorized into five distance bins: 				   0–19.5, 19.5-29.5, 29.5-39.5, 39.5–49.5, and 49.5-100 yards</a:t>
            </a:r>
            <a:endParaRPr dirty="0">
              <a:solidFill>
                <a:schemeClr val="accent1"/>
              </a:solidFill>
            </a:endParaRPr>
          </a:p>
          <a:p>
            <a:pPr marL="914400" lvl="1" indent="-304800" algn="l" rtl="0">
              <a:lnSpc>
                <a:spcPct val="100000"/>
              </a:lnSpc>
              <a:spcBef>
                <a:spcPts val="0"/>
              </a:spcBef>
              <a:spcAft>
                <a:spcPts val="0"/>
              </a:spcAft>
              <a:buClr>
                <a:schemeClr val="accent1"/>
              </a:buClr>
              <a:buSzPts val="1200"/>
              <a:buChar char="○"/>
            </a:pPr>
            <a:r>
              <a:rPr lang="en" dirty="0">
                <a:solidFill>
                  <a:schemeClr val="accent1"/>
                </a:solidFill>
              </a:rPr>
              <a:t>Each bin includes number of successful kicks and attempts</a:t>
            </a:r>
          </a:p>
          <a:p>
            <a:pPr marL="914400" lvl="1" indent="-304800" algn="l" rtl="0">
              <a:lnSpc>
                <a:spcPct val="100000"/>
              </a:lnSpc>
              <a:spcBef>
                <a:spcPts val="0"/>
              </a:spcBef>
              <a:spcAft>
                <a:spcPts val="0"/>
              </a:spcAft>
              <a:buClr>
                <a:schemeClr val="accent1"/>
              </a:buClr>
              <a:buSzPts val="1200"/>
              <a:buChar char="○"/>
            </a:pPr>
            <a:endParaRPr sz="800" dirty="0">
              <a:solidFill>
                <a:schemeClr val="accent1"/>
              </a:solidFill>
            </a:endParaRPr>
          </a:p>
          <a:p>
            <a:pPr marL="457200" lvl="0" indent="-304800" algn="l" rtl="0">
              <a:lnSpc>
                <a:spcPct val="100000"/>
              </a:lnSpc>
              <a:spcBef>
                <a:spcPts val="0"/>
              </a:spcBef>
              <a:spcAft>
                <a:spcPts val="0"/>
              </a:spcAft>
              <a:buClr>
                <a:schemeClr val="accent1"/>
              </a:buClr>
              <a:buSzPts val="1200"/>
              <a:buFont typeface="Nunito Sans"/>
              <a:buChar char="●"/>
            </a:pPr>
            <a:r>
              <a:rPr lang="en" b="1" dirty="0">
                <a:solidFill>
                  <a:schemeClr val="accent1"/>
                </a:solidFill>
                <a:latin typeface="Nunito Sans"/>
                <a:ea typeface="Nunito Sans"/>
                <a:cs typeface="Nunito Sans"/>
                <a:sym typeface="Nunito Sans"/>
              </a:rPr>
              <a:t>Statistical Approach: </a:t>
            </a:r>
            <a:endParaRPr b="1" dirty="0">
              <a:solidFill>
                <a:schemeClr val="accent1"/>
              </a:solidFill>
              <a:latin typeface="Nunito Sans"/>
              <a:ea typeface="Nunito Sans"/>
              <a:cs typeface="Nunito Sans"/>
              <a:sym typeface="Nunito Sans"/>
            </a:endParaRPr>
          </a:p>
          <a:p>
            <a:pPr marL="914400" lvl="1" indent="-304800" algn="l" rtl="0">
              <a:lnSpc>
                <a:spcPct val="100000"/>
              </a:lnSpc>
              <a:spcBef>
                <a:spcPts val="0"/>
              </a:spcBef>
              <a:spcAft>
                <a:spcPts val="0"/>
              </a:spcAft>
              <a:buClr>
                <a:schemeClr val="accent1"/>
              </a:buClr>
              <a:buSzPts val="1200"/>
              <a:buChar char="○"/>
            </a:pPr>
            <a:r>
              <a:rPr lang="en" dirty="0">
                <a:solidFill>
                  <a:schemeClr val="accent1"/>
                </a:solidFill>
              </a:rPr>
              <a:t>Beta Distribution using Bayesian Inference and Laplace approximation </a:t>
            </a:r>
          </a:p>
          <a:p>
            <a:pPr marL="914400" lvl="1" indent="-304800" algn="l" rtl="0">
              <a:lnSpc>
                <a:spcPct val="100000"/>
              </a:lnSpc>
              <a:spcBef>
                <a:spcPts val="0"/>
              </a:spcBef>
              <a:spcAft>
                <a:spcPts val="0"/>
              </a:spcAft>
              <a:buClr>
                <a:schemeClr val="accent1"/>
              </a:buClr>
              <a:buSzPts val="1200"/>
              <a:buChar char="○"/>
            </a:pPr>
            <a:r>
              <a:rPr lang="en" dirty="0">
                <a:solidFill>
                  <a:schemeClr val="accent1"/>
                </a:solidFill>
              </a:rPr>
              <a:t>Uninformative prior</a:t>
            </a:r>
          </a:p>
          <a:p>
            <a:pPr marL="914400" lvl="1" indent="-304800" algn="l" rtl="0">
              <a:lnSpc>
                <a:spcPct val="100000"/>
              </a:lnSpc>
              <a:spcBef>
                <a:spcPts val="0"/>
              </a:spcBef>
              <a:spcAft>
                <a:spcPts val="0"/>
              </a:spcAft>
              <a:buClr>
                <a:schemeClr val="accent1"/>
              </a:buClr>
              <a:buSzPts val="1200"/>
              <a:buChar char="○"/>
            </a:pPr>
            <a:r>
              <a:rPr lang="en" dirty="0">
                <a:solidFill>
                  <a:schemeClr val="accent1"/>
                </a:solidFill>
              </a:rPr>
              <a:t>Posterior: MAP estimate (Maximum A Posteriori)</a:t>
            </a:r>
          </a:p>
          <a:p>
            <a:pPr marL="914400" lvl="1" indent="-304800" algn="l" rtl="0">
              <a:lnSpc>
                <a:spcPct val="100000"/>
              </a:lnSpc>
              <a:spcBef>
                <a:spcPts val="0"/>
              </a:spcBef>
              <a:spcAft>
                <a:spcPts val="0"/>
              </a:spcAft>
              <a:buClr>
                <a:schemeClr val="accent1"/>
              </a:buClr>
              <a:buSzPts val="1200"/>
              <a:buChar char="○"/>
            </a:pPr>
            <a:endParaRPr sz="800" dirty="0">
              <a:solidFill>
                <a:schemeClr val="accent1"/>
              </a:solidFill>
            </a:endParaRPr>
          </a:p>
          <a:p>
            <a:pPr marL="457200" lvl="0" indent="-304800" algn="l" rtl="0">
              <a:lnSpc>
                <a:spcPct val="100000"/>
              </a:lnSpc>
              <a:spcBef>
                <a:spcPts val="0"/>
              </a:spcBef>
              <a:spcAft>
                <a:spcPts val="0"/>
              </a:spcAft>
              <a:buClr>
                <a:schemeClr val="accent1"/>
              </a:buClr>
              <a:buSzPts val="1200"/>
              <a:buChar char="●"/>
            </a:pPr>
            <a:r>
              <a:rPr lang="en" b="1" dirty="0">
                <a:solidFill>
                  <a:schemeClr val="accent1"/>
                </a:solidFill>
                <a:latin typeface="Nunito Sans"/>
                <a:ea typeface="Nunito Sans"/>
                <a:cs typeface="Nunito Sans"/>
                <a:sym typeface="Nunito Sans"/>
              </a:rPr>
              <a:t>Visualization</a:t>
            </a:r>
            <a:r>
              <a:rPr lang="en" dirty="0">
                <a:solidFill>
                  <a:schemeClr val="accent1"/>
                </a:solidFill>
              </a:rPr>
              <a:t>:</a:t>
            </a:r>
            <a:endParaRPr dirty="0">
              <a:solidFill>
                <a:schemeClr val="accent1"/>
              </a:solidFill>
            </a:endParaRPr>
          </a:p>
          <a:p>
            <a:pPr marL="914400" lvl="1" indent="-304800" algn="l" rtl="0">
              <a:lnSpc>
                <a:spcPct val="100000"/>
              </a:lnSpc>
              <a:spcBef>
                <a:spcPts val="0"/>
              </a:spcBef>
              <a:spcAft>
                <a:spcPts val="0"/>
              </a:spcAft>
              <a:buClr>
                <a:schemeClr val="accent1"/>
              </a:buClr>
              <a:buSzPts val="1200"/>
              <a:buChar char="○"/>
            </a:pPr>
            <a:r>
              <a:rPr lang="en" dirty="0">
                <a:solidFill>
                  <a:schemeClr val="accent1"/>
                </a:solidFill>
              </a:rPr>
              <a:t>PDF and CDF of attempt distances modeled by a Beta distribution</a:t>
            </a:r>
            <a:endParaRPr dirty="0">
              <a:solidFill>
                <a:schemeClr val="accent1"/>
              </a:solidFill>
            </a:endParaRPr>
          </a:p>
          <a:p>
            <a:pPr marL="914400" lvl="1" indent="-304800" algn="l" rtl="0">
              <a:lnSpc>
                <a:spcPct val="100000"/>
              </a:lnSpc>
              <a:spcBef>
                <a:spcPts val="0"/>
              </a:spcBef>
              <a:spcAft>
                <a:spcPts val="0"/>
              </a:spcAft>
              <a:buClr>
                <a:schemeClr val="accent1"/>
              </a:buClr>
              <a:buSzPts val="1200"/>
              <a:buChar char="○"/>
            </a:pPr>
            <a:r>
              <a:rPr lang="en" dirty="0">
                <a:solidFill>
                  <a:schemeClr val="accent1"/>
                </a:solidFill>
              </a:rPr>
              <a:t>Logistic Regression Fit (Success Probability vs Distance)</a:t>
            </a:r>
            <a:endParaRPr dirty="0">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ACA4BA42-3CBD-0104-80BC-9E027B74CC04}"/>
            </a:ext>
          </a:extLst>
        </p:cNvPr>
        <p:cNvGrpSpPr/>
        <p:nvPr/>
      </p:nvGrpSpPr>
      <p:grpSpPr>
        <a:xfrm>
          <a:off x="0" y="0"/>
          <a:ext cx="0" cy="0"/>
          <a:chOff x="0" y="0"/>
          <a:chExt cx="0" cy="0"/>
        </a:xfrm>
      </p:grpSpPr>
      <p:sp>
        <p:nvSpPr>
          <p:cNvPr id="257" name="Google Shape;257;p32">
            <a:extLst>
              <a:ext uri="{FF2B5EF4-FFF2-40B4-BE49-F238E27FC236}">
                <a16:creationId xmlns:a16="http://schemas.microsoft.com/office/drawing/2014/main" id="{E8D14358-6E2B-EE46-CA39-B81AF82DCB78}"/>
              </a:ext>
            </a:extLst>
          </p:cNvPr>
          <p:cNvSpPr txBox="1">
            <a:spLocks noGrp="1"/>
          </p:cNvSpPr>
          <p:nvPr>
            <p:ph type="title"/>
          </p:nvPr>
        </p:nvSpPr>
        <p:spPr>
          <a:xfrm>
            <a:off x="607626" y="3957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Initial Data</a:t>
            </a:r>
            <a:endParaRPr sz="3000" dirty="0"/>
          </a:p>
        </p:txBody>
      </p:sp>
      <p:grpSp>
        <p:nvGrpSpPr>
          <p:cNvPr id="2" name="Group 1">
            <a:extLst>
              <a:ext uri="{FF2B5EF4-FFF2-40B4-BE49-F238E27FC236}">
                <a16:creationId xmlns:a16="http://schemas.microsoft.com/office/drawing/2014/main" id="{624FF5C3-2140-9DB9-1FA5-AF56081E7A92}"/>
              </a:ext>
            </a:extLst>
          </p:cNvPr>
          <p:cNvGrpSpPr/>
          <p:nvPr/>
        </p:nvGrpSpPr>
        <p:grpSpPr>
          <a:xfrm>
            <a:off x="2347602" y="1748454"/>
            <a:ext cx="4448796" cy="1646591"/>
            <a:chOff x="241300" y="1147406"/>
            <a:chExt cx="4448796" cy="1646591"/>
          </a:xfrm>
        </p:grpSpPr>
        <p:sp>
          <p:nvSpPr>
            <p:cNvPr id="3" name="TextBox 2">
              <a:extLst>
                <a:ext uri="{FF2B5EF4-FFF2-40B4-BE49-F238E27FC236}">
                  <a16:creationId xmlns:a16="http://schemas.microsoft.com/office/drawing/2014/main" id="{5CE64DA2-ADFF-EB6A-91C7-A183C4A6EF35}"/>
                </a:ext>
              </a:extLst>
            </p:cNvPr>
            <p:cNvSpPr txBox="1"/>
            <p:nvPr/>
          </p:nvSpPr>
          <p:spPr>
            <a:xfrm>
              <a:off x="241300" y="1147406"/>
              <a:ext cx="4381500" cy="246221"/>
            </a:xfrm>
            <a:prstGeom prst="rect">
              <a:avLst/>
            </a:prstGeom>
            <a:noFill/>
          </p:spPr>
          <p:txBody>
            <a:bodyPr wrap="square" rtlCol="0">
              <a:spAutoFit/>
            </a:bodyPr>
            <a:lstStyle/>
            <a:p>
              <a:r>
                <a:rPr lang="en-US" sz="1000" dirty="0"/>
                <a:t>Table 1: Field Goal Makes (FGM) and Attempts (FGA) for the 2024 season</a:t>
              </a:r>
            </a:p>
          </p:txBody>
        </p:sp>
        <p:pic>
          <p:nvPicPr>
            <p:cNvPr id="4" name="Picture 3" descr="A table with numbers and text&#10;&#10;AI-generated content may be incorrect.">
              <a:extLst>
                <a:ext uri="{FF2B5EF4-FFF2-40B4-BE49-F238E27FC236}">
                  <a16:creationId xmlns:a16="http://schemas.microsoft.com/office/drawing/2014/main" id="{7703F6F0-165F-2423-6E84-7F72EE45E218}"/>
                </a:ext>
              </a:extLst>
            </p:cNvPr>
            <p:cNvPicPr>
              <a:picLocks noChangeAspect="1"/>
            </p:cNvPicPr>
            <p:nvPr/>
          </p:nvPicPr>
          <p:blipFill>
            <a:blip r:embed="rId3"/>
            <a:stretch>
              <a:fillRect/>
            </a:stretch>
          </p:blipFill>
          <p:spPr>
            <a:xfrm>
              <a:off x="241300" y="1393627"/>
              <a:ext cx="4448796" cy="1400370"/>
            </a:xfrm>
            <a:prstGeom prst="rect">
              <a:avLst/>
            </a:prstGeom>
          </p:spPr>
        </p:pic>
      </p:grpSp>
    </p:spTree>
    <p:extLst>
      <p:ext uri="{BB962C8B-B14F-4D97-AF65-F5344CB8AC3E}">
        <p14:creationId xmlns:p14="http://schemas.microsoft.com/office/powerpoint/2010/main" val="2731638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F2D9C-CAA6-519C-E1FE-1D6376B75981}"/>
              </a:ext>
            </a:extLst>
          </p:cNvPr>
          <p:cNvSpPr>
            <a:spLocks noGrp="1"/>
          </p:cNvSpPr>
          <p:nvPr>
            <p:ph type="title"/>
          </p:nvPr>
        </p:nvSpPr>
        <p:spPr>
          <a:xfrm>
            <a:off x="607626" y="395717"/>
            <a:ext cx="6586994" cy="572700"/>
          </a:xfrm>
        </p:spPr>
        <p:txBody>
          <a:bodyPr/>
          <a:lstStyle/>
          <a:p>
            <a:r>
              <a:rPr lang="en-US" dirty="0"/>
              <a:t>Modeling Field Goal Attempts &amp; Success</a:t>
            </a:r>
          </a:p>
        </p:txBody>
      </p:sp>
      <p:sp>
        <p:nvSpPr>
          <p:cNvPr id="3" name="Text Placeholder 2">
            <a:extLst>
              <a:ext uri="{FF2B5EF4-FFF2-40B4-BE49-F238E27FC236}">
                <a16:creationId xmlns:a16="http://schemas.microsoft.com/office/drawing/2014/main" id="{EA387EEF-DD13-30FF-3CF8-1C6033F02D4E}"/>
              </a:ext>
            </a:extLst>
          </p:cNvPr>
          <p:cNvSpPr>
            <a:spLocks noGrp="1"/>
          </p:cNvSpPr>
          <p:nvPr>
            <p:ph type="body" idx="1"/>
          </p:nvPr>
        </p:nvSpPr>
        <p:spPr/>
        <p:txBody>
          <a:bodyPr/>
          <a:lstStyle/>
          <a:p>
            <a:pPr marL="152400" indent="0">
              <a:lnSpc>
                <a:spcPct val="150000"/>
              </a:lnSpc>
              <a:buClr>
                <a:schemeClr val="accent1"/>
              </a:buClr>
              <a:buNone/>
            </a:pPr>
            <a:r>
              <a:rPr lang="en-US" sz="1800" dirty="0">
                <a:solidFill>
                  <a:schemeClr val="accent1"/>
                </a:solidFill>
              </a:rPr>
              <a:t>1</a:t>
            </a:r>
            <a:r>
              <a:rPr lang="en-US" sz="1800" b="1" dirty="0">
                <a:solidFill>
                  <a:schemeClr val="accent1"/>
                </a:solidFill>
              </a:rPr>
              <a:t>. Normalize Distances</a:t>
            </a:r>
          </a:p>
          <a:p>
            <a:pPr>
              <a:lnSpc>
                <a:spcPct val="150000"/>
              </a:lnSpc>
              <a:buClr>
                <a:schemeClr val="accent1"/>
              </a:buClr>
              <a:buFont typeface="Nunito Sans SemiBold"/>
              <a:buChar char="●"/>
            </a:pPr>
            <a:r>
              <a:rPr lang="en-US" sz="1400" dirty="0">
                <a:solidFill>
                  <a:schemeClr val="accent1"/>
                </a:solidFill>
              </a:rPr>
              <a:t>Field goal distances are modeled as “X” which is unitless</a:t>
            </a:r>
          </a:p>
          <a:p>
            <a:pPr>
              <a:lnSpc>
                <a:spcPct val="150000"/>
              </a:lnSpc>
              <a:buClr>
                <a:schemeClr val="accent1"/>
              </a:buClr>
              <a:buFont typeface="Nunito Sans SemiBold"/>
              <a:buChar char="●"/>
            </a:pPr>
            <a:r>
              <a:rPr lang="en-US" sz="1400" dirty="0">
                <a:solidFill>
                  <a:schemeClr val="accent1"/>
                </a:solidFill>
              </a:rPr>
              <a:t>X = (distance / 100 yards) so that X ∈ (0,1) </a:t>
            </a:r>
          </a:p>
          <a:p>
            <a:pPr>
              <a:lnSpc>
                <a:spcPct val="150000"/>
              </a:lnSpc>
              <a:buClr>
                <a:schemeClr val="accent1"/>
              </a:buClr>
              <a:buFont typeface="Nunito Sans SemiBold"/>
              <a:buChar char="●"/>
            </a:pPr>
            <a:r>
              <a:rPr lang="en-US" sz="1400" dirty="0">
                <a:solidFill>
                  <a:schemeClr val="accent1"/>
                </a:solidFill>
              </a:rPr>
              <a:t>Assume X follows beta distribution with unknown parameters </a:t>
            </a:r>
            <a:r>
              <a:rPr lang="el-GR" sz="1400" dirty="0">
                <a:solidFill>
                  <a:schemeClr val="accent1"/>
                </a:solidFill>
              </a:rPr>
              <a:t>α </a:t>
            </a:r>
            <a:r>
              <a:rPr lang="en-US" sz="1400" dirty="0">
                <a:solidFill>
                  <a:schemeClr val="accent1"/>
                </a:solidFill>
              </a:rPr>
              <a:t>and 𝛽.</a:t>
            </a:r>
          </a:p>
          <a:p>
            <a:pPr>
              <a:lnSpc>
                <a:spcPct val="150000"/>
              </a:lnSpc>
              <a:buClr>
                <a:schemeClr val="accent1"/>
              </a:buClr>
              <a:buFont typeface="Nunito Sans SemiBold"/>
              <a:buChar char="●"/>
            </a:pPr>
            <a:r>
              <a:rPr lang="en-US" sz="1400" dirty="0">
                <a:solidFill>
                  <a:schemeClr val="accent1"/>
                </a:solidFill>
              </a:rPr>
              <a:t>X ∼ Beta(</a:t>
            </a:r>
            <a:r>
              <a:rPr lang="el-GR" sz="1400" dirty="0">
                <a:solidFill>
                  <a:schemeClr val="accent1"/>
                </a:solidFill>
              </a:rPr>
              <a:t>α,β) </a:t>
            </a:r>
            <a:endParaRPr lang="en-US" sz="1400" dirty="0">
              <a:solidFill>
                <a:schemeClr val="accent1"/>
              </a:solidFill>
            </a:endParaRPr>
          </a:p>
          <a:p>
            <a:pPr>
              <a:lnSpc>
                <a:spcPct val="150000"/>
              </a:lnSpc>
              <a:buClr>
                <a:schemeClr val="accent1"/>
              </a:buClr>
              <a:buFont typeface="Nunito Sans SemiBold"/>
              <a:buChar char="●"/>
            </a:pPr>
            <a:r>
              <a:rPr lang="en-US" sz="1800" b="1" dirty="0">
                <a:solidFill>
                  <a:schemeClr val="accent1"/>
                </a:solidFill>
              </a:rPr>
              <a:t>2. Bin the Data</a:t>
            </a:r>
          </a:p>
          <a:p>
            <a:pPr>
              <a:lnSpc>
                <a:spcPct val="150000"/>
              </a:lnSpc>
              <a:buClr>
                <a:schemeClr val="accent1"/>
              </a:buClr>
              <a:buFont typeface="Nunito Sans SemiBold"/>
              <a:buChar char="●"/>
            </a:pPr>
            <a:r>
              <a:rPr lang="en-US" sz="1400" dirty="0">
                <a:solidFill>
                  <a:schemeClr val="accent1"/>
                </a:solidFill>
              </a:rPr>
              <a:t>Exact distance is not provided; we know how many kicks fall within 5 distance bins</a:t>
            </a:r>
          </a:p>
          <a:p>
            <a:pPr>
              <a:lnSpc>
                <a:spcPct val="150000"/>
              </a:lnSpc>
              <a:buClr>
                <a:schemeClr val="accent1"/>
              </a:buClr>
              <a:buFont typeface="Nunito Sans SemiBold"/>
              <a:buChar char="●"/>
            </a:pPr>
            <a:r>
              <a:rPr lang="en-US" sz="1400" dirty="0">
                <a:solidFill>
                  <a:schemeClr val="accent1"/>
                </a:solidFill>
              </a:rPr>
              <a:t>For each bin, the proportion of kicks </a:t>
            </a:r>
            <a:r>
              <a:rPr lang="el-GR" sz="1400" dirty="0">
                <a:solidFill>
                  <a:schemeClr val="accent1"/>
                </a:solidFill>
              </a:rPr>
              <a:t>φ</a:t>
            </a:r>
            <a:r>
              <a:rPr lang="en-US" sz="1400" baseline="-25000" dirty="0">
                <a:solidFill>
                  <a:schemeClr val="accent1"/>
                </a:solidFill>
              </a:rPr>
              <a:t>k</a:t>
            </a:r>
            <a:r>
              <a:rPr lang="en-US" sz="1400" dirty="0">
                <a:solidFill>
                  <a:schemeClr val="accent1"/>
                </a:solidFill>
              </a:rPr>
              <a:t> comes from integrating Beta density over that bin</a:t>
            </a:r>
          </a:p>
          <a:p>
            <a:pPr marL="152400" indent="0">
              <a:lnSpc>
                <a:spcPct val="150000"/>
              </a:lnSpc>
              <a:buClr>
                <a:schemeClr val="accent1"/>
              </a:buClr>
              <a:buNone/>
            </a:pPr>
            <a:endParaRPr lang="en-US" sz="1400" dirty="0">
              <a:solidFill>
                <a:schemeClr val="accent1"/>
              </a:solidFill>
            </a:endParaRPr>
          </a:p>
        </p:txBody>
      </p:sp>
    </p:spTree>
    <p:extLst>
      <p:ext uri="{BB962C8B-B14F-4D97-AF65-F5344CB8AC3E}">
        <p14:creationId xmlns:p14="http://schemas.microsoft.com/office/powerpoint/2010/main" val="2900735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15D3B-6FB4-C01B-AE24-EFE018856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B338D-BF5D-9CC9-6665-5E2BA8B02262}"/>
              </a:ext>
            </a:extLst>
          </p:cNvPr>
          <p:cNvSpPr>
            <a:spLocks noGrp="1"/>
          </p:cNvSpPr>
          <p:nvPr>
            <p:ph type="title"/>
          </p:nvPr>
        </p:nvSpPr>
        <p:spPr>
          <a:xfrm>
            <a:off x="607626" y="395717"/>
            <a:ext cx="6586994" cy="572700"/>
          </a:xfrm>
        </p:spPr>
        <p:txBody>
          <a:bodyPr/>
          <a:lstStyle/>
          <a:p>
            <a:r>
              <a:rPr lang="en-US" dirty="0"/>
              <a:t>Modeling Field Goal Attempts &amp; Success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9C0A5A8-B054-7CF6-2298-52247D6CF4F6}"/>
                  </a:ext>
                </a:extLst>
              </p:cNvPr>
              <p:cNvSpPr>
                <a:spLocks noGrp="1"/>
              </p:cNvSpPr>
              <p:nvPr>
                <p:ph type="body" idx="1"/>
              </p:nvPr>
            </p:nvSpPr>
            <p:spPr/>
            <p:txBody>
              <a:bodyPr/>
              <a:lstStyle/>
              <a:p>
                <a:pPr marL="152400" indent="0">
                  <a:lnSpc>
                    <a:spcPct val="150000"/>
                  </a:lnSpc>
                  <a:buClr>
                    <a:schemeClr val="accent1"/>
                  </a:buClr>
                  <a:buNone/>
                </a:pPr>
                <a:r>
                  <a:rPr lang="en-US" sz="2000" dirty="0">
                    <a:solidFill>
                      <a:schemeClr val="accent1"/>
                    </a:solidFill>
                  </a:rPr>
                  <a:t>Equation</a:t>
                </a:r>
                <a:r>
                  <a:rPr lang="en-US" sz="1100" dirty="0">
                    <a:solidFill>
                      <a:schemeClr val="accent1"/>
                    </a:solidFill>
                  </a:rPr>
                  <a:t>: </a:t>
                </a:r>
                <a14:m>
                  <m:oMath xmlns:m="http://schemas.openxmlformats.org/officeDocument/2006/math">
                    <m:sSub>
                      <m:sSub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𝜙</m:t>
                        </m:r>
                      </m:e>
                      <m:sub>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800" i="1" kern="100">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naryPr>
                      <m:sub>
                        <m:sSub>
                          <m:sSub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𝑎</m:t>
                            </m:r>
                          </m:e>
                          <m:sub>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𝑘</m:t>
                            </m:r>
                          </m:sub>
                        </m:sSub>
                      </m:sub>
                      <m:sup>
                        <m:sSub>
                          <m:sSub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𝑏</m:t>
                            </m:r>
                          </m:e>
                          <m:sub>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𝑘</m:t>
                            </m:r>
                          </m:sub>
                        </m:sSub>
                      </m:sup>
                      <m:e>
                        <m:sSub>
                          <m:sSub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𝑓</m:t>
                            </m:r>
                          </m:e>
                          <m:sub>
                            <m:r>
                              <m:rPr>
                                <m:sty m:val="p"/>
                              </m:rPr>
                              <a:rPr lang="en-US" sz="1800" i="1" kern="100">
                                <a:latin typeface="Cambria Math" panose="02040503050406030204" pitchFamily="18" charset="0"/>
                                <a:ea typeface="Times New Roman" panose="02020603050405020304" pitchFamily="18" charset="0"/>
                                <a:cs typeface="Times New Roman" panose="02020603050405020304" pitchFamily="18" charset="0"/>
                              </a:rPr>
                              <m:t>Beta</m:t>
                            </m:r>
                          </m:sub>
                        </m:sSub>
                        <m:d>
                          <m:d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𝑥</m:t>
                            </m:r>
                          </m:e>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latin typeface="Cambria Math" panose="02040503050406030204" pitchFamily="18" charset="0"/>
                            <a:ea typeface="Times New Roman" panose="02020603050405020304" pitchFamily="18" charset="0"/>
                            <a:cs typeface="Times New Roman" panose="02020603050405020304" pitchFamily="18" charset="0"/>
                          </a:rPr>
                          <m:t> </m:t>
                        </m:r>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𝑑𝑥</m:t>
                        </m:r>
                      </m:e>
                    </m:nary>
                    <m:r>
                      <a:rPr lang="en-US" sz="1800" i="1" kern="10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𝐹</m:t>
                        </m:r>
                      </m:e>
                      <m:sub>
                        <m:r>
                          <m:rPr>
                            <m:sty m:val="p"/>
                          </m:rPr>
                          <a:rPr lang="en-US" sz="1800" i="1" kern="100">
                            <a:latin typeface="Cambria Math" panose="02040503050406030204" pitchFamily="18" charset="0"/>
                            <a:ea typeface="Times New Roman" panose="02020603050405020304" pitchFamily="18" charset="0"/>
                            <a:cs typeface="Times New Roman" panose="02020603050405020304" pitchFamily="18" charset="0"/>
                          </a:rPr>
                          <m:t>Beta</m:t>
                        </m:r>
                      </m:sub>
                    </m:sSub>
                    <m:d>
                      <m:d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𝑏</m:t>
                            </m:r>
                          </m:e>
                          <m:sub>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𝑘</m:t>
                            </m:r>
                          </m:sub>
                        </m:sSub>
                      </m:e>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𝐹</m:t>
                        </m:r>
                      </m:e>
                      <m:sub>
                        <m:r>
                          <m:rPr>
                            <m:sty m:val="p"/>
                          </m:rPr>
                          <a:rPr lang="en-US" sz="1800" i="1" kern="100">
                            <a:latin typeface="Cambria Math" panose="02040503050406030204" pitchFamily="18" charset="0"/>
                            <a:ea typeface="Times New Roman" panose="02020603050405020304" pitchFamily="18" charset="0"/>
                            <a:cs typeface="Times New Roman" panose="02020603050405020304" pitchFamily="18" charset="0"/>
                          </a:rPr>
                          <m:t>Beta</m:t>
                        </m:r>
                      </m:sub>
                    </m:sSub>
                    <m:d>
                      <m:d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800" i="1" kern="100">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𝑎</m:t>
                            </m:r>
                          </m:e>
                          <m:sub>
                            <m:r>
                              <a:rPr lang="en-US" sz="1800" i="1" kern="100">
                                <a:latin typeface="Cambria Math" panose="02040503050406030204" pitchFamily="18" charset="0"/>
                                <a:ea typeface="Times New Roman" panose="02020603050405020304" pitchFamily="18" charset="0"/>
                                <a:cs typeface="Times New Roman" panose="02020603050405020304" pitchFamily="18" charset="0"/>
                              </a:rPr>
                              <m:t>𝑘</m:t>
                            </m:r>
                          </m:sub>
                        </m:sSub>
                      </m:e>
                      <m:e>
                        <m:r>
                          <a:rPr lang="en-US" sz="1800" i="1" kern="100">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latin typeface="Cambria Math" panose="02040503050406030204" pitchFamily="18" charset="0"/>
                            <a:ea typeface="Times New Roman" panose="02020603050405020304" pitchFamily="18" charset="0"/>
                            <a:cs typeface="Times New Roman" panose="02020603050405020304" pitchFamily="18" charset="0"/>
                          </a:rPr>
                          <m:t>𝛽</m:t>
                        </m:r>
                      </m:e>
                    </m:d>
                  </m:oMath>
                </a14:m>
                <a:endParaRPr lang="en-US" sz="1800" i="1" kern="100" dirty="0">
                  <a:latin typeface="Cambria Math" panose="02040503050406030204" pitchFamily="18" charset="0"/>
                  <a:ea typeface="Times New Roman" panose="02020603050405020304" pitchFamily="18" charset="0"/>
                  <a:cs typeface="Times New Roman" panose="02020603050405020304" pitchFamily="18" charset="0"/>
                </a:endParaRPr>
              </a:p>
              <a:p>
                <a:pPr marL="152400" indent="0">
                  <a:lnSpc>
                    <a:spcPct val="150000"/>
                  </a:lnSpc>
                  <a:buClr>
                    <a:schemeClr val="accent1"/>
                  </a:buClr>
                  <a:buNone/>
                </a:pPr>
                <a:r>
                  <a:rPr lang="el-GR" sz="1800" dirty="0">
                    <a:solidFill>
                      <a:schemeClr val="accent1"/>
                    </a:solidFill>
                  </a:rPr>
                  <a:t>ϕ</a:t>
                </a:r>
                <a:r>
                  <a:rPr lang="en-US" sz="1800" baseline="-25000" dirty="0">
                    <a:solidFill>
                      <a:schemeClr val="accent1"/>
                    </a:solidFill>
                  </a:rPr>
                  <a:t>k</a:t>
                </a:r>
                <a:r>
                  <a:rPr lang="en-US" sz="1800" dirty="0">
                    <a:solidFill>
                      <a:schemeClr val="accent1"/>
                    </a:solidFill>
                  </a:rPr>
                  <a:t> ​ = Probability (X falls in bin k)</a:t>
                </a:r>
              </a:p>
              <a:p>
                <a:pPr marL="152400" indent="0">
                  <a:lnSpc>
                    <a:spcPct val="150000"/>
                  </a:lnSpc>
                  <a:buClr>
                    <a:schemeClr val="accent1"/>
                  </a:buClr>
                  <a:buNone/>
                </a:pPr>
                <a:r>
                  <a:rPr lang="en-US" sz="1800" dirty="0">
                    <a:solidFill>
                      <a:schemeClr val="accent1"/>
                    </a:solidFill>
                  </a:rPr>
                  <a:t>Simplified:</a:t>
                </a:r>
              </a:p>
              <a:p>
                <a:pPr marL="152400" indent="0">
                  <a:lnSpc>
                    <a:spcPct val="150000"/>
                  </a:lnSpc>
                  <a:buClr>
                    <a:schemeClr val="accent1"/>
                  </a:buClr>
                  <a:buNone/>
                </a:pPr>
                <a:r>
                  <a:rPr lang="el-GR" sz="1800" dirty="0">
                    <a:solidFill>
                      <a:schemeClr val="tx1"/>
                    </a:solidFill>
                    <a:latin typeface="Cambria Math" panose="02040503050406030204" pitchFamily="18" charset="0"/>
                    <a:ea typeface="Cambria Math" panose="02040503050406030204" pitchFamily="18" charset="0"/>
                  </a:rPr>
                  <a:t>ϕ</a:t>
                </a:r>
                <a:r>
                  <a:rPr lang="en-US" sz="1800" baseline="-25000" dirty="0">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 = </a:t>
                </a:r>
                <a:r>
                  <a:rPr lang="en-US" sz="1800" dirty="0" err="1">
                    <a:solidFill>
                      <a:schemeClr val="tx1"/>
                    </a:solidFill>
                    <a:latin typeface="Cambria Math" panose="02040503050406030204" pitchFamily="18" charset="0"/>
                    <a:ea typeface="Cambria Math" panose="02040503050406030204" pitchFamily="18" charset="0"/>
                  </a:rPr>
                  <a:t>F</a:t>
                </a:r>
                <a:r>
                  <a:rPr lang="en-US" sz="1800" baseline="-25000" dirty="0" err="1">
                    <a:solidFill>
                      <a:schemeClr val="tx1"/>
                    </a:solidFill>
                    <a:latin typeface="Cambria Math" panose="02040503050406030204" pitchFamily="18" charset="0"/>
                    <a:ea typeface="Cambria Math" panose="02040503050406030204" pitchFamily="18" charset="0"/>
                  </a:rPr>
                  <a:t>Beta</a:t>
                </a:r>
                <a:r>
                  <a:rPr lang="en-US" sz="1800" dirty="0">
                    <a:solidFill>
                      <a:schemeClr val="tx1"/>
                    </a:solidFill>
                    <a:latin typeface="Cambria Math" panose="02040503050406030204" pitchFamily="18" charset="0"/>
                    <a:ea typeface="Cambria Math" panose="02040503050406030204" pitchFamily="18" charset="0"/>
                  </a:rPr>
                  <a:t>​ (b</a:t>
                </a:r>
                <a:r>
                  <a:rPr lang="en-US" sz="1800" baseline="-25000" dirty="0">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a:t>
                </a:r>
                <a:r>
                  <a:rPr lang="el-GR" sz="1800" dirty="0">
                    <a:solidFill>
                      <a:schemeClr val="tx1"/>
                    </a:solidFill>
                    <a:latin typeface="Cambria Math" panose="02040503050406030204" pitchFamily="18" charset="0"/>
                    <a:ea typeface="Cambria Math" panose="02040503050406030204" pitchFamily="18" charset="0"/>
                  </a:rPr>
                  <a:t>α,β)</a:t>
                </a:r>
                <a:r>
                  <a:rPr lang="en-US" sz="1800" dirty="0">
                    <a:solidFill>
                      <a:schemeClr val="tx1"/>
                    </a:solidFill>
                    <a:latin typeface="Cambria Math" panose="02040503050406030204" pitchFamily="18" charset="0"/>
                    <a:ea typeface="Cambria Math" panose="02040503050406030204" pitchFamily="18" charset="0"/>
                  </a:rPr>
                  <a:t> </a:t>
                </a:r>
                <a:r>
                  <a:rPr lang="el-GR" sz="1800" dirty="0">
                    <a:solidFill>
                      <a:schemeClr val="tx1"/>
                    </a:solidFill>
                    <a:latin typeface="Cambria Math" panose="02040503050406030204" pitchFamily="18" charset="0"/>
                    <a:ea typeface="Cambria Math" panose="02040503050406030204" pitchFamily="18" charset="0"/>
                  </a:rPr>
                  <a:t>−</a:t>
                </a:r>
                <a:r>
                  <a:rPr lang="en-US" sz="1800" dirty="0">
                    <a:solidFill>
                      <a:schemeClr val="tx1"/>
                    </a:solidFill>
                    <a:latin typeface="Cambria Math" panose="02040503050406030204" pitchFamily="18" charset="0"/>
                    <a:ea typeface="Cambria Math" panose="02040503050406030204" pitchFamily="18" charset="0"/>
                  </a:rPr>
                  <a:t> </a:t>
                </a:r>
                <a:r>
                  <a:rPr lang="en-US" sz="1800" dirty="0" err="1">
                    <a:solidFill>
                      <a:schemeClr val="tx1"/>
                    </a:solidFill>
                    <a:latin typeface="Cambria Math" panose="02040503050406030204" pitchFamily="18" charset="0"/>
                    <a:ea typeface="Cambria Math" panose="02040503050406030204" pitchFamily="18" charset="0"/>
                  </a:rPr>
                  <a:t>F</a:t>
                </a:r>
                <a:r>
                  <a:rPr lang="en-US" sz="1800" baseline="-25000" dirty="0" err="1">
                    <a:solidFill>
                      <a:schemeClr val="tx1"/>
                    </a:solidFill>
                    <a:latin typeface="Cambria Math" panose="02040503050406030204" pitchFamily="18" charset="0"/>
                    <a:ea typeface="Cambria Math" panose="02040503050406030204" pitchFamily="18" charset="0"/>
                  </a:rPr>
                  <a:t>Beta</a:t>
                </a:r>
                <a:r>
                  <a:rPr lang="en-US" sz="1800" dirty="0">
                    <a:solidFill>
                      <a:schemeClr val="tx1"/>
                    </a:solidFill>
                    <a:latin typeface="Cambria Math" panose="02040503050406030204" pitchFamily="18" charset="0"/>
                    <a:ea typeface="Cambria Math" panose="02040503050406030204" pitchFamily="18" charset="0"/>
                  </a:rPr>
                  <a:t>​(</a:t>
                </a:r>
                <a:r>
                  <a:rPr lang="en-US" sz="1800" dirty="0" err="1">
                    <a:solidFill>
                      <a:schemeClr val="tx1"/>
                    </a:solidFill>
                    <a:latin typeface="Cambria Math" panose="02040503050406030204" pitchFamily="18" charset="0"/>
                    <a:ea typeface="Cambria Math" panose="02040503050406030204" pitchFamily="18" charset="0"/>
                  </a:rPr>
                  <a:t>a</a:t>
                </a:r>
                <a:r>
                  <a:rPr lang="en-US" sz="1800" baseline="-25000" dirty="0" err="1">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a:t>
                </a:r>
                <a:r>
                  <a:rPr lang="el-GR" sz="1800" dirty="0">
                    <a:solidFill>
                      <a:schemeClr val="tx1"/>
                    </a:solidFill>
                    <a:latin typeface="Cambria Math" panose="02040503050406030204" pitchFamily="18" charset="0"/>
                    <a:ea typeface="Cambria Math" panose="02040503050406030204" pitchFamily="18" charset="0"/>
                  </a:rPr>
                  <a:t>α,β)</a:t>
                </a:r>
                <a:endParaRPr lang="en-US" sz="18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r>
                  <a:rPr lang="en-US" sz="1400" dirty="0">
                    <a:solidFill>
                      <a:schemeClr val="tx1"/>
                    </a:solidFill>
                    <a:latin typeface="Cambria Math" panose="02040503050406030204" pitchFamily="18" charset="0"/>
                    <a:ea typeface="Cambria Math" panose="02040503050406030204" pitchFamily="18" charset="0"/>
                  </a:rPr>
                  <a:t>(</a:t>
                </a:r>
                <a:r>
                  <a:rPr lang="en-US" sz="1400" dirty="0" err="1">
                    <a:solidFill>
                      <a:schemeClr val="tx1"/>
                    </a:solidFill>
                    <a:latin typeface="Cambria Math" panose="02040503050406030204" pitchFamily="18" charset="0"/>
                    <a:ea typeface="Cambria Math" panose="02040503050406030204" pitchFamily="18" charset="0"/>
                  </a:rPr>
                  <a:t>F</a:t>
                </a:r>
                <a:r>
                  <a:rPr lang="en-US" sz="1400" baseline="-25000" dirty="0" err="1">
                    <a:solidFill>
                      <a:schemeClr val="tx1"/>
                    </a:solidFill>
                    <a:latin typeface="Cambria Math" panose="02040503050406030204" pitchFamily="18" charset="0"/>
                    <a:ea typeface="Cambria Math" panose="02040503050406030204" pitchFamily="18" charset="0"/>
                  </a:rPr>
                  <a:t>Beta</a:t>
                </a:r>
                <a:r>
                  <a:rPr lang="en-US" sz="1400" dirty="0">
                    <a:solidFill>
                      <a:schemeClr val="tx1"/>
                    </a:solidFill>
                    <a:latin typeface="Cambria Math" panose="02040503050406030204" pitchFamily="18" charset="0"/>
                    <a:ea typeface="Cambria Math" panose="02040503050406030204" pitchFamily="18" charset="0"/>
                  </a:rPr>
                  <a:t> is the Beta CDF)</a:t>
                </a:r>
              </a:p>
              <a:p>
                <a:pPr marL="152400" indent="0">
                  <a:lnSpc>
                    <a:spcPct val="150000"/>
                  </a:lnSpc>
                  <a:buClr>
                    <a:schemeClr val="accent1"/>
                  </a:buClr>
                  <a:buNone/>
                </a:pPr>
                <a:endParaRPr lang="en-US" sz="1600" dirty="0">
                  <a:solidFill>
                    <a:schemeClr val="accent1"/>
                  </a:solidFill>
                </a:endParaRPr>
              </a:p>
              <a:p>
                <a:pPr marL="152400" indent="0">
                  <a:lnSpc>
                    <a:spcPct val="150000"/>
                  </a:lnSpc>
                  <a:buClr>
                    <a:schemeClr val="accent1"/>
                  </a:buClr>
                  <a:buNone/>
                </a:pPr>
                <a:endParaRPr lang="en-US" sz="1400" dirty="0">
                  <a:solidFill>
                    <a:schemeClr val="accent1"/>
                  </a:solidFill>
                </a:endParaRPr>
              </a:p>
            </p:txBody>
          </p:sp>
        </mc:Choice>
        <mc:Fallback xmlns="">
          <p:sp>
            <p:nvSpPr>
              <p:cNvPr id="3" name="Text Placeholder 2">
                <a:extLst>
                  <a:ext uri="{FF2B5EF4-FFF2-40B4-BE49-F238E27FC236}">
                    <a16:creationId xmlns:a16="http://schemas.microsoft.com/office/drawing/2014/main" id="{B9C0A5A8-B054-7CF6-2298-52247D6CF4F6}"/>
                  </a:ext>
                </a:extLst>
              </p:cNvPr>
              <p:cNvSpPr>
                <a:spLocks noGrp="1" noRot="1" noChangeAspect="1" noMove="1" noResize="1" noEditPoints="1" noAdjustHandles="1" noChangeArrowheads="1" noChangeShapeType="1" noTextEdit="1"/>
              </p:cNvSpPr>
              <p:nvPr>
                <p:ph type="body" idx="1"/>
              </p:nvPr>
            </p:nvSpPr>
            <p:spPr>
              <a:blipFill>
                <a:blip r:embed="rId3"/>
                <a:stretch>
                  <a:fillRect t="-7591"/>
                </a:stretch>
              </a:blipFill>
            </p:spPr>
            <p:txBody>
              <a:bodyPr/>
              <a:lstStyle/>
              <a:p>
                <a:r>
                  <a:rPr lang="en-US">
                    <a:noFill/>
                  </a:rPr>
                  <a:t> </a:t>
                </a:r>
              </a:p>
            </p:txBody>
          </p:sp>
        </mc:Fallback>
      </mc:AlternateContent>
    </p:spTree>
    <p:extLst>
      <p:ext uri="{BB962C8B-B14F-4D97-AF65-F5344CB8AC3E}">
        <p14:creationId xmlns:p14="http://schemas.microsoft.com/office/powerpoint/2010/main" val="4058978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989A8-EDE4-A6E7-8343-ED6D3BBF0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C3EE9-BF68-56CB-83E0-B08B0F6EF145}"/>
              </a:ext>
            </a:extLst>
          </p:cNvPr>
          <p:cNvSpPr>
            <a:spLocks noGrp="1"/>
          </p:cNvSpPr>
          <p:nvPr>
            <p:ph type="title"/>
          </p:nvPr>
        </p:nvSpPr>
        <p:spPr>
          <a:xfrm>
            <a:off x="607626" y="395717"/>
            <a:ext cx="6586994" cy="572700"/>
          </a:xfrm>
        </p:spPr>
        <p:txBody>
          <a:bodyPr/>
          <a:lstStyle/>
          <a:p>
            <a:r>
              <a:rPr lang="en-US" dirty="0"/>
              <a:t>Modeling Field Goal Attempts &amp; Success</a:t>
            </a:r>
          </a:p>
        </p:txBody>
      </p:sp>
      <p:sp>
        <p:nvSpPr>
          <p:cNvPr id="3" name="Text Placeholder 2">
            <a:extLst>
              <a:ext uri="{FF2B5EF4-FFF2-40B4-BE49-F238E27FC236}">
                <a16:creationId xmlns:a16="http://schemas.microsoft.com/office/drawing/2014/main" id="{CBC21422-AB42-936A-9FA1-0D534CBD5B2C}"/>
              </a:ext>
            </a:extLst>
          </p:cNvPr>
          <p:cNvSpPr>
            <a:spLocks noGrp="1"/>
          </p:cNvSpPr>
          <p:nvPr>
            <p:ph type="body" idx="1"/>
          </p:nvPr>
        </p:nvSpPr>
        <p:spPr/>
        <p:txBody>
          <a:bodyPr/>
          <a:lstStyle/>
          <a:p>
            <a:pPr marL="152400" indent="0">
              <a:lnSpc>
                <a:spcPct val="150000"/>
              </a:lnSpc>
              <a:buClr>
                <a:schemeClr val="accent1"/>
              </a:buClr>
              <a:buNone/>
            </a:pPr>
            <a:r>
              <a:rPr lang="en-US" sz="1800" b="1" dirty="0">
                <a:solidFill>
                  <a:schemeClr val="accent1"/>
                </a:solidFill>
              </a:rPr>
              <a:t>3. Modeling Attempt Counts</a:t>
            </a:r>
          </a:p>
          <a:p>
            <a:pPr>
              <a:lnSpc>
                <a:spcPct val="150000"/>
              </a:lnSpc>
              <a:buClr>
                <a:schemeClr val="accent1"/>
              </a:buClr>
              <a:buFont typeface="Nunito Sans SemiBold"/>
              <a:buChar char="●"/>
            </a:pPr>
            <a:r>
              <a:rPr lang="en-US" sz="1400" dirty="0">
                <a:solidFill>
                  <a:schemeClr val="accent1"/>
                </a:solidFill>
              </a:rPr>
              <a:t>The number of </a:t>
            </a:r>
            <a:r>
              <a:rPr lang="en-US" sz="1400" b="1" dirty="0">
                <a:solidFill>
                  <a:schemeClr val="accent1"/>
                </a:solidFill>
              </a:rPr>
              <a:t>attempts</a:t>
            </a:r>
            <a:r>
              <a:rPr lang="en-US" sz="1400" dirty="0">
                <a:solidFill>
                  <a:schemeClr val="accent1"/>
                </a:solidFill>
              </a:rPr>
              <a:t> in each bin follows a </a:t>
            </a:r>
            <a:r>
              <a:rPr lang="en-US" sz="1400" b="1" dirty="0">
                <a:solidFill>
                  <a:schemeClr val="accent1"/>
                </a:solidFill>
              </a:rPr>
              <a:t>Multinomial</a:t>
            </a:r>
            <a:r>
              <a:rPr lang="en-US" sz="1400" dirty="0">
                <a:solidFill>
                  <a:schemeClr val="accent1"/>
                </a:solidFill>
              </a:rPr>
              <a:t> distribution based on the proportions 𝜑</a:t>
            </a:r>
            <a:r>
              <a:rPr lang="en-US" sz="1400" baseline="-25000" dirty="0">
                <a:solidFill>
                  <a:schemeClr val="accent1"/>
                </a:solidFill>
              </a:rPr>
              <a:t>k</a:t>
            </a:r>
            <a:r>
              <a:rPr lang="en-US" sz="1400" dirty="0">
                <a:solidFill>
                  <a:schemeClr val="accent1"/>
                </a:solidFill>
              </a:rPr>
              <a:t>.</a:t>
            </a:r>
          </a:p>
          <a:p>
            <a:pPr marL="152400" indent="0">
              <a:lnSpc>
                <a:spcPct val="150000"/>
              </a:lnSpc>
              <a:buClr>
                <a:schemeClr val="accent1"/>
              </a:buClr>
              <a:buNone/>
            </a:pPr>
            <a:r>
              <a:rPr lang="en-US" sz="1800" b="1" dirty="0">
                <a:solidFill>
                  <a:schemeClr val="accent1"/>
                </a:solidFill>
              </a:rPr>
              <a:t>4. Modeling Successes</a:t>
            </a:r>
          </a:p>
          <a:p>
            <a:pPr>
              <a:lnSpc>
                <a:spcPct val="150000"/>
              </a:lnSpc>
              <a:buClr>
                <a:schemeClr val="accent1"/>
              </a:buClr>
              <a:buFont typeface="Nunito Sans SemiBold"/>
              <a:buChar char="●"/>
            </a:pPr>
            <a:r>
              <a:rPr lang="en-US" sz="1400" dirty="0">
                <a:solidFill>
                  <a:schemeClr val="accent1"/>
                </a:solidFill>
              </a:rPr>
              <a:t>Given attempts, the number of </a:t>
            </a:r>
            <a:r>
              <a:rPr lang="en-US" sz="1400" b="1" dirty="0">
                <a:solidFill>
                  <a:schemeClr val="accent1"/>
                </a:solidFill>
              </a:rPr>
              <a:t>made</a:t>
            </a:r>
            <a:r>
              <a:rPr lang="en-US" sz="1400" dirty="0">
                <a:solidFill>
                  <a:schemeClr val="accent1"/>
                </a:solidFill>
              </a:rPr>
              <a:t> kicks in each bin follows a </a:t>
            </a:r>
            <a:r>
              <a:rPr lang="en-US" sz="1400" b="1" dirty="0">
                <a:solidFill>
                  <a:schemeClr val="accent1"/>
                </a:solidFill>
              </a:rPr>
              <a:t>Binomial</a:t>
            </a:r>
            <a:r>
              <a:rPr lang="en-US" sz="1400" dirty="0">
                <a:solidFill>
                  <a:schemeClr val="accent1"/>
                </a:solidFill>
              </a:rPr>
              <a:t> distribution. </a:t>
            </a:r>
          </a:p>
          <a:p>
            <a:pPr>
              <a:lnSpc>
                <a:spcPct val="150000"/>
              </a:lnSpc>
              <a:buClr>
                <a:schemeClr val="accent1"/>
              </a:buClr>
              <a:buFont typeface="Nunito Sans SemiBold"/>
              <a:buChar char="●"/>
            </a:pPr>
            <a:r>
              <a:rPr lang="en-US" sz="1400" dirty="0">
                <a:solidFill>
                  <a:schemeClr val="accent1"/>
                </a:solidFill>
              </a:rPr>
              <a:t>The probability of making a field goal depends on distance through a logistic function with parameters 𝛾</a:t>
            </a:r>
            <a:r>
              <a:rPr lang="en-US" sz="1400" baseline="-25000" dirty="0">
                <a:solidFill>
                  <a:schemeClr val="accent1"/>
                </a:solidFill>
              </a:rPr>
              <a:t>0 </a:t>
            </a:r>
            <a:r>
              <a:rPr lang="en-US" sz="1400" dirty="0">
                <a:solidFill>
                  <a:schemeClr val="accent1"/>
                </a:solidFill>
              </a:rPr>
              <a:t>and 𝛾</a:t>
            </a:r>
            <a:r>
              <a:rPr lang="en-US" sz="1400" baseline="-25000" dirty="0">
                <a:solidFill>
                  <a:schemeClr val="accent1"/>
                </a:solidFill>
              </a:rPr>
              <a:t>1</a:t>
            </a:r>
            <a:r>
              <a:rPr lang="en-US" sz="1400" dirty="0">
                <a:solidFill>
                  <a:schemeClr val="accent1"/>
                </a:solidFill>
              </a:rPr>
              <a:t>.</a:t>
            </a:r>
          </a:p>
        </p:txBody>
      </p:sp>
    </p:spTree>
    <p:extLst>
      <p:ext uri="{BB962C8B-B14F-4D97-AF65-F5344CB8AC3E}">
        <p14:creationId xmlns:p14="http://schemas.microsoft.com/office/powerpoint/2010/main" val="210724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16C8-8729-AA3E-973C-DD5B8CC43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4FB30-6A17-236C-EE69-8F4D9C92A0B3}"/>
              </a:ext>
            </a:extLst>
          </p:cNvPr>
          <p:cNvSpPr>
            <a:spLocks noGrp="1"/>
          </p:cNvSpPr>
          <p:nvPr>
            <p:ph type="title"/>
          </p:nvPr>
        </p:nvSpPr>
        <p:spPr>
          <a:xfrm>
            <a:off x="607626" y="395717"/>
            <a:ext cx="6586994" cy="572700"/>
          </a:xfrm>
        </p:spPr>
        <p:txBody>
          <a:bodyPr/>
          <a:lstStyle/>
          <a:p>
            <a:r>
              <a:rPr lang="en-US" dirty="0"/>
              <a:t>Modeling Field Goal Attempts &amp; Success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E6885BB-D1F7-DCEE-1D00-5029C59D1B23}"/>
                  </a:ext>
                </a:extLst>
              </p:cNvPr>
              <p:cNvSpPr>
                <a:spLocks noGrp="1"/>
              </p:cNvSpPr>
              <p:nvPr>
                <p:ph type="body" idx="1"/>
              </p:nvPr>
            </p:nvSpPr>
            <p:spPr/>
            <p:txBody>
              <a:bodyPr/>
              <a:lstStyle/>
              <a:p>
                <a:pPr marL="152400" indent="0">
                  <a:lnSpc>
                    <a:spcPct val="150000"/>
                  </a:lnSpc>
                  <a:buClr>
                    <a:schemeClr val="accent1"/>
                  </a:buClr>
                  <a:buNone/>
                </a:pPr>
                <a:r>
                  <a:rPr lang="en-US" sz="2000" dirty="0">
                    <a:solidFill>
                      <a:schemeClr val="accent1"/>
                    </a:solidFill>
                  </a:rPr>
                  <a:t>Attempt Count Model:</a:t>
                </a:r>
              </a:p>
              <a:p>
                <a:pPr marL="152400" indent="0">
                  <a:lnSpc>
                    <a:spcPct val="150000"/>
                  </a:lnSpc>
                  <a:buClr>
                    <a:schemeClr val="accent1"/>
                  </a:buClr>
                  <a:buNone/>
                </a:pPr>
                <a:r>
                  <a:rPr lang="en-US" sz="1100" dirty="0">
                    <a:solidFill>
                      <a:schemeClr val="accent1"/>
                    </a:solidFill>
                  </a:rPr>
                  <a:t> </a:t>
                </a:r>
                <a14:m>
                  <m:oMath xmlns:m="http://schemas.openxmlformats.org/officeDocument/2006/math">
                    <m:r>
                      <a:rPr lang="pt-BR" sz="1800" i="1" kern="100">
                        <a:latin typeface="Cambria Math" panose="02040503050406030204" pitchFamily="18" charset="0"/>
                        <a:ea typeface="Times New Roman" panose="02020603050405020304" pitchFamily="18" charset="0"/>
                        <a:cs typeface="Times New Roman" panose="02020603050405020304" pitchFamily="18" charset="0"/>
                      </a:rPr>
                      <m:t>𝑛</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𝑛</m:t>
                    </m:r>
                    <m:r>
                      <a:rPr lang="pt-BR" sz="1800" i="1" kern="100" baseline="-25000">
                        <a:latin typeface="Cambria Math" panose="02040503050406030204" pitchFamily="18" charset="0"/>
                        <a:ea typeface="Times New Roman" panose="02020603050405020304" pitchFamily="18" charset="0"/>
                        <a:cs typeface="Times New Roman" panose="02020603050405020304" pitchFamily="18" charset="0"/>
                      </a:rPr>
                      <m:t>1</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𝑛𝐾</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𝑀𝑢𝑙𝑡𝑖𝑛𝑜𝑚𝑖𝑎𝑙</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𝑁</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𝜙</m:t>
                    </m:r>
                    <m:r>
                      <a:rPr lang="pt-BR" sz="1800" i="1" kern="100">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1800" dirty="0">
                  <a:solidFill>
                    <a:schemeClr val="accent1"/>
                  </a:solidFill>
                </a:endParaRPr>
              </a:p>
              <a:p>
                <a:pPr marL="152400" indent="0">
                  <a:lnSpc>
                    <a:spcPct val="150000"/>
                  </a:lnSpc>
                  <a:buClr>
                    <a:schemeClr val="accent1"/>
                  </a:buClr>
                  <a:buNone/>
                </a:pPr>
                <a:r>
                  <a:rPr lang="en-US" sz="1800" dirty="0">
                    <a:solidFill>
                      <a:schemeClr val="tx1"/>
                    </a:solidFill>
                    <a:latin typeface="Cambria Math" panose="02040503050406030204" pitchFamily="18" charset="0"/>
                    <a:ea typeface="Cambria Math" panose="02040503050406030204" pitchFamily="18" charset="0"/>
                  </a:rPr>
                  <a:t>N = total number of attempts</a:t>
                </a:r>
              </a:p>
              <a:p>
                <a:pPr marL="152400" indent="0">
                  <a:lnSpc>
                    <a:spcPct val="150000"/>
                  </a:lnSpc>
                  <a:buClr>
                    <a:schemeClr val="accent1"/>
                  </a:buClr>
                  <a:buNone/>
                </a:pPr>
                <a:r>
                  <a:rPr lang="el-GR" sz="1800" dirty="0">
                    <a:solidFill>
                      <a:schemeClr val="tx1"/>
                    </a:solidFill>
                    <a:latin typeface="Cambria Math" panose="02040503050406030204" pitchFamily="18" charset="0"/>
                    <a:ea typeface="Cambria Math" panose="02040503050406030204" pitchFamily="18" charset="0"/>
                  </a:rPr>
                  <a:t>ϕ=(ϕ</a:t>
                </a:r>
                <a:r>
                  <a:rPr lang="en-US" sz="1800" baseline="-25000" dirty="0">
                    <a:solidFill>
                      <a:schemeClr val="tx1"/>
                    </a:solidFill>
                    <a:latin typeface="Cambria Math" panose="02040503050406030204" pitchFamily="18" charset="0"/>
                    <a:ea typeface="Cambria Math" panose="02040503050406030204" pitchFamily="18" charset="0"/>
                  </a:rPr>
                  <a:t>1</a:t>
                </a:r>
                <a:r>
                  <a:rPr lang="el-GR" sz="1800" dirty="0">
                    <a:solidFill>
                      <a:schemeClr val="tx1"/>
                    </a:solidFill>
                    <a:latin typeface="Cambria Math" panose="02040503050406030204" pitchFamily="18" charset="0"/>
                    <a:ea typeface="Cambria Math" panose="02040503050406030204" pitchFamily="18" charset="0"/>
                  </a:rPr>
                  <a:t>,…,ϕ</a:t>
                </a:r>
                <a:r>
                  <a:rPr lang="en-US" sz="1800" baseline="-25000" dirty="0">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a:t>
                </a:r>
              </a:p>
              <a:p>
                <a:pPr marL="152400" indent="0">
                  <a:lnSpc>
                    <a:spcPct val="150000"/>
                  </a:lnSpc>
                  <a:buClr>
                    <a:schemeClr val="accent1"/>
                  </a:buClr>
                  <a:buNone/>
                </a:pPr>
                <a:r>
                  <a:rPr lang="en-US" sz="2000" dirty="0">
                    <a:solidFill>
                      <a:schemeClr val="accent1"/>
                    </a:solidFill>
                  </a:rPr>
                  <a:t>Successes Model</a:t>
                </a:r>
                <a:r>
                  <a:rPr lang="en-US" sz="1800" dirty="0">
                    <a:solidFill>
                      <a:schemeClr val="accent1"/>
                    </a:solidFill>
                  </a:rPr>
                  <a:t>:</a:t>
                </a:r>
              </a:p>
              <a:p>
                <a:pPr marL="152400" indent="0">
                  <a:lnSpc>
                    <a:spcPct val="150000"/>
                  </a:lnSpc>
                  <a:buClr>
                    <a:schemeClr val="accent1"/>
                  </a:buClr>
                  <a:buNone/>
                </a:pPr>
                <a:r>
                  <a:rPr lang="en-US" sz="1800" dirty="0" err="1">
                    <a:solidFill>
                      <a:schemeClr val="tx1"/>
                    </a:solidFill>
                    <a:latin typeface="Cambria Math" panose="02040503050406030204" pitchFamily="18" charset="0"/>
                    <a:ea typeface="Cambria Math" panose="02040503050406030204" pitchFamily="18" charset="0"/>
                  </a:rPr>
                  <a:t>y</a:t>
                </a:r>
                <a:r>
                  <a:rPr lang="en-US" sz="1800" baseline="-25000" dirty="0" err="1">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 ∼ Binomial(</a:t>
                </a:r>
                <a:r>
                  <a:rPr lang="en-US" sz="1800" dirty="0" err="1">
                    <a:solidFill>
                      <a:schemeClr val="tx1"/>
                    </a:solidFill>
                    <a:latin typeface="Cambria Math" panose="02040503050406030204" pitchFamily="18" charset="0"/>
                    <a:ea typeface="Cambria Math" panose="02040503050406030204" pitchFamily="18" charset="0"/>
                  </a:rPr>
                  <a:t>n</a:t>
                </a:r>
                <a:r>
                  <a:rPr lang="en-US" sz="1800" baseline="-25000" dirty="0" err="1">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 p</a:t>
                </a:r>
                <a:r>
                  <a:rPr lang="en-US" sz="1800" baseline="-25000" dirty="0">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 </a:t>
                </a:r>
              </a:p>
              <a:p>
                <a:pPr marL="152400" indent="0">
                  <a:lnSpc>
                    <a:spcPct val="150000"/>
                  </a:lnSpc>
                  <a:buClr>
                    <a:schemeClr val="accent1"/>
                  </a:buClr>
                  <a:buNone/>
                </a:pPr>
                <a:r>
                  <a:rPr lang="en-US" sz="1800" dirty="0">
                    <a:solidFill>
                      <a:schemeClr val="tx1"/>
                    </a:solidFill>
                    <a:latin typeface="Cambria Math" panose="02040503050406030204" pitchFamily="18" charset="0"/>
                    <a:ea typeface="Cambria Math" panose="02040503050406030204" pitchFamily="18" charset="0"/>
                  </a:rPr>
                  <a:t>𝑝</a:t>
                </a:r>
                <a:r>
                  <a:rPr lang="en-US" sz="1800" baseline="-25000" dirty="0">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 ​ = probability of success for bin 𝑘, and 𝑛</a:t>
                </a:r>
                <a:r>
                  <a:rPr lang="en-US" sz="1800" baseline="-25000" dirty="0">
                    <a:solidFill>
                      <a:schemeClr val="tx1"/>
                    </a:solidFill>
                    <a:latin typeface="Cambria Math" panose="02040503050406030204" pitchFamily="18" charset="0"/>
                    <a:ea typeface="Cambria Math" panose="02040503050406030204" pitchFamily="18" charset="0"/>
                  </a:rPr>
                  <a:t>k</a:t>
                </a:r>
                <a:r>
                  <a:rPr lang="en-US" sz="1800" dirty="0">
                    <a:solidFill>
                      <a:schemeClr val="tx1"/>
                    </a:solidFill>
                    <a:latin typeface="Cambria Math" panose="02040503050406030204" pitchFamily="18" charset="0"/>
                    <a:ea typeface="Cambria Math" panose="02040503050406030204" pitchFamily="18" charset="0"/>
                  </a:rPr>
                  <a:t>​ = number of attempts in bin 𝑘 .</a:t>
                </a:r>
              </a:p>
              <a:p>
                <a:pPr marL="152400" indent="0">
                  <a:lnSpc>
                    <a:spcPct val="150000"/>
                  </a:lnSpc>
                  <a:buClr>
                    <a:schemeClr val="accent1"/>
                  </a:buClr>
                  <a:buNone/>
                </a:pPr>
                <a:endParaRPr lang="en-US" sz="1600" dirty="0">
                  <a:solidFill>
                    <a:schemeClr val="accent1"/>
                  </a:solidFill>
                </a:endParaRPr>
              </a:p>
              <a:p>
                <a:pPr marL="152400" indent="0">
                  <a:lnSpc>
                    <a:spcPct val="150000"/>
                  </a:lnSpc>
                  <a:buClr>
                    <a:schemeClr val="accent1"/>
                  </a:buClr>
                  <a:buNone/>
                </a:pPr>
                <a:endParaRPr lang="en-US" sz="1400" dirty="0">
                  <a:solidFill>
                    <a:schemeClr val="accent1"/>
                  </a:solidFill>
                </a:endParaRPr>
              </a:p>
            </p:txBody>
          </p:sp>
        </mc:Choice>
        <mc:Fallback xmlns="">
          <p:sp>
            <p:nvSpPr>
              <p:cNvPr id="3" name="Text Placeholder 2">
                <a:extLst>
                  <a:ext uri="{FF2B5EF4-FFF2-40B4-BE49-F238E27FC236}">
                    <a16:creationId xmlns:a16="http://schemas.microsoft.com/office/drawing/2014/main" id="{CE6885BB-D1F7-DCEE-1D00-5029C59D1B23}"/>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7713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3BE31-F76B-6D52-A4EE-83D2742F6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598B4-2909-5905-26D7-8B01C8576B2F}"/>
              </a:ext>
            </a:extLst>
          </p:cNvPr>
          <p:cNvSpPr>
            <a:spLocks noGrp="1"/>
          </p:cNvSpPr>
          <p:nvPr>
            <p:ph type="title"/>
          </p:nvPr>
        </p:nvSpPr>
        <p:spPr>
          <a:xfrm>
            <a:off x="607626" y="395717"/>
            <a:ext cx="6586994" cy="572700"/>
          </a:xfrm>
        </p:spPr>
        <p:txBody>
          <a:bodyPr/>
          <a:lstStyle/>
          <a:p>
            <a:r>
              <a:rPr lang="en-US" dirty="0"/>
              <a:t>Modeling Field Goal Attempts &amp; Success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D89A0D6-0B07-DD35-83FC-E08D90AD95E0}"/>
                  </a:ext>
                </a:extLst>
              </p:cNvPr>
              <p:cNvSpPr>
                <a:spLocks noGrp="1"/>
              </p:cNvSpPr>
              <p:nvPr>
                <p:ph type="body" idx="1"/>
              </p:nvPr>
            </p:nvSpPr>
            <p:spPr/>
            <p:txBody>
              <a:bodyPr/>
              <a:lstStyle/>
              <a:p>
                <a:pPr marL="152400" indent="0">
                  <a:lnSpc>
                    <a:spcPct val="150000"/>
                  </a:lnSpc>
                  <a:buClr>
                    <a:schemeClr val="accent1"/>
                  </a:buClr>
                  <a:buNone/>
                </a:pPr>
                <a:r>
                  <a:rPr lang="en-US" sz="2000" dirty="0">
                    <a:solidFill>
                      <a:schemeClr val="accent1"/>
                    </a:solidFill>
                  </a:rPr>
                  <a:t>Logistic Function Equation:</a:t>
                </a:r>
              </a:p>
              <a:p>
                <a:pPr marL="152400" indent="0">
                  <a:buNone/>
                </a:pPr>
                <a:r>
                  <a:rPr lang="en-US" sz="1100" dirty="0">
                    <a:solidFill>
                      <a:schemeClr val="accent1"/>
                    </a:solidFill>
                    <a:latin typeface="Cambria Math" panose="02040503050406030204" pitchFamily="18" charset="0"/>
                    <a:ea typeface="Cambria Math" panose="02040503050406030204" pitchFamily="18" charset="0"/>
                  </a:rPr>
                  <a:t> </a:t>
                </a:r>
                <a14:m>
                  <m:oMath xmlns:m="http://schemas.openxmlformats.org/officeDocument/2006/math">
                    <m:r>
                      <a:rPr lang="en-US" sz="1800">
                        <a:solidFill>
                          <a:schemeClr val="tx1"/>
                        </a:solidFill>
                        <a:latin typeface="Cambria Math" panose="02040503050406030204" pitchFamily="18" charset="0"/>
                        <a:ea typeface="Cambria Math" panose="02040503050406030204" pitchFamily="18" charset="0"/>
                      </a:rPr>
                      <m:t>𝑝</m:t>
                    </m:r>
                    <m:d>
                      <m:dPr>
                        <m:ctrlPr>
                          <a:rPr lang="en-US" sz="1800" i="1">
                            <a:solidFill>
                              <a:schemeClr val="tx1"/>
                            </a:solidFill>
                            <a:latin typeface="Cambria Math" panose="02040503050406030204" pitchFamily="18" charset="0"/>
                            <a:ea typeface="Cambria Math" panose="02040503050406030204" pitchFamily="18" charset="0"/>
                          </a:rPr>
                        </m:ctrlPr>
                      </m:dPr>
                      <m:e>
                        <m:r>
                          <a:rPr lang="en-US" sz="1800">
                            <a:solidFill>
                              <a:schemeClr val="tx1"/>
                            </a:solidFill>
                            <a:latin typeface="Cambria Math" panose="02040503050406030204" pitchFamily="18" charset="0"/>
                            <a:ea typeface="Cambria Math" panose="02040503050406030204" pitchFamily="18" charset="0"/>
                          </a:rPr>
                          <m:t>𝑥</m:t>
                        </m:r>
                      </m:e>
                      <m:e>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a:solidFill>
                                  <a:schemeClr val="tx1"/>
                                </a:solidFill>
                                <a:latin typeface="Cambria Math" panose="02040503050406030204" pitchFamily="18" charset="0"/>
                                <a:ea typeface="Cambria Math" panose="02040503050406030204" pitchFamily="18" charset="0"/>
                              </a:rPr>
                              <m:t>𝛾</m:t>
                            </m:r>
                          </m:e>
                          <m:sub>
                            <m:r>
                              <a:rPr lang="en-US" sz="1800">
                                <a:solidFill>
                                  <a:schemeClr val="tx1"/>
                                </a:solidFill>
                                <a:latin typeface="Cambria Math" panose="02040503050406030204" pitchFamily="18" charset="0"/>
                                <a:ea typeface="Cambria Math" panose="02040503050406030204" pitchFamily="18" charset="0"/>
                              </a:rPr>
                              <m:t>0</m:t>
                            </m:r>
                          </m:sub>
                        </m:sSub>
                        <m:r>
                          <a:rPr lang="en-US" sz="1800">
                            <a:solidFill>
                              <a:schemeClr val="tx1"/>
                            </a:solidFill>
                            <a:latin typeface="Cambria Math" panose="02040503050406030204" pitchFamily="18" charset="0"/>
                            <a:ea typeface="Cambria Math" panose="02040503050406030204" pitchFamily="18" charset="0"/>
                          </a:rPr>
                          <m:t>,</m:t>
                        </m:r>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a:solidFill>
                                  <a:schemeClr val="tx1"/>
                                </a:solidFill>
                                <a:latin typeface="Cambria Math" panose="02040503050406030204" pitchFamily="18" charset="0"/>
                                <a:ea typeface="Cambria Math" panose="02040503050406030204" pitchFamily="18" charset="0"/>
                              </a:rPr>
                              <m:t>𝛾</m:t>
                            </m:r>
                          </m:e>
                          <m:sub>
                            <m:r>
                              <a:rPr lang="en-US" sz="1800">
                                <a:solidFill>
                                  <a:schemeClr val="tx1"/>
                                </a:solidFill>
                                <a:latin typeface="Cambria Math" panose="02040503050406030204" pitchFamily="18" charset="0"/>
                                <a:ea typeface="Cambria Math" panose="02040503050406030204" pitchFamily="18" charset="0"/>
                              </a:rPr>
                              <m:t>1</m:t>
                            </m:r>
                          </m:sub>
                        </m:sSub>
                      </m:e>
                    </m:d>
                    <m:r>
                      <a:rPr lang="en-US" sz="1800">
                        <a:solidFill>
                          <a:schemeClr val="tx1"/>
                        </a:solidFill>
                        <a:latin typeface="Cambria Math" panose="02040503050406030204" pitchFamily="18" charset="0"/>
                        <a:ea typeface="Cambria Math" panose="02040503050406030204" pitchFamily="18" charset="0"/>
                      </a:rPr>
                      <m:t>=</m:t>
                    </m:r>
                    <m:f>
                      <m:fPr>
                        <m:ctrlPr>
                          <a:rPr lang="en-US" sz="1800" i="1">
                            <a:solidFill>
                              <a:schemeClr val="tx1"/>
                            </a:solidFill>
                            <a:latin typeface="Cambria Math" panose="02040503050406030204" pitchFamily="18" charset="0"/>
                            <a:ea typeface="Cambria Math" panose="02040503050406030204" pitchFamily="18" charset="0"/>
                          </a:rPr>
                        </m:ctrlPr>
                      </m:fPr>
                      <m:num>
                        <m:r>
                          <a:rPr lang="en-US" sz="1800">
                            <a:solidFill>
                              <a:schemeClr val="tx1"/>
                            </a:solidFill>
                            <a:latin typeface="Cambria Math" panose="02040503050406030204" pitchFamily="18" charset="0"/>
                            <a:ea typeface="Cambria Math" panose="02040503050406030204" pitchFamily="18" charset="0"/>
                          </a:rPr>
                          <m:t>1</m:t>
                        </m:r>
                      </m:num>
                      <m:den>
                        <m:r>
                          <a:rPr lang="en-US" sz="1800">
                            <a:solidFill>
                              <a:schemeClr val="tx1"/>
                            </a:solidFill>
                            <a:latin typeface="Cambria Math" panose="02040503050406030204" pitchFamily="18" charset="0"/>
                            <a:ea typeface="Cambria Math" panose="02040503050406030204" pitchFamily="18" charset="0"/>
                          </a:rPr>
                          <m:t>1+</m:t>
                        </m:r>
                        <m:sSup>
                          <m:sSupPr>
                            <m:ctrlPr>
                              <a:rPr lang="en-US" sz="1800" i="1">
                                <a:solidFill>
                                  <a:schemeClr val="tx1"/>
                                </a:solidFill>
                                <a:latin typeface="Cambria Math" panose="02040503050406030204" pitchFamily="18" charset="0"/>
                                <a:ea typeface="Cambria Math" panose="02040503050406030204" pitchFamily="18" charset="0"/>
                              </a:rPr>
                            </m:ctrlPr>
                          </m:sSupPr>
                          <m:e>
                            <m:r>
                              <a:rPr lang="en-US" sz="1800">
                                <a:solidFill>
                                  <a:schemeClr val="tx1"/>
                                </a:solidFill>
                                <a:latin typeface="Cambria Math" panose="02040503050406030204" pitchFamily="18" charset="0"/>
                                <a:ea typeface="Cambria Math" panose="02040503050406030204" pitchFamily="18" charset="0"/>
                              </a:rPr>
                              <m:t>𝑒</m:t>
                            </m:r>
                          </m:e>
                          <m:sup>
                            <m:r>
                              <a:rPr lang="en-US" sz="1800">
                                <a:solidFill>
                                  <a:schemeClr val="tx1"/>
                                </a:solidFill>
                                <a:latin typeface="Cambria Math" panose="02040503050406030204" pitchFamily="18" charset="0"/>
                                <a:ea typeface="Cambria Math" panose="02040503050406030204" pitchFamily="18" charset="0"/>
                              </a:rPr>
                              <m:t>−</m:t>
                            </m:r>
                            <m:d>
                              <m:dPr>
                                <m:ctrlPr>
                                  <a:rPr lang="en-US" sz="1800" i="1">
                                    <a:solidFill>
                                      <a:schemeClr val="tx1"/>
                                    </a:solidFill>
                                    <a:latin typeface="Cambria Math" panose="02040503050406030204" pitchFamily="18" charset="0"/>
                                    <a:ea typeface="Cambria Math" panose="02040503050406030204" pitchFamily="18" charset="0"/>
                                  </a:rPr>
                                </m:ctrlPr>
                              </m:dPr>
                              <m:e>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a:solidFill>
                                          <a:schemeClr val="tx1"/>
                                        </a:solidFill>
                                        <a:latin typeface="Cambria Math" panose="02040503050406030204" pitchFamily="18" charset="0"/>
                                        <a:ea typeface="Cambria Math" panose="02040503050406030204" pitchFamily="18" charset="0"/>
                                      </a:rPr>
                                      <m:t>𝛾</m:t>
                                    </m:r>
                                  </m:e>
                                  <m:sub>
                                    <m:r>
                                      <a:rPr lang="en-US" sz="1800">
                                        <a:solidFill>
                                          <a:schemeClr val="tx1"/>
                                        </a:solidFill>
                                        <a:latin typeface="Cambria Math" panose="02040503050406030204" pitchFamily="18" charset="0"/>
                                        <a:ea typeface="Cambria Math" panose="02040503050406030204" pitchFamily="18" charset="0"/>
                                      </a:rPr>
                                      <m:t>0</m:t>
                                    </m:r>
                                  </m:sub>
                                </m:sSub>
                                <m:r>
                                  <a:rPr lang="en-US" sz="1800">
                                    <a:solidFill>
                                      <a:schemeClr val="tx1"/>
                                    </a:solidFill>
                                    <a:latin typeface="Cambria Math" panose="02040503050406030204" pitchFamily="18" charset="0"/>
                                    <a:ea typeface="Cambria Math" panose="02040503050406030204" pitchFamily="18" charset="0"/>
                                  </a:rPr>
                                  <m:t>+</m:t>
                                </m:r>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a:solidFill>
                                          <a:schemeClr val="tx1"/>
                                        </a:solidFill>
                                        <a:latin typeface="Cambria Math" panose="02040503050406030204" pitchFamily="18" charset="0"/>
                                        <a:ea typeface="Cambria Math" panose="02040503050406030204" pitchFamily="18" charset="0"/>
                                      </a:rPr>
                                      <m:t>𝛾</m:t>
                                    </m:r>
                                  </m:e>
                                  <m:sub>
                                    <m:r>
                                      <a:rPr lang="en-US" sz="1800">
                                        <a:solidFill>
                                          <a:schemeClr val="tx1"/>
                                        </a:solidFill>
                                        <a:latin typeface="Cambria Math" panose="02040503050406030204" pitchFamily="18" charset="0"/>
                                        <a:ea typeface="Cambria Math" panose="02040503050406030204" pitchFamily="18" charset="0"/>
                                      </a:rPr>
                                      <m:t>1</m:t>
                                    </m:r>
                                  </m:sub>
                                </m:sSub>
                                <m:r>
                                  <a:rPr lang="en-US" sz="1800">
                                    <a:solidFill>
                                      <a:schemeClr val="tx1"/>
                                    </a:solidFill>
                                    <a:latin typeface="Cambria Math" panose="02040503050406030204" pitchFamily="18" charset="0"/>
                                    <a:ea typeface="Cambria Math" panose="02040503050406030204" pitchFamily="18" charset="0"/>
                                  </a:rPr>
                                  <m:t>𝑥</m:t>
                                </m:r>
                              </m:e>
                            </m:d>
                          </m:sup>
                        </m:sSup>
                      </m:den>
                    </m:f>
                  </m:oMath>
                </a14:m>
                <a:endParaRPr lang="en-US" sz="18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r>
                  <a:rPr lang="en-US" sz="2000" dirty="0">
                    <a:solidFill>
                      <a:schemeClr val="accent1"/>
                    </a:solidFill>
                  </a:rPr>
                  <a:t>Successes Model</a:t>
                </a:r>
                <a:r>
                  <a:rPr lang="en-US" sz="1800" dirty="0">
                    <a:solidFill>
                      <a:schemeClr val="accent1"/>
                    </a:solidFill>
                  </a:rPr>
                  <a:t>:</a:t>
                </a:r>
              </a:p>
              <a:p>
                <a:pPr marL="152400" indent="0">
                  <a:lnSpc>
                    <a:spcPct val="150000"/>
                  </a:lnSpc>
                  <a:buClr>
                    <a:schemeClr val="accent1"/>
                  </a:buClr>
                  <a:buNone/>
                </a:pPr>
                <a14:m>
                  <m:oMathPara xmlns:m="http://schemas.openxmlformats.org/officeDocument/2006/math">
                    <m:oMathParaPr>
                      <m:jc m:val="centerGroup"/>
                    </m:oMathParaPr>
                    <m:oMath xmlns:m="http://schemas.openxmlformats.org/officeDocument/2006/math">
                      <m:sSub>
                        <m:sSubPr>
                          <m:ctrlPr>
                            <a:rPr lang="en-US" sz="1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𝜙</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den>
                      </m:f>
                      <m:nary>
                        <m:nary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naryPr>
                        <m:sub>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𝑎</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sub>
                        <m:sup>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sup>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𝑥</m:t>
                              </m:r>
                            </m:e>
                            <m:e>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𝛾</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0</m:t>
                                  </m:r>
                                </m:sub>
                              </m:s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𝛾</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1</m:t>
                                  </m:r>
                                </m:sub>
                              </m:sSub>
                            </m:e>
                          </m:d>
                          <m:r>
                            <a:rPr lang="en-US" sz="1800" i="1" kern="100">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𝑓</m:t>
                              </m:r>
                            </m:e>
                            <m:sub>
                              <m:r>
                                <m:rPr>
                                  <m:sty m:val="p"/>
                                </m:rPr>
                                <a:rPr lang="en-US" sz="1800" kern="100">
                                  <a:effectLst/>
                                  <a:latin typeface="Cambria Math" panose="02040503050406030204" pitchFamily="18" charset="0"/>
                                  <a:ea typeface="Times New Roman" panose="02020603050405020304" pitchFamily="18" charset="0"/>
                                  <a:cs typeface="Times New Roman" panose="02020603050405020304" pitchFamily="18" charset="0"/>
                                </a:rPr>
                                <m:t>Beta</m:t>
                              </m:r>
                            </m:sub>
                          </m:sSub>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𝑑𝑥</m:t>
                          </m:r>
                        </m:e>
                      </m:nary>
                    </m:oMath>
                  </m:oMathPara>
                </a14:m>
                <a:endParaRPr lang="en-US" sz="18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18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1600" dirty="0">
                  <a:solidFill>
                    <a:schemeClr val="accent1"/>
                  </a:solidFill>
                </a:endParaRPr>
              </a:p>
              <a:p>
                <a:pPr marL="152400" indent="0">
                  <a:lnSpc>
                    <a:spcPct val="150000"/>
                  </a:lnSpc>
                  <a:buClr>
                    <a:schemeClr val="accent1"/>
                  </a:buClr>
                  <a:buNone/>
                </a:pPr>
                <a:endParaRPr lang="en-US" sz="1400" dirty="0">
                  <a:solidFill>
                    <a:schemeClr val="accent1"/>
                  </a:solidFill>
                </a:endParaRPr>
              </a:p>
            </p:txBody>
          </p:sp>
        </mc:Choice>
        <mc:Fallback xmlns="">
          <p:sp>
            <p:nvSpPr>
              <p:cNvPr id="3" name="Text Placeholder 2">
                <a:extLst>
                  <a:ext uri="{FF2B5EF4-FFF2-40B4-BE49-F238E27FC236}">
                    <a16:creationId xmlns:a16="http://schemas.microsoft.com/office/drawing/2014/main" id="{4D89A0D6-0B07-DD35-83FC-E08D90AD95E0}"/>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90445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5C03-CE76-8B08-9A37-9DF6359DA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0B4F0-8923-DD6C-DE40-52A17D9172D0}"/>
              </a:ext>
            </a:extLst>
          </p:cNvPr>
          <p:cNvSpPr>
            <a:spLocks noGrp="1"/>
          </p:cNvSpPr>
          <p:nvPr>
            <p:ph type="title"/>
          </p:nvPr>
        </p:nvSpPr>
        <p:spPr>
          <a:xfrm>
            <a:off x="607626" y="395717"/>
            <a:ext cx="6586994" cy="572700"/>
          </a:xfrm>
        </p:spPr>
        <p:txBody>
          <a:bodyPr/>
          <a:lstStyle/>
          <a:p>
            <a:r>
              <a:rPr lang="en-US" dirty="0"/>
              <a:t>Modeling Field Goal Attempts &amp; Success</a:t>
            </a:r>
          </a:p>
        </p:txBody>
      </p:sp>
      <p:sp>
        <p:nvSpPr>
          <p:cNvPr id="3" name="Text Placeholder 2">
            <a:extLst>
              <a:ext uri="{FF2B5EF4-FFF2-40B4-BE49-F238E27FC236}">
                <a16:creationId xmlns:a16="http://schemas.microsoft.com/office/drawing/2014/main" id="{60D041BE-588D-EB77-5F90-B443247E3D2C}"/>
              </a:ext>
            </a:extLst>
          </p:cNvPr>
          <p:cNvSpPr>
            <a:spLocks noGrp="1"/>
          </p:cNvSpPr>
          <p:nvPr>
            <p:ph type="body" idx="1"/>
          </p:nvPr>
        </p:nvSpPr>
        <p:spPr/>
        <p:txBody>
          <a:bodyPr/>
          <a:lstStyle/>
          <a:p>
            <a:pPr marL="152400" indent="0">
              <a:lnSpc>
                <a:spcPct val="150000"/>
              </a:lnSpc>
              <a:buClr>
                <a:schemeClr val="accent1"/>
              </a:buClr>
              <a:buNone/>
            </a:pPr>
            <a:r>
              <a:rPr lang="en-US" sz="1800" b="1" dirty="0">
                <a:solidFill>
                  <a:schemeClr val="accent1"/>
                </a:solidFill>
              </a:rPr>
              <a:t>5. Inference Goal</a:t>
            </a:r>
          </a:p>
          <a:p>
            <a:pPr>
              <a:lnSpc>
                <a:spcPct val="150000"/>
              </a:lnSpc>
              <a:buClr>
                <a:schemeClr val="accent1"/>
              </a:buClr>
              <a:buFont typeface="Nunito Sans SemiBold"/>
              <a:buChar char="●"/>
            </a:pPr>
            <a:r>
              <a:rPr lang="en-US" sz="1400" dirty="0">
                <a:solidFill>
                  <a:schemeClr val="accent1"/>
                </a:solidFill>
              </a:rPr>
              <a:t>Infer the 4 unknown parameters: 						𝛾</a:t>
            </a:r>
            <a:r>
              <a:rPr lang="en-US" sz="1400" baseline="-25000" dirty="0">
                <a:solidFill>
                  <a:schemeClr val="accent1"/>
                </a:solidFill>
              </a:rPr>
              <a:t>0</a:t>
            </a:r>
            <a:r>
              <a:rPr lang="en-US" sz="1400" dirty="0">
                <a:solidFill>
                  <a:schemeClr val="accent1"/>
                </a:solidFill>
              </a:rPr>
              <a:t>, 𝛾</a:t>
            </a:r>
            <a:r>
              <a:rPr lang="en-US" sz="1400" baseline="-25000" dirty="0">
                <a:solidFill>
                  <a:schemeClr val="accent1"/>
                </a:solidFill>
              </a:rPr>
              <a:t>1</a:t>
            </a:r>
            <a:r>
              <a:rPr lang="en-US" sz="1400" dirty="0">
                <a:solidFill>
                  <a:schemeClr val="accent1"/>
                </a:solidFill>
              </a:rPr>
              <a:t> (make probability curve) 						𝛼 , 𝛽 (attempt distance distribution) </a:t>
            </a:r>
          </a:p>
          <a:p>
            <a:pPr marL="152400" indent="0">
              <a:lnSpc>
                <a:spcPct val="150000"/>
              </a:lnSpc>
              <a:buClr>
                <a:schemeClr val="accent1"/>
              </a:buClr>
              <a:buNone/>
            </a:pPr>
            <a:r>
              <a:rPr lang="en-US" sz="1800" b="1" dirty="0">
                <a:solidFill>
                  <a:schemeClr val="accent1"/>
                </a:solidFill>
              </a:rPr>
              <a:t>6. Bayesian </a:t>
            </a:r>
            <a:r>
              <a:rPr lang="en-US" sz="1800" b="1" dirty="0" err="1">
                <a:solidFill>
                  <a:schemeClr val="accent1"/>
                </a:solidFill>
              </a:rPr>
              <a:t>Appraoch</a:t>
            </a:r>
            <a:endParaRPr lang="en-US" sz="1800" b="1" dirty="0">
              <a:solidFill>
                <a:schemeClr val="accent1"/>
              </a:solidFill>
            </a:endParaRPr>
          </a:p>
          <a:p>
            <a:pPr>
              <a:lnSpc>
                <a:spcPct val="150000"/>
              </a:lnSpc>
              <a:buClr>
                <a:schemeClr val="accent1"/>
              </a:buClr>
              <a:buFont typeface="Nunito Sans SemiBold"/>
              <a:buChar char="●"/>
            </a:pPr>
            <a:r>
              <a:rPr lang="en-US" sz="1400" dirty="0">
                <a:solidFill>
                  <a:schemeClr val="accent1"/>
                </a:solidFill>
              </a:rPr>
              <a:t>Use Bayes' theorem to combine data and a prior. </a:t>
            </a:r>
          </a:p>
          <a:p>
            <a:pPr>
              <a:lnSpc>
                <a:spcPct val="150000"/>
              </a:lnSpc>
              <a:buClr>
                <a:schemeClr val="accent1"/>
              </a:buClr>
              <a:buFont typeface="Nunito Sans SemiBold"/>
              <a:buChar char="●"/>
            </a:pPr>
            <a:r>
              <a:rPr lang="en-US" sz="1400" dirty="0">
                <a:solidFill>
                  <a:schemeClr val="accent1"/>
                </a:solidFill>
              </a:rPr>
              <a:t>Since this model is </a:t>
            </a:r>
            <a:r>
              <a:rPr lang="en-US" sz="1400" b="1" dirty="0">
                <a:solidFill>
                  <a:schemeClr val="accent1"/>
                </a:solidFill>
              </a:rPr>
              <a:t>nonlinear</a:t>
            </a:r>
            <a:r>
              <a:rPr lang="en-US" sz="1400" dirty="0">
                <a:solidFill>
                  <a:schemeClr val="accent1"/>
                </a:solidFill>
              </a:rPr>
              <a:t>, use </a:t>
            </a:r>
            <a:r>
              <a:rPr lang="en-US" sz="1400" b="1" dirty="0">
                <a:solidFill>
                  <a:schemeClr val="accent1"/>
                </a:solidFill>
              </a:rPr>
              <a:t>Laplace’s approximation </a:t>
            </a:r>
            <a:r>
              <a:rPr lang="en-US" sz="1400" dirty="0">
                <a:solidFill>
                  <a:schemeClr val="accent1"/>
                </a:solidFill>
              </a:rPr>
              <a:t>around the posterior mode to estimate uncertainty. (Find MAP estimate using </a:t>
            </a:r>
            <a:r>
              <a:rPr lang="en-US" sz="1400" b="1" dirty="0" err="1">
                <a:solidFill>
                  <a:schemeClr val="accent1"/>
                </a:solidFill>
              </a:rPr>
              <a:t>fminunc</a:t>
            </a:r>
            <a:r>
              <a:rPr lang="en-US" sz="1400" dirty="0">
                <a:solidFill>
                  <a:schemeClr val="accent1"/>
                </a:solidFill>
              </a:rPr>
              <a:t>)</a:t>
            </a:r>
          </a:p>
        </p:txBody>
      </p:sp>
    </p:spTree>
    <p:extLst>
      <p:ext uri="{BB962C8B-B14F-4D97-AF65-F5344CB8AC3E}">
        <p14:creationId xmlns:p14="http://schemas.microsoft.com/office/powerpoint/2010/main" val="3183701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ECFFD-E350-6B4B-39B4-E5D1294D6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9895E-4E37-C38F-FDE0-3E0F219C97EB}"/>
              </a:ext>
            </a:extLst>
          </p:cNvPr>
          <p:cNvSpPr>
            <a:spLocks noGrp="1"/>
          </p:cNvSpPr>
          <p:nvPr>
            <p:ph type="title"/>
          </p:nvPr>
        </p:nvSpPr>
        <p:spPr>
          <a:xfrm>
            <a:off x="607626" y="395717"/>
            <a:ext cx="6586994" cy="572700"/>
          </a:xfrm>
        </p:spPr>
        <p:txBody>
          <a:bodyPr/>
          <a:lstStyle/>
          <a:p>
            <a:r>
              <a:rPr lang="en-US" dirty="0"/>
              <a:t>Modeling Field Goal Attempts &amp; Success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34058B8-DDEE-2751-42BB-55C8207AA876}"/>
                  </a:ext>
                </a:extLst>
              </p:cNvPr>
              <p:cNvSpPr>
                <a:spLocks noGrp="1"/>
              </p:cNvSpPr>
              <p:nvPr>
                <p:ph type="body" idx="1"/>
              </p:nvPr>
            </p:nvSpPr>
            <p:spPr/>
            <p:txBody>
              <a:bodyPr/>
              <a:lstStyle/>
              <a:p>
                <a:pPr marL="152400" indent="0">
                  <a:lnSpc>
                    <a:spcPct val="150000"/>
                  </a:lnSpc>
                  <a:buClr>
                    <a:schemeClr val="accent1"/>
                  </a:buClr>
                  <a:buNone/>
                </a:pPr>
                <a:r>
                  <a:rPr lang="en-US" sz="2000" dirty="0">
                    <a:solidFill>
                      <a:schemeClr val="accent1"/>
                    </a:solidFill>
                  </a:rPr>
                  <a:t>Bayesian Inference: </a:t>
                </a:r>
                <a14:m>
                  <m:oMath xmlns:m="http://schemas.openxmlformats.org/officeDocument/2006/math">
                    <m:r>
                      <m:rPr>
                        <m:nor/>
                      </m:rPr>
                      <a:rPr lang="en-US" sz="1800" smtClean="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posterior</m:t>
                    </m:r>
                    <m:r>
                      <m:rPr>
                        <m:aln/>
                      </m:rP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m:rPr>
                        <m:nor/>
                      </m:rPr>
                      <a:rPr lang="en-US" sz="18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likelihood</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m:rPr>
                        <m:nor/>
                      </m:rPr>
                      <a:rPr lang="en-US" sz="18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prior</m:t>
                    </m:r>
                  </m:oMath>
                </a14:m>
                <a:endParaRPr lang="en-US" sz="2000" dirty="0">
                  <a:solidFill>
                    <a:schemeClr val="accent1"/>
                  </a:solidFill>
                </a:endParaRPr>
              </a:p>
              <a:p>
                <a:pPr marL="152400" indent="0">
                  <a:lnSpc>
                    <a:spcPct val="150000"/>
                  </a:lnSpc>
                  <a:buClr>
                    <a:schemeClr val="accent1"/>
                  </a:buClr>
                  <a:buNone/>
                </a:pPr>
                <a14:m>
                  <m:oMathPara xmlns:m="http://schemas.openxmlformats.org/officeDocument/2006/math">
                    <m:oMathParaPr>
                      <m:jc m:val="centerGroup"/>
                    </m:oMathParaPr>
                    <m:oMath xmlns:m="http://schemas.openxmlformats.org/officeDocument/2006/math">
                      <m:sSub>
                        <m:sSubPr>
                          <m:ctrlPr>
                            <a:rPr lang="en-US" sz="2000" i="1" smtClean="0">
                              <a:solidFill>
                                <a:srgbClr val="0070C0"/>
                              </a:solidFill>
                              <a:effectLst/>
                              <a:latin typeface="Cambria Math" panose="02040503050406030204" pitchFamily="18" charset="0"/>
                              <a:ea typeface="Times New Roman" panose="02020603050405020304" pitchFamily="18" charset="0"/>
                            </a:rPr>
                          </m:ctrlPr>
                        </m:sSubPr>
                        <m:e>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sSub>
                            <m:sSubPr>
                              <m:ctrlPr>
                                <a:rPr lang="en-US" sz="2000" i="1">
                                  <a:solidFill>
                                    <a:srgbClr val="0070C0"/>
                                  </a:solidFill>
                                  <a:effectLst/>
                                  <a:latin typeface="Cambria Math" panose="02040503050406030204" pitchFamily="18" charset="0"/>
                                  <a:ea typeface="Times New Roman" panose="02020603050405020304" pitchFamily="18" charset="0"/>
                                </a:rPr>
                              </m:ctrlPr>
                            </m:sSubPr>
                            <m:e>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solidFill>
                                    <a:srgbClr val="0070C0"/>
                                  </a:solidFill>
                                  <a:effectLst/>
                                  <a:latin typeface="Cambria Math" panose="02040503050406030204" pitchFamily="18" charset="0"/>
                                  <a:ea typeface="Times New Roman" panose="02020603050405020304" pitchFamily="18" charset="0"/>
                                </a:rPr>
                              </m:ctrlPr>
                            </m:sSubPr>
                            <m:e>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𝛽</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lang="en-US" sz="2000" i="1">
                              <a:solidFill>
                                <a:srgbClr val="0070C0"/>
                              </a:solidFill>
                              <a:effectLst/>
                              <a:latin typeface="Cambria Math" panose="02040503050406030204" pitchFamily="18" charset="0"/>
                              <a:ea typeface="Times New Roman" panose="02020603050405020304" pitchFamily="18" charset="0"/>
                            </a:rPr>
                          </m:ctrlPr>
                        </m:dPr>
                        <m:e>
                          <m:sSub>
                            <m:sSubPr>
                              <m:ctrlPr>
                                <a:rPr lang="en-US" sz="2000" i="1">
                                  <a:solidFill>
                                    <a:srgbClr val="0070C0"/>
                                  </a:solidFill>
                                  <a:effectLst/>
                                  <a:latin typeface="Cambria Math" panose="02040503050406030204" pitchFamily="18" charset="0"/>
                                  <a:ea typeface="Times New Roman" panose="02020603050405020304" pitchFamily="18" charset="0"/>
                                </a:rPr>
                              </m:ctrlPr>
                            </m:sSubPr>
                            <m:e>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solidFill>
                                    <a:srgbClr val="0070C0"/>
                                  </a:solidFill>
                                  <a:effectLst/>
                                  <a:latin typeface="Cambria Math" panose="02040503050406030204" pitchFamily="18" charset="0"/>
                                  <a:ea typeface="Times New Roman" panose="02020603050405020304" pitchFamily="18" charset="0"/>
                                </a:rPr>
                              </m:ctrlPr>
                            </m:sSubPr>
                            <m:e>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𝛽</m:t>
                          </m:r>
                        </m:e>
                        <m:e>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m:rPr>
                          <m:aln/>
                        </m:rP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2000" i="1">
                              <a:solidFill>
                                <a:srgbClr val="E97132"/>
                              </a:solidFill>
                              <a:effectLst/>
                              <a:latin typeface="Cambria Math" panose="02040503050406030204" pitchFamily="18" charset="0"/>
                              <a:ea typeface="Times New Roman" panose="02020603050405020304" pitchFamily="18" charset="0"/>
                            </a:rPr>
                          </m:ctrlPr>
                        </m:dPr>
                        <m:e>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sSub>
                            <m:sSubPr>
                              <m:ctrlPr>
                                <a:rPr lang="en-US" sz="2000" i="1">
                                  <a:solidFill>
                                    <a:srgbClr val="E97132"/>
                                  </a:solidFill>
                                  <a:effectLst/>
                                  <a:latin typeface="Cambria Math" panose="02040503050406030204" pitchFamily="18" charset="0"/>
                                  <a:ea typeface="Times New Roman" panose="02020603050405020304" pitchFamily="18" charset="0"/>
                                </a:rPr>
                              </m:ctrlPr>
                            </m:sSubPr>
                            <m:e>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solidFill>
                                    <a:srgbClr val="E97132"/>
                                  </a:solidFill>
                                  <a:effectLst/>
                                  <a:latin typeface="Cambria Math" panose="02040503050406030204" pitchFamily="18" charset="0"/>
                                  <a:ea typeface="Times New Roman" panose="02020603050405020304" pitchFamily="18" charset="0"/>
                                </a:rPr>
                              </m:ctrlPr>
                            </m:sSubPr>
                            <m:e>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000" i="1">
                              <a:solidFill>
                                <a:srgbClr val="C00000"/>
                              </a:solidFill>
                              <a:effectLst/>
                              <a:latin typeface="Cambria Math" panose="02040503050406030204" pitchFamily="18" charset="0"/>
                              <a:ea typeface="Times New Roman" panose="02020603050405020304" pitchFamily="18" charset="0"/>
                            </a:rPr>
                          </m:ctrlPr>
                        </m:sSubPr>
                        <m:e>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sSub>
                            <m:sSubPr>
                              <m:ctrlPr>
                                <a:rPr lang="en-US" sz="2000" i="1">
                                  <a:solidFill>
                                    <a:srgbClr val="C00000"/>
                                  </a:solidFill>
                                  <a:effectLst/>
                                  <a:latin typeface="Cambria Math" panose="02040503050406030204" pitchFamily="18" charset="0"/>
                                  <a:ea typeface="Times New Roman" panose="02020603050405020304" pitchFamily="18" charset="0"/>
                                </a:rPr>
                              </m:ctrlPr>
                            </m:sSubPr>
                            <m:e>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solidFill>
                                    <a:srgbClr val="C00000"/>
                                  </a:solidFill>
                                  <a:effectLst/>
                                  <a:latin typeface="Cambria Math" panose="02040503050406030204" pitchFamily="18" charset="0"/>
                                  <a:ea typeface="Times New Roman" panose="02020603050405020304" pitchFamily="18" charset="0"/>
                                </a:rPr>
                              </m:ctrlPr>
                            </m:sSubPr>
                            <m:e>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𝛽</m:t>
                          </m:r>
                        </m:sub>
                      </m:sSub>
                      <m:d>
                        <m:dPr>
                          <m:ctrlPr>
                            <a:rPr lang="en-US" sz="2000" i="1">
                              <a:solidFill>
                                <a:srgbClr val="C00000"/>
                              </a:solidFill>
                              <a:effectLst/>
                              <a:latin typeface="Cambria Math" panose="02040503050406030204" pitchFamily="18" charset="0"/>
                              <a:ea typeface="Times New Roman" panose="02020603050405020304" pitchFamily="18" charset="0"/>
                            </a:rPr>
                          </m:ctrlPr>
                        </m:dPr>
                        <m:e>
                          <m:sSub>
                            <m:sSubPr>
                              <m:ctrlPr>
                                <a:rPr lang="en-US" sz="2000" i="1">
                                  <a:solidFill>
                                    <a:srgbClr val="C00000"/>
                                  </a:solidFill>
                                  <a:effectLst/>
                                  <a:latin typeface="Cambria Math" panose="02040503050406030204" pitchFamily="18" charset="0"/>
                                  <a:ea typeface="Times New Roman" panose="02020603050405020304" pitchFamily="18" charset="0"/>
                                </a:rPr>
                              </m:ctrlPr>
                            </m:sSubPr>
                            <m:e>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solidFill>
                                    <a:srgbClr val="C00000"/>
                                  </a:solidFill>
                                  <a:effectLst/>
                                  <a:latin typeface="Cambria Math" panose="02040503050406030204" pitchFamily="18" charset="0"/>
                                  <a:ea typeface="Times New Roman" panose="02020603050405020304" pitchFamily="18" charset="0"/>
                                </a:rPr>
                              </m:ctrlPr>
                            </m:sSubPr>
                            <m:e>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oMath>
                  </m:oMathPara>
                </a14:m>
                <a:endParaRPr lang="en-US" sz="14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2000" dirty="0">
                  <a:solidFill>
                    <a:schemeClr val="accent1"/>
                  </a:solidFill>
                </a:endParaRPr>
              </a:p>
              <a:p>
                <a:pPr marL="152400" indent="0">
                  <a:lnSpc>
                    <a:spcPct val="150000"/>
                  </a:lnSpc>
                  <a:buClr>
                    <a:schemeClr val="accent1"/>
                  </a:buClr>
                  <a:buNone/>
                </a:pPr>
                <a:r>
                  <a:rPr lang="en-US" sz="2000" dirty="0">
                    <a:solidFill>
                      <a:schemeClr val="accent1"/>
                    </a:solidFill>
                  </a:rPr>
                  <a:t>Likelihood: </a:t>
                </a:r>
                <a14:m>
                  <m:oMath xmlns:m="http://schemas.openxmlformats.org/officeDocument/2006/math">
                    <m:r>
                      <a:rPr lang="en-US" sz="1800" i="1" kern="100" smtClean="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sSub>
                          <m:sSub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𝑚</m:t>
                        </m:r>
                      </m:e>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sSub>
                          <m:sSub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oMath>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r>
                  <a:rPr lang="en-US" sz="2000" dirty="0">
                    <a:solidFill>
                      <a:schemeClr val="accent1"/>
                    </a:solidFill>
                  </a:rPr>
                  <a:t>Prior:</a:t>
                </a:r>
                <a:r>
                  <a:rPr lang="en-US" sz="1800" kern="100" dirty="0">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sSub>
                      <m:sSubPr>
                        <m:ctrlPr>
                          <a:rPr lang="en-US" sz="1800" i="1" kern="100" smtClean="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𝛽</m:t>
                        </m:r>
                      </m:sub>
                    </m:sSub>
                    <m:d>
                      <m:d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𝛼𝛽</m:t>
                        </m:r>
                      </m:den>
                    </m:f>
                  </m:oMath>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since </a:t>
                </a:r>
                <a14:m>
                  <m:oMath xmlns:m="http://schemas.openxmlformats.org/officeDocument/2006/math">
                    <m:sSub>
                      <m:sSubPr>
                        <m:ctrlPr>
                          <a:rPr lang="en-US" sz="1400" i="1">
                            <a:effectLst/>
                            <a:latin typeface="Cambria Math" panose="02040503050406030204" pitchFamily="18" charset="0"/>
                          </a:rPr>
                        </m:ctrlPr>
                      </m:sSubPr>
                      <m:e>
                        <m:r>
                          <a:rPr lang="en-US" sz="1400" i="1">
                            <a:effectLst/>
                            <a:latin typeface="Cambria Math" panose="02040503050406030204" pitchFamily="18" charset="0"/>
                            <a:ea typeface="Aptos" panose="020B0004020202020204" pitchFamily="34" charset="0"/>
                            <a:cs typeface="Times New Roman" panose="02020603050405020304" pitchFamily="18" charset="0"/>
                          </a:rPr>
                          <m:t>𝛾</m:t>
                        </m:r>
                      </m:e>
                      <m:sub>
                        <m:r>
                          <a:rPr lang="en-US" sz="1400" i="1">
                            <a:effectLst/>
                            <a:latin typeface="Cambria Math" panose="02040503050406030204" pitchFamily="18" charset="0"/>
                            <a:ea typeface="Aptos" panose="020B0004020202020204" pitchFamily="34" charset="0"/>
                            <a:cs typeface="Times New Roman" panose="02020603050405020304" pitchFamily="18" charset="0"/>
                          </a:rPr>
                          <m:t>0</m:t>
                        </m:r>
                      </m:sub>
                    </m:sSub>
                    <m:r>
                      <a:rPr lang="en-US" sz="1400" i="1">
                        <a:effectLst/>
                        <a:latin typeface="Cambria Math" panose="02040503050406030204" pitchFamily="18" charset="0"/>
                        <a:ea typeface="Aptos" panose="020B0004020202020204" pitchFamily="34" charset="0"/>
                        <a:cs typeface="Times New Roman" panose="02020603050405020304" pitchFamily="18" charset="0"/>
                      </a:rPr>
                      <m:t>∈</m:t>
                    </m:r>
                    <m:d>
                      <m:dPr>
                        <m:ctrlPr>
                          <a:rPr lang="en-US" sz="1400" i="1">
                            <a:effectLst/>
                            <a:latin typeface="Cambria Math" panose="02040503050406030204" pitchFamily="18" charset="0"/>
                          </a:rPr>
                        </m:ctrlPr>
                      </m:dPr>
                      <m:e>
                        <m:r>
                          <a:rPr lang="en-US" sz="1400" i="1">
                            <a:effectLst/>
                            <a:latin typeface="Cambria Math" panose="02040503050406030204" pitchFamily="18" charset="0"/>
                            <a:ea typeface="Aptos" panose="020B0004020202020204" pitchFamily="34" charset="0"/>
                            <a:cs typeface="Times New Roman" panose="02020603050405020304" pitchFamily="18" charset="0"/>
                          </a:rPr>
                          <m:t>−∞,∞</m:t>
                        </m:r>
                      </m:e>
                    </m:d>
                  </m:oMath>
                </a14:m>
                <a:r>
                  <a:rPr lang="en-US" sz="14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400" i="1">
                            <a:effectLst/>
                            <a:latin typeface="Cambria Math" panose="02040503050406030204" pitchFamily="18" charset="0"/>
                          </a:rPr>
                        </m:ctrlPr>
                      </m:sSubPr>
                      <m:e>
                        <m:r>
                          <a:rPr lang="en-US" sz="1400" i="1">
                            <a:effectLst/>
                            <a:latin typeface="Cambria Math" panose="02040503050406030204" pitchFamily="18" charset="0"/>
                            <a:ea typeface="Aptos" panose="020B0004020202020204" pitchFamily="34" charset="0"/>
                            <a:cs typeface="Times New Roman" panose="02020603050405020304" pitchFamily="18" charset="0"/>
                          </a:rPr>
                          <m:t>𝛾</m:t>
                        </m:r>
                      </m:e>
                      <m:sub>
                        <m:r>
                          <a:rPr lang="en-US" sz="1400" i="1">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400" i="1">
                        <a:effectLst/>
                        <a:latin typeface="Cambria Math" panose="02040503050406030204" pitchFamily="18" charset="0"/>
                        <a:ea typeface="Aptos" panose="020B0004020202020204" pitchFamily="34" charset="0"/>
                        <a:cs typeface="Times New Roman" panose="02020603050405020304" pitchFamily="18" charset="0"/>
                      </a:rPr>
                      <m:t>∈</m:t>
                    </m:r>
                    <m:d>
                      <m:dPr>
                        <m:ctrlPr>
                          <a:rPr lang="en-US" sz="1400" i="1">
                            <a:effectLst/>
                            <a:latin typeface="Cambria Math" panose="02040503050406030204" pitchFamily="18" charset="0"/>
                          </a:rPr>
                        </m:ctrlPr>
                      </m:dPr>
                      <m:e>
                        <m:r>
                          <a:rPr lang="en-US" sz="1400" i="1">
                            <a:effectLst/>
                            <a:latin typeface="Cambria Math" panose="02040503050406030204" pitchFamily="18" charset="0"/>
                            <a:ea typeface="Aptos" panose="020B0004020202020204" pitchFamily="34" charset="0"/>
                            <a:cs typeface="Times New Roman" panose="02020603050405020304" pitchFamily="18" charset="0"/>
                          </a:rPr>
                          <m:t>−∞,∞</m:t>
                        </m:r>
                      </m:e>
                    </m:d>
                  </m:oMath>
                </a14:m>
                <a:r>
                  <a:rPr lang="en-US" sz="14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400" i="1">
                        <a:effectLst/>
                        <a:latin typeface="Cambria Math" panose="02040503050406030204" pitchFamily="18" charset="0"/>
                        <a:ea typeface="Aptos" panose="020B0004020202020204" pitchFamily="34" charset="0"/>
                        <a:cs typeface="Times New Roman" panose="02020603050405020304" pitchFamily="18" charset="0"/>
                      </a:rPr>
                      <m:t>𝛼</m:t>
                    </m:r>
                    <m:r>
                      <a:rPr lang="en-US" sz="1400" i="1">
                        <a:effectLst/>
                        <a:latin typeface="Cambria Math" panose="02040503050406030204" pitchFamily="18" charset="0"/>
                        <a:ea typeface="Aptos" panose="020B0004020202020204" pitchFamily="34" charset="0"/>
                        <a:cs typeface="Times New Roman" panose="02020603050405020304" pitchFamily="18" charset="0"/>
                      </a:rPr>
                      <m:t>∈</m:t>
                    </m:r>
                    <m:d>
                      <m:dPr>
                        <m:ctrlPr>
                          <a:rPr lang="en-US" sz="1400" i="1">
                            <a:effectLst/>
                            <a:latin typeface="Cambria Math" panose="02040503050406030204" pitchFamily="18" charset="0"/>
                          </a:rPr>
                        </m:ctrlPr>
                      </m:dPr>
                      <m:e>
                        <m:r>
                          <a:rPr lang="en-US" sz="1400" i="1">
                            <a:effectLst/>
                            <a:latin typeface="Cambria Math" panose="02040503050406030204" pitchFamily="18" charset="0"/>
                            <a:ea typeface="Aptos" panose="020B0004020202020204" pitchFamily="34" charset="0"/>
                            <a:cs typeface="Times New Roman" panose="02020603050405020304" pitchFamily="18" charset="0"/>
                          </a:rPr>
                          <m:t>0,∞</m:t>
                        </m:r>
                      </m:e>
                    </m:d>
                  </m:oMath>
                </a14:m>
                <a:r>
                  <a:rPr lang="en-US" sz="1400" dirty="0">
                    <a:effectLst/>
                    <a:latin typeface="Cambria" panose="02040503050406030204" pitchFamily="18" charset="0"/>
                    <a:ea typeface="Times New Roman" panose="02020603050405020304" pitchFamily="18" charset="0"/>
                    <a:cs typeface="Times New Roman" panose="02020603050405020304" pitchFamily="18" charset="0"/>
                  </a:rPr>
                  <a:t>, and </a:t>
                </a:r>
                <a14:m>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𝛽</m:t>
                    </m:r>
                    <m:r>
                      <a:rPr lang="en-US" sz="1400" i="1">
                        <a:effectLst/>
                        <a:latin typeface="Cambria Math" panose="02040503050406030204" pitchFamily="18" charset="0"/>
                        <a:ea typeface="Aptos" panose="020B0004020202020204" pitchFamily="34" charset="0"/>
                        <a:cs typeface="Times New Roman" panose="02020603050405020304" pitchFamily="18" charset="0"/>
                      </a:rPr>
                      <m:t>∈</m:t>
                    </m:r>
                    <m:d>
                      <m:dPr>
                        <m:ctrlPr>
                          <a:rPr lang="en-US" sz="1400" i="1">
                            <a:effectLst/>
                            <a:latin typeface="Cambria Math" panose="02040503050406030204" pitchFamily="18" charset="0"/>
                          </a:rPr>
                        </m:ctrlPr>
                      </m:dPr>
                      <m:e>
                        <m:r>
                          <a:rPr lang="en-US" sz="1400" i="1">
                            <a:effectLst/>
                            <a:latin typeface="Cambria Math" panose="02040503050406030204" pitchFamily="18" charset="0"/>
                            <a:ea typeface="Aptos" panose="020B0004020202020204" pitchFamily="34" charset="0"/>
                            <a:cs typeface="Times New Roman" panose="02020603050405020304" pitchFamily="18" charset="0"/>
                          </a:rPr>
                          <m:t>0,∞</m:t>
                        </m:r>
                      </m:e>
                    </m:d>
                  </m:oMath>
                </a14:m>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endParaRPr lang="en-US" sz="2000" dirty="0">
                  <a:solidFill>
                    <a:schemeClr val="accent1"/>
                  </a:solidFill>
                </a:endParaRPr>
              </a:p>
              <a:p>
                <a:pPr marL="152400" indent="0">
                  <a:lnSpc>
                    <a:spcPct val="150000"/>
                  </a:lnSpc>
                  <a:buClr>
                    <a:schemeClr val="accent1"/>
                  </a:buClr>
                  <a:buNone/>
                </a:pPr>
                <a:endParaRPr lang="en-US" sz="14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14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1600" dirty="0">
                  <a:solidFill>
                    <a:schemeClr val="accent1"/>
                  </a:solidFill>
                </a:endParaRPr>
              </a:p>
              <a:p>
                <a:pPr marL="152400" indent="0">
                  <a:lnSpc>
                    <a:spcPct val="150000"/>
                  </a:lnSpc>
                  <a:buClr>
                    <a:schemeClr val="accent1"/>
                  </a:buClr>
                  <a:buNone/>
                </a:pPr>
                <a:endParaRPr lang="en-US" sz="1400" dirty="0">
                  <a:solidFill>
                    <a:schemeClr val="accent1"/>
                  </a:solidFill>
                </a:endParaRPr>
              </a:p>
            </p:txBody>
          </p:sp>
        </mc:Choice>
        <mc:Fallback xmlns="">
          <p:sp>
            <p:nvSpPr>
              <p:cNvPr id="3" name="Text Placeholder 2">
                <a:extLst>
                  <a:ext uri="{FF2B5EF4-FFF2-40B4-BE49-F238E27FC236}">
                    <a16:creationId xmlns:a16="http://schemas.microsoft.com/office/drawing/2014/main" id="{E34058B8-DDEE-2751-42BB-55C8207AA876}"/>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6723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F2C2B-9F5E-66A2-DB2F-4041AECB0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8B4F6-3374-D52A-F034-8E492DC88F3A}"/>
              </a:ext>
            </a:extLst>
          </p:cNvPr>
          <p:cNvSpPr>
            <a:spLocks noGrp="1"/>
          </p:cNvSpPr>
          <p:nvPr>
            <p:ph type="title"/>
          </p:nvPr>
        </p:nvSpPr>
        <p:spPr>
          <a:xfrm>
            <a:off x="607626" y="395717"/>
            <a:ext cx="6586994" cy="572700"/>
          </a:xfrm>
        </p:spPr>
        <p:txBody>
          <a:bodyPr/>
          <a:lstStyle/>
          <a:p>
            <a:r>
              <a:rPr lang="en-US" dirty="0"/>
              <a:t>Modeling Field Goal Attempts &amp; Success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AD6B8F1-4FC1-002B-5029-E20BF9AE08D9}"/>
                  </a:ext>
                </a:extLst>
              </p:cNvPr>
              <p:cNvSpPr>
                <a:spLocks noGrp="1"/>
              </p:cNvSpPr>
              <p:nvPr>
                <p:ph type="body" idx="1"/>
              </p:nvPr>
            </p:nvSpPr>
            <p:spPr/>
            <p:txBody>
              <a:bodyPr/>
              <a:lstStyle/>
              <a:p>
                <a:pPr marL="152400" indent="0">
                  <a:lnSpc>
                    <a:spcPct val="150000"/>
                  </a:lnSpc>
                  <a:buClr>
                    <a:schemeClr val="accent1"/>
                  </a:buClr>
                  <a:buNone/>
                </a:pPr>
                <a:r>
                  <a:rPr lang="en-US" sz="2000" dirty="0">
                    <a:solidFill>
                      <a:schemeClr val="accent1"/>
                    </a:solidFill>
                  </a:rPr>
                  <a:t>Likelihood: </a:t>
                </a:r>
                <a14:m>
                  <m:oMath xmlns:m="http://schemas.openxmlformats.org/officeDocument/2006/math">
                    <m:r>
                      <a:rPr lang="en-US" sz="1800" i="1" kern="100" smtClean="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sSub>
                          <m:sSub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𝑚</m:t>
                        </m:r>
                      </m:e>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sSub>
                          <m:sSub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oMath>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14:m>
                  <m:oMathPara xmlns:m="http://schemas.openxmlformats.org/officeDocument/2006/math">
                    <m:oMathParaPr>
                      <m:jc m:val="centerGroup"/>
                    </m:oMathParaPr>
                    <m:oMath xmlns:m="http://schemas.openxmlformats.org/officeDocument/2006/math">
                      <m:r>
                        <a:rPr lang="en-US" sz="1800" i="1" kern="100" smtClean="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𝑚</m:t>
                          </m:r>
                        </m:e>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𝑚</m:t>
                          </m:r>
                        </m:e>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𝐾</m:t>
                          </m:r>
                        </m:sup>
                        <m:e>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𝑃</m:t>
                              </m:r>
                            </m:e>
                            <m:sub>
                              <m:r>
                                <m:rPr>
                                  <m:sty m:val="p"/>
                                </m:rPr>
                                <a:rPr lang="en-US" sz="1800"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Bin</m:t>
                              </m:r>
                            </m:sub>
                          </m:sSub>
                          <m:d>
                            <m:d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e>
                            <m:e>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kern="100">
                                      <a:solidFill>
                                        <a:srgbClr val="7030A0"/>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e>
                          </m:d>
                        </m:e>
                      </m:nary>
                    </m:oMath>
                  </m:oMathPara>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14:m>
                  <m:oMathPara xmlns:m="http://schemas.openxmlformats.org/officeDocument/2006/math">
                    <m:oMathParaPr>
                      <m:jc m:val="centerGroup"/>
                    </m:oMathParaPr>
                    <m:oMath xmlns:m="http://schemas.openxmlformats.org/officeDocument/2006/math">
                      <m:r>
                        <a:rPr lang="en-US" sz="1800" i="1" kern="100" smtClean="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sSub>
                            <m:sSub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𝑃</m:t>
                          </m:r>
                        </m:e>
                        <m:sub>
                          <m:r>
                            <m:rPr>
                              <m:sty m:val="p"/>
                            </m:rPr>
                            <a:rPr lang="en-US" sz="1800"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MN</m:t>
                          </m:r>
                        </m:sub>
                      </m:sSub>
                      <m:d>
                        <m:dPr>
                          <m:ctrlP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r>
                            <a:rPr lang="en-US" sz="1800" i="1" kern="100">
                              <a:solidFill>
                                <a:srgbClr val="00B050"/>
                              </a:solidFill>
                              <a:effectLst/>
                              <a:latin typeface="Cambria Math" panose="02040503050406030204" pitchFamily="18" charset="0"/>
                              <a:ea typeface="Times New Roman" panose="02020603050405020304" pitchFamily="18" charset="0"/>
                              <a:cs typeface="Times New Roman" panose="02020603050405020304" pitchFamily="18" charset="0"/>
                            </a:rPr>
                            <m:t>𝜙</m:t>
                          </m:r>
                        </m:e>
                      </m:d>
                    </m:oMath>
                  </m:oMathPara>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r>
                  <a:rPr lang="en-US" sz="1800" kern="100" dirty="0" err="1">
                    <a:solidFill>
                      <a:srgbClr val="7030A0"/>
                    </a:solidFill>
                    <a:latin typeface="Aptos" panose="020B0004020202020204" pitchFamily="34" charset="0"/>
                    <a:ea typeface="Aptos" panose="020B0004020202020204" pitchFamily="34" charset="0"/>
                    <a:cs typeface="Times New Roman" panose="02020603050405020304" pitchFamily="18" charset="0"/>
                  </a:rPr>
                  <a:t>P</a:t>
                </a:r>
                <a:r>
                  <a:rPr lang="en-US" sz="1800" kern="100" baseline="-25000" dirty="0" err="1">
                    <a:solidFill>
                      <a:srgbClr val="7030A0"/>
                    </a:solidFill>
                    <a:latin typeface="Aptos" panose="020B0004020202020204" pitchFamily="34" charset="0"/>
                    <a:ea typeface="Aptos" panose="020B0004020202020204" pitchFamily="34" charset="0"/>
                    <a:cs typeface="Times New Roman" panose="02020603050405020304" pitchFamily="18" charset="0"/>
                  </a:rPr>
                  <a:t>Bin</a:t>
                </a:r>
                <a:r>
                  <a:rPr lang="en-US" sz="1800" kern="100" baseline="-25000" dirty="0">
                    <a:solidFill>
                      <a:srgbClr val="7030A0"/>
                    </a:solidFill>
                    <a:latin typeface="Aptos" panose="020B0004020202020204" pitchFamily="34" charset="0"/>
                    <a:ea typeface="Aptos" panose="020B0004020202020204" pitchFamily="34" charset="0"/>
                    <a:cs typeface="Times New Roman" panose="02020603050405020304" pitchFamily="18" charset="0"/>
                  </a:rPr>
                  <a:t> </a:t>
                </a:r>
                <a:r>
                  <a:rPr lang="en-US" sz="1800" kern="100" dirty="0">
                    <a:solidFill>
                      <a:srgbClr val="7030A0"/>
                    </a:solidFill>
                    <a:latin typeface="Aptos" panose="020B0004020202020204" pitchFamily="34" charset="0"/>
                    <a:ea typeface="Aptos" panose="020B0004020202020204" pitchFamily="34" charset="0"/>
                    <a:cs typeface="Times New Roman" panose="02020603050405020304" pitchFamily="18" charset="0"/>
                  </a:rPr>
                  <a:t>denotes a binomial PMF</a:t>
                </a:r>
              </a:p>
              <a:p>
                <a:pPr marL="152400" indent="0">
                  <a:lnSpc>
                    <a:spcPct val="150000"/>
                  </a:lnSpc>
                  <a:buClr>
                    <a:schemeClr val="accent1"/>
                  </a:buClr>
                  <a:buNone/>
                </a:pPr>
                <a:r>
                  <a:rPr lang="en-US" sz="1800" kern="100" dirty="0">
                    <a:solidFill>
                      <a:srgbClr val="00B050"/>
                    </a:solidFill>
                    <a:latin typeface="Aptos" panose="020B0004020202020204" pitchFamily="34" charset="0"/>
                    <a:ea typeface="Aptos" panose="020B0004020202020204" pitchFamily="34" charset="0"/>
                    <a:cs typeface="Times New Roman" panose="02020603050405020304" pitchFamily="18" charset="0"/>
                  </a:rPr>
                  <a:t>P</a:t>
                </a:r>
                <a:r>
                  <a:rPr lang="en-US" sz="1800" kern="100" baseline="-25000" dirty="0">
                    <a:solidFill>
                      <a:srgbClr val="00B050"/>
                    </a:solidFill>
                    <a:latin typeface="Aptos" panose="020B0004020202020204" pitchFamily="34" charset="0"/>
                    <a:ea typeface="Aptos" panose="020B0004020202020204" pitchFamily="34" charset="0"/>
                    <a:cs typeface="Times New Roman" panose="02020603050405020304" pitchFamily="18" charset="0"/>
                  </a:rPr>
                  <a:t>MN </a:t>
                </a:r>
                <a:r>
                  <a:rPr lang="en-US" sz="1800" kern="100" dirty="0">
                    <a:solidFill>
                      <a:srgbClr val="00B050"/>
                    </a:solidFill>
                    <a:latin typeface="Aptos" panose="020B0004020202020204" pitchFamily="34" charset="0"/>
                    <a:ea typeface="Aptos" panose="020B0004020202020204" pitchFamily="34" charset="0"/>
                    <a:cs typeface="Times New Roman" panose="02020603050405020304" pitchFamily="18" charset="0"/>
                  </a:rPr>
                  <a:t>denotes a multinomial PMF</a:t>
                </a:r>
              </a:p>
              <a:p>
                <a:pPr marL="152400" indent="0">
                  <a:lnSpc>
                    <a:spcPct val="150000"/>
                  </a:lnSpc>
                  <a:buClr>
                    <a:schemeClr val="accent1"/>
                  </a:buClr>
                  <a:buNone/>
                </a:pPr>
                <a:endParaRPr lang="en-US" sz="1800" kern="100" dirty="0">
                  <a:solidFill>
                    <a:srgbClr val="7030A0"/>
                  </a:solidFill>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endParaRPr lang="en-US" sz="1800" kern="1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152400" indent="0">
                  <a:lnSpc>
                    <a:spcPct val="150000"/>
                  </a:lnSpc>
                  <a:buClr>
                    <a:schemeClr val="accent1"/>
                  </a:buClr>
                  <a:buNone/>
                </a:pPr>
                <a:endParaRPr lang="en-US" sz="2000" dirty="0">
                  <a:solidFill>
                    <a:schemeClr val="accent1"/>
                  </a:solidFill>
                </a:endParaRPr>
              </a:p>
              <a:p>
                <a:pPr marL="152400" indent="0">
                  <a:lnSpc>
                    <a:spcPct val="150000"/>
                  </a:lnSpc>
                  <a:buClr>
                    <a:schemeClr val="accent1"/>
                  </a:buClr>
                  <a:buNone/>
                </a:pPr>
                <a:endParaRPr lang="en-US" sz="14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14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1600" dirty="0">
                  <a:solidFill>
                    <a:schemeClr val="accent1"/>
                  </a:solidFill>
                </a:endParaRPr>
              </a:p>
              <a:p>
                <a:pPr marL="152400" indent="0">
                  <a:lnSpc>
                    <a:spcPct val="150000"/>
                  </a:lnSpc>
                  <a:buClr>
                    <a:schemeClr val="accent1"/>
                  </a:buClr>
                  <a:buNone/>
                </a:pPr>
                <a:endParaRPr lang="en-US" sz="1400" dirty="0">
                  <a:solidFill>
                    <a:schemeClr val="accent1"/>
                  </a:solidFill>
                </a:endParaRPr>
              </a:p>
            </p:txBody>
          </p:sp>
        </mc:Choice>
        <mc:Fallback xmlns="">
          <p:sp>
            <p:nvSpPr>
              <p:cNvPr id="3" name="Text Placeholder 2">
                <a:extLst>
                  <a:ext uri="{FF2B5EF4-FFF2-40B4-BE49-F238E27FC236}">
                    <a16:creationId xmlns:a16="http://schemas.microsoft.com/office/drawing/2014/main" id="{9AD6B8F1-4FC1-002B-5029-E20BF9AE08D9}"/>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13954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8F3F2-6D4E-E575-BC43-3EA454A81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2E7C6-C407-CA11-7EA6-EF2C4ECA8AFC}"/>
              </a:ext>
            </a:extLst>
          </p:cNvPr>
          <p:cNvSpPr>
            <a:spLocks noGrp="1"/>
          </p:cNvSpPr>
          <p:nvPr>
            <p:ph type="title"/>
          </p:nvPr>
        </p:nvSpPr>
        <p:spPr>
          <a:xfrm>
            <a:off x="607626" y="395717"/>
            <a:ext cx="6586994" cy="572700"/>
          </a:xfrm>
        </p:spPr>
        <p:txBody>
          <a:bodyPr/>
          <a:lstStyle/>
          <a:p>
            <a:r>
              <a:rPr lang="en-US" dirty="0"/>
              <a:t>Modeling Field Goal Attempts &amp; Success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7F8F863-2E15-1253-8AE0-629A87F74DCA}"/>
                  </a:ext>
                </a:extLst>
              </p:cNvPr>
              <p:cNvSpPr>
                <a:spLocks noGrp="1"/>
              </p:cNvSpPr>
              <p:nvPr>
                <p:ph type="body" idx="1"/>
              </p:nvPr>
            </p:nvSpPr>
            <p:spPr/>
            <p:txBody>
              <a:bodyPr>
                <a:normAutofit/>
              </a:bodyPr>
              <a:lstStyle/>
              <a:p>
                <a:pPr marL="152400" indent="0">
                  <a:lnSpc>
                    <a:spcPct val="150000"/>
                  </a:lnSpc>
                  <a:buClr>
                    <a:schemeClr val="accent1"/>
                  </a:buClr>
                  <a:buNone/>
                </a:pPr>
                <a:r>
                  <a:rPr lang="en-US" sz="2000" dirty="0">
                    <a:solidFill>
                      <a:schemeClr val="accent1"/>
                    </a:solidFill>
                  </a:rPr>
                  <a:t>Laplace Approximation Step (Log-Posterior to find Parameters):</a:t>
                </a:r>
              </a:p>
              <a:p>
                <a:pPr marL="152400" indent="0">
                  <a:lnSpc>
                    <a:spcPct val="150000"/>
                  </a:lnSpc>
                  <a:buClr>
                    <a:schemeClr val="accent1"/>
                  </a:buClr>
                  <a:buNone/>
                </a:pPr>
                <a14:m>
                  <m:oMathPara xmlns:m="http://schemas.openxmlformats.org/officeDocument/2006/math">
                    <m:oMathParaPr>
                      <m:jc m:val="centerGroup"/>
                    </m:oMathParaPr>
                    <m:oMath xmlns:m="http://schemas.openxmlformats.org/officeDocument/2006/math">
                      <m:func>
                        <m:funcPr>
                          <m:ctrlPr>
                            <a:rPr lang="en-US" sz="1800" i="1" kern="100" smtClean="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sSub>
                                <m:sSub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𝛽</m:t>
                                  </m:r>
                                </m:e>
                              </m:func>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𝛽</m:t>
                                  </m:r>
                                </m:e>
                              </m:func>
                            </m:e>
                            <m:e>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e>
                      </m:func>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sSub>
                                <m:sSub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𝛽</m:t>
                                  </m:r>
                                </m:e>
                              </m:func>
                            </m:e>
                          </m:d>
                        </m:e>
                      </m:func>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𝛽</m:t>
                                  </m:r>
                                </m:e>
                              </m:func>
                            </m:sub>
                          </m:sSub>
                          <m:d>
                            <m:d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800" i="1" kern="100">
                                      <a:solidFill>
                                        <a:srgbClr val="C00000"/>
                                      </a:solidFill>
                                      <a:effectLst/>
                                      <a:latin typeface="Cambria Math" panose="02040503050406030204" pitchFamily="18" charset="0"/>
                                      <a:ea typeface="Times New Roman" panose="02020603050405020304" pitchFamily="18" charset="0"/>
                                      <a:cs typeface="Times New Roman" panose="02020603050405020304" pitchFamily="18" charset="0"/>
                                    </a:rPr>
                                    <m:t>𝛽</m:t>
                                  </m:r>
                                </m:e>
                              </m:func>
                            </m:e>
                          </m:d>
                        </m:e>
                      </m:func>
                    </m:oMath>
                  </m:oMathPara>
                </a14:m>
                <a:endParaRPr lang="en-US" sz="2000" dirty="0">
                  <a:solidFill>
                    <a:schemeClr val="accent1"/>
                  </a:solidFill>
                </a:endParaRPr>
              </a:p>
              <a:p>
                <a:pPr marL="152400" indent="0">
                  <a:lnSpc>
                    <a:spcPct val="150000"/>
                  </a:lnSpc>
                  <a:buClr>
                    <a:schemeClr val="accent1"/>
                  </a:buClr>
                  <a:buNone/>
                </a:pPr>
                <a:r>
                  <a:rPr lang="en-US" sz="2000" dirty="0">
                    <a:solidFill>
                      <a:schemeClr val="accent1"/>
                    </a:solidFill>
                  </a:rPr>
                  <a:t>Log-Likelihood:</a:t>
                </a:r>
              </a:p>
              <a:p>
                <a:pPr marL="152400" indent="0">
                  <a:lnSpc>
                    <a:spcPct val="150000"/>
                  </a:lnSpc>
                  <a:buClr>
                    <a:schemeClr val="accent1"/>
                  </a:buClr>
                  <a:buNone/>
                </a:pPr>
                <a:r>
                  <a:rPr lang="en-US" sz="2000" dirty="0">
                    <a:solidFill>
                      <a:schemeClr val="accent1"/>
                    </a:solidFill>
                  </a:rPr>
                  <a:t> </a:t>
                </a:r>
                <a14:m>
                  <m:oMath xmlns:m="http://schemas.openxmlformats.org/officeDocument/2006/math">
                    <m:func>
                      <m:funcPr>
                        <m:ctrlPr>
                          <a:rPr lang="en-US" sz="1600" i="1" kern="100" smtClean="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𝛽</m:t>
                                </m:r>
                              </m:e>
                            </m:func>
                          </m:e>
                        </m:d>
                      </m:e>
                    </m:func>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𝐾</m:t>
                        </m:r>
                      </m:sup>
                      <m:e>
                        <m:func>
                          <m:func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e>
                              <m:sub>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Bin</m:t>
                                </m:r>
                              </m:sub>
                            </m:sSub>
                            <m:d>
                              <m:d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e>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e>
                            </m:d>
                          </m:e>
                        </m:func>
                      </m:e>
                    </m:nary>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e>
                          <m:sub>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MN</m:t>
                            </m:r>
                          </m:sub>
                        </m:sSub>
                        <m:d>
                          <m:d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𝜙</m:t>
                            </m:r>
                          </m:e>
                        </m:d>
                      </m:e>
                    </m:func>
                  </m:oMath>
                </a14:m>
                <a:r>
                  <a:rPr lang="en-US" sz="1600" kern="1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func>
                      <m:funcPr>
                        <m:ctrlPr>
                          <a:rPr lang="en-US" sz="1600" i="1" kern="100" smtClean="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sSub>
                              <m:sSub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𝛽</m:t>
                                </m:r>
                              </m:e>
                            </m:func>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𝛾</m:t>
                                </m:r>
                              </m:e>
                              <m:sub>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𝛽</m:t>
                                </m:r>
                              </m:e>
                            </m:func>
                          </m:e>
                          <m:e>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kern="100">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e>
                    </m:func>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𝐾</m:t>
                        </m:r>
                      </m:sup>
                      <m:e>
                        <m:func>
                          <m:func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e>
                              <m:sub>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Bin</m:t>
                                </m:r>
                              </m:sub>
                            </m:sSub>
                            <m:d>
                              <m:d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e>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e>
                            </m:d>
                          </m:e>
                        </m:func>
                      </m:e>
                    </m:nary>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𝑃</m:t>
                            </m:r>
                          </m:e>
                          <m:sub>
                            <m:r>
                              <m:rPr>
                                <m:sty m:val="p"/>
                              </m:rPr>
                              <a:rPr lang="en-US" sz="1600"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MN</m:t>
                            </m:r>
                          </m:sub>
                        </m:sSub>
                        <m:d>
                          <m:dPr>
                            <m:ctrlP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𝑛</m:t>
                            </m:r>
                          </m:e>
                          <m:e>
                            <m:r>
                              <a:rPr lang="en-US" sz="1600" i="1" kern="100">
                                <a:solidFill>
                                  <a:srgbClr val="E97132"/>
                                </a:solidFill>
                                <a:effectLst/>
                                <a:latin typeface="Cambria Math" panose="02040503050406030204" pitchFamily="18" charset="0"/>
                                <a:ea typeface="Times New Roman" panose="02020603050405020304" pitchFamily="18" charset="0"/>
                                <a:cs typeface="Times New Roman" panose="02020603050405020304" pitchFamily="18" charset="0"/>
                              </a:rPr>
                              <m:t>𝜙</m:t>
                            </m:r>
                          </m:e>
                        </m:d>
                      </m:e>
                    </m:func>
                  </m:oMath>
                </a14:m>
                <a:r>
                  <a:rPr lang="en-US" sz="1600" kern="100" dirty="0">
                    <a:solidFill>
                      <a:srgbClr val="E97132"/>
                    </a:solidFill>
                    <a:effectLst/>
                    <a:latin typeface="Aptos" panose="020B0004020202020204" pitchFamily="34" charset="0"/>
                    <a:ea typeface="Times New Roman" panose="02020603050405020304" pitchFamily="18" charset="0"/>
                    <a:cs typeface="Times New Roman" panose="02020603050405020304" pitchFamily="18" charset="0"/>
                  </a:rPr>
                  <a:t> </a:t>
                </a:r>
              </a:p>
              <a:p>
                <a:pPr marL="152400" indent="0">
                  <a:lnSpc>
                    <a:spcPct val="150000"/>
                  </a:lnSpc>
                  <a:buClr>
                    <a:schemeClr val="accent1"/>
                  </a:buClr>
                  <a:buNone/>
                </a:pPr>
                <a:endParaRPr lang="en-US" sz="1600" dirty="0">
                  <a:solidFill>
                    <a:schemeClr val="accent1"/>
                  </a:solidFill>
                </a:endParaRPr>
              </a:p>
              <a:p>
                <a:pPr marL="152400" indent="0">
                  <a:lnSpc>
                    <a:spcPct val="150000"/>
                  </a:lnSpc>
                  <a:buClr>
                    <a:schemeClr val="accent1"/>
                  </a:buClr>
                  <a:buNone/>
                </a:pPr>
                <a:endParaRPr lang="en-US" sz="14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1400" dirty="0">
                  <a:solidFill>
                    <a:schemeClr val="tx1"/>
                  </a:solidFill>
                  <a:latin typeface="Cambria Math" panose="02040503050406030204" pitchFamily="18" charset="0"/>
                  <a:ea typeface="Cambria Math" panose="02040503050406030204" pitchFamily="18" charset="0"/>
                </a:endParaRPr>
              </a:p>
              <a:p>
                <a:pPr marL="152400" indent="0">
                  <a:lnSpc>
                    <a:spcPct val="150000"/>
                  </a:lnSpc>
                  <a:buClr>
                    <a:schemeClr val="accent1"/>
                  </a:buClr>
                  <a:buNone/>
                </a:pPr>
                <a:endParaRPr lang="en-US" sz="1600" dirty="0">
                  <a:solidFill>
                    <a:schemeClr val="accent1"/>
                  </a:solidFill>
                </a:endParaRPr>
              </a:p>
              <a:p>
                <a:pPr marL="152400" indent="0">
                  <a:lnSpc>
                    <a:spcPct val="150000"/>
                  </a:lnSpc>
                  <a:buClr>
                    <a:schemeClr val="accent1"/>
                  </a:buClr>
                  <a:buNone/>
                </a:pPr>
                <a:endParaRPr lang="en-US" sz="1400" dirty="0">
                  <a:solidFill>
                    <a:schemeClr val="accent1"/>
                  </a:solidFill>
                </a:endParaRPr>
              </a:p>
            </p:txBody>
          </p:sp>
        </mc:Choice>
        <mc:Fallback xmlns="">
          <p:sp>
            <p:nvSpPr>
              <p:cNvPr id="3" name="Text Placeholder 2">
                <a:extLst>
                  <a:ext uri="{FF2B5EF4-FFF2-40B4-BE49-F238E27FC236}">
                    <a16:creationId xmlns:a16="http://schemas.microsoft.com/office/drawing/2014/main" id="{87F8F863-2E15-1253-8AE0-629A87F74DCA}"/>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41351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4"/>
          <p:cNvSpPr txBox="1">
            <a:spLocks noGrp="1"/>
          </p:cNvSpPr>
          <p:nvPr>
            <p:ph type="title"/>
          </p:nvPr>
        </p:nvSpPr>
        <p:spPr>
          <a:xfrm>
            <a:off x="607626" y="3957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Important Pseudo-Code</a:t>
            </a:r>
            <a:endParaRPr sz="3000" dirty="0"/>
          </a:p>
        </p:txBody>
      </p:sp>
      <p:sp>
        <p:nvSpPr>
          <p:cNvPr id="269" name="Google Shape;269;p34"/>
          <p:cNvSpPr txBox="1">
            <a:spLocks noGrp="1"/>
          </p:cNvSpPr>
          <p:nvPr>
            <p:ph type="body" idx="1"/>
          </p:nvPr>
        </p:nvSpPr>
        <p:spPr>
          <a:xfrm>
            <a:off x="635976" y="1119925"/>
            <a:ext cx="7788000" cy="3695100"/>
          </a:xfrm>
          <a:prstGeom prst="rect">
            <a:avLst/>
          </a:prstGeom>
        </p:spPr>
        <p:txBody>
          <a:bodyPr spcFirstLastPara="1" wrap="square" lIns="91425" tIns="91425" rIns="91425" bIns="91425" anchor="t" anchorCtr="0">
            <a:noAutofit/>
          </a:bodyPr>
          <a:lstStyle/>
          <a:p>
            <a:pPr marL="0" lvl="0" indent="0" algn="l" rtl="0">
              <a:lnSpc>
                <a:spcPct val="100000"/>
              </a:lnSpc>
              <a:spcBef>
                <a:spcPts val="1600"/>
              </a:spcBef>
              <a:spcAft>
                <a:spcPts val="0"/>
              </a:spcAft>
              <a:buNone/>
            </a:pPr>
            <a:endParaRPr dirty="0">
              <a:solidFill>
                <a:schemeClr val="accent1"/>
              </a:solidFill>
            </a:endParaRPr>
          </a:p>
          <a:p>
            <a:pPr marL="457200" lvl="0" indent="0" algn="l" rtl="0">
              <a:lnSpc>
                <a:spcPct val="100000"/>
              </a:lnSpc>
              <a:spcBef>
                <a:spcPts val="1600"/>
              </a:spcBef>
              <a:spcAft>
                <a:spcPts val="1600"/>
              </a:spcAft>
              <a:buNone/>
            </a:pPr>
            <a:endParaRPr dirty="0">
              <a:solidFill>
                <a:schemeClr val="accent1"/>
              </a:solidFill>
            </a:endParaRPr>
          </a:p>
        </p:txBody>
      </p:sp>
      <p:pic>
        <p:nvPicPr>
          <p:cNvPr id="16" name="Picture 15">
            <a:extLst>
              <a:ext uri="{FF2B5EF4-FFF2-40B4-BE49-F238E27FC236}">
                <a16:creationId xmlns:a16="http://schemas.microsoft.com/office/drawing/2014/main" id="{ECE5A879-BC24-61B5-868F-FFA2A506CF81}"/>
              </a:ext>
            </a:extLst>
          </p:cNvPr>
          <p:cNvPicPr>
            <a:picLocks noChangeAspect="1"/>
          </p:cNvPicPr>
          <p:nvPr/>
        </p:nvPicPr>
        <p:blipFill>
          <a:blip r:embed="rId3"/>
          <a:stretch>
            <a:fillRect/>
          </a:stretch>
        </p:blipFill>
        <p:spPr>
          <a:xfrm>
            <a:off x="607626" y="1119925"/>
            <a:ext cx="6873072" cy="1996272"/>
          </a:xfrm>
          <a:prstGeom prst="rect">
            <a:avLst/>
          </a:prstGeom>
        </p:spPr>
      </p:pic>
      <p:sp>
        <p:nvSpPr>
          <p:cNvPr id="17" name="Rectangle 16">
            <a:extLst>
              <a:ext uri="{FF2B5EF4-FFF2-40B4-BE49-F238E27FC236}">
                <a16:creationId xmlns:a16="http://schemas.microsoft.com/office/drawing/2014/main" id="{64B1FB1A-01FD-3EDD-2857-7F70B569AEF6}"/>
              </a:ext>
            </a:extLst>
          </p:cNvPr>
          <p:cNvSpPr/>
          <p:nvPr/>
        </p:nvSpPr>
        <p:spPr>
          <a:xfrm>
            <a:off x="720024" y="3348427"/>
            <a:ext cx="3184716" cy="501650"/>
          </a:xfrm>
          <a:prstGeom prst="rect">
            <a:avLst/>
          </a:prstGeom>
          <a:solidFill>
            <a:srgbClr val="BAD4F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Finds MAP estimates of parameters </a:t>
            </a:r>
          </a:p>
        </p:txBody>
      </p:sp>
      <p:cxnSp>
        <p:nvCxnSpPr>
          <p:cNvPr id="19" name="Straight Arrow Connector 18">
            <a:extLst>
              <a:ext uri="{FF2B5EF4-FFF2-40B4-BE49-F238E27FC236}">
                <a16:creationId xmlns:a16="http://schemas.microsoft.com/office/drawing/2014/main" id="{F5997168-2A5D-363E-6E47-45D92F154123}"/>
              </a:ext>
            </a:extLst>
          </p:cNvPr>
          <p:cNvCxnSpPr>
            <a:cxnSpLocks/>
            <a:stCxn id="17" idx="0"/>
          </p:cNvCxnSpPr>
          <p:nvPr/>
        </p:nvCxnSpPr>
        <p:spPr>
          <a:xfrm flipV="1">
            <a:off x="2312382" y="2865953"/>
            <a:ext cx="702123" cy="482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CFCF820E-249C-74EA-28FA-EC3276665F87}"/>
              </a:ext>
            </a:extLst>
          </p:cNvPr>
          <p:cNvSpPr/>
          <p:nvPr/>
        </p:nvSpPr>
        <p:spPr>
          <a:xfrm>
            <a:off x="4606863" y="3348427"/>
            <a:ext cx="3184716" cy="501650"/>
          </a:xfrm>
          <a:prstGeom prst="rect">
            <a:avLst/>
          </a:prstGeom>
          <a:solidFill>
            <a:srgbClr val="BAD4F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Minimizes the negative log-posterior</a:t>
            </a:r>
          </a:p>
        </p:txBody>
      </p:sp>
      <p:cxnSp>
        <p:nvCxnSpPr>
          <p:cNvPr id="25" name="Straight Arrow Connector 24">
            <a:extLst>
              <a:ext uri="{FF2B5EF4-FFF2-40B4-BE49-F238E27FC236}">
                <a16:creationId xmlns:a16="http://schemas.microsoft.com/office/drawing/2014/main" id="{AF076DDD-11E1-A21B-3574-04069928E279}"/>
              </a:ext>
            </a:extLst>
          </p:cNvPr>
          <p:cNvCxnSpPr>
            <a:stCxn id="23" idx="0"/>
          </p:cNvCxnSpPr>
          <p:nvPr/>
        </p:nvCxnSpPr>
        <p:spPr>
          <a:xfrm flipH="1" flipV="1">
            <a:off x="4853354" y="2865953"/>
            <a:ext cx="1345867" cy="482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49A41720-7AA9-4D6C-F639-8E63F4271B92}"/>
            </a:ext>
          </a:extLst>
        </p:cNvPr>
        <p:cNvGrpSpPr/>
        <p:nvPr/>
      </p:nvGrpSpPr>
      <p:grpSpPr>
        <a:xfrm>
          <a:off x="0" y="0"/>
          <a:ext cx="0" cy="0"/>
          <a:chOff x="0" y="0"/>
          <a:chExt cx="0" cy="0"/>
        </a:xfrm>
      </p:grpSpPr>
      <p:sp>
        <p:nvSpPr>
          <p:cNvPr id="268" name="Google Shape;268;p34">
            <a:extLst>
              <a:ext uri="{FF2B5EF4-FFF2-40B4-BE49-F238E27FC236}">
                <a16:creationId xmlns:a16="http://schemas.microsoft.com/office/drawing/2014/main" id="{AA6A36FD-7280-943B-3588-1737215A1557}"/>
              </a:ext>
            </a:extLst>
          </p:cNvPr>
          <p:cNvSpPr txBox="1">
            <a:spLocks noGrp="1"/>
          </p:cNvSpPr>
          <p:nvPr>
            <p:ph type="title"/>
          </p:nvPr>
        </p:nvSpPr>
        <p:spPr>
          <a:xfrm>
            <a:off x="607626" y="3957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Important Pseudo-Code</a:t>
            </a:r>
            <a:endParaRPr sz="3000" dirty="0"/>
          </a:p>
        </p:txBody>
      </p:sp>
      <p:sp>
        <p:nvSpPr>
          <p:cNvPr id="269" name="Google Shape;269;p34">
            <a:extLst>
              <a:ext uri="{FF2B5EF4-FFF2-40B4-BE49-F238E27FC236}">
                <a16:creationId xmlns:a16="http://schemas.microsoft.com/office/drawing/2014/main" id="{90BBB2E4-0BE7-335A-9D90-142F6F1755ED}"/>
              </a:ext>
            </a:extLst>
          </p:cNvPr>
          <p:cNvSpPr txBox="1">
            <a:spLocks noGrp="1"/>
          </p:cNvSpPr>
          <p:nvPr>
            <p:ph type="body" idx="1"/>
          </p:nvPr>
        </p:nvSpPr>
        <p:spPr>
          <a:xfrm>
            <a:off x="635976" y="1119925"/>
            <a:ext cx="7788000" cy="3695100"/>
          </a:xfrm>
          <a:prstGeom prst="rect">
            <a:avLst/>
          </a:prstGeom>
        </p:spPr>
        <p:txBody>
          <a:bodyPr spcFirstLastPara="1" wrap="square" lIns="91425" tIns="91425" rIns="91425" bIns="91425" anchor="t" anchorCtr="0">
            <a:noAutofit/>
          </a:bodyPr>
          <a:lstStyle/>
          <a:p>
            <a:pPr marL="0" lvl="0" indent="0" algn="l" rtl="0">
              <a:lnSpc>
                <a:spcPct val="100000"/>
              </a:lnSpc>
              <a:spcBef>
                <a:spcPts val="1600"/>
              </a:spcBef>
              <a:spcAft>
                <a:spcPts val="0"/>
              </a:spcAft>
              <a:buNone/>
            </a:pPr>
            <a:endParaRPr dirty="0">
              <a:solidFill>
                <a:schemeClr val="accent1"/>
              </a:solidFill>
            </a:endParaRPr>
          </a:p>
          <a:p>
            <a:pPr marL="457200" lvl="0" indent="0" algn="l" rtl="0">
              <a:lnSpc>
                <a:spcPct val="100000"/>
              </a:lnSpc>
              <a:spcBef>
                <a:spcPts val="1600"/>
              </a:spcBef>
              <a:spcAft>
                <a:spcPts val="1600"/>
              </a:spcAft>
              <a:buNone/>
            </a:pPr>
            <a:endParaRPr dirty="0">
              <a:solidFill>
                <a:schemeClr val="accent1"/>
              </a:solidFill>
            </a:endParaRPr>
          </a:p>
        </p:txBody>
      </p:sp>
      <p:pic>
        <p:nvPicPr>
          <p:cNvPr id="5" name="Picture 4">
            <a:extLst>
              <a:ext uri="{FF2B5EF4-FFF2-40B4-BE49-F238E27FC236}">
                <a16:creationId xmlns:a16="http://schemas.microsoft.com/office/drawing/2014/main" id="{FD68CAA5-EF0E-BEA8-9C2D-49246D2AF406}"/>
              </a:ext>
            </a:extLst>
          </p:cNvPr>
          <p:cNvPicPr>
            <a:picLocks noChangeAspect="1"/>
          </p:cNvPicPr>
          <p:nvPr/>
        </p:nvPicPr>
        <p:blipFill>
          <a:blip r:embed="rId3"/>
          <a:stretch>
            <a:fillRect/>
          </a:stretch>
        </p:blipFill>
        <p:spPr>
          <a:xfrm>
            <a:off x="246455" y="968417"/>
            <a:ext cx="4325545" cy="2888371"/>
          </a:xfrm>
          <a:prstGeom prst="rect">
            <a:avLst/>
          </a:prstGeom>
        </p:spPr>
      </p:pic>
      <p:pic>
        <p:nvPicPr>
          <p:cNvPr id="7" name="Picture 6">
            <a:extLst>
              <a:ext uri="{FF2B5EF4-FFF2-40B4-BE49-F238E27FC236}">
                <a16:creationId xmlns:a16="http://schemas.microsoft.com/office/drawing/2014/main" id="{B07CB21F-6BB0-2173-9AE2-A851EAF461B0}"/>
              </a:ext>
            </a:extLst>
          </p:cNvPr>
          <p:cNvPicPr>
            <a:picLocks noChangeAspect="1"/>
          </p:cNvPicPr>
          <p:nvPr/>
        </p:nvPicPr>
        <p:blipFill>
          <a:blip r:embed="rId4"/>
          <a:stretch>
            <a:fillRect/>
          </a:stretch>
        </p:blipFill>
        <p:spPr>
          <a:xfrm>
            <a:off x="4961521" y="1458802"/>
            <a:ext cx="4011804" cy="1907599"/>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C05DBC8-7A11-4EC2-87DF-532C43DA3574}"/>
                  </a:ext>
                </a:extLst>
              </p:cNvPr>
              <p:cNvSpPr/>
              <p:nvPr/>
            </p:nvSpPr>
            <p:spPr>
              <a:xfrm>
                <a:off x="5375065" y="585910"/>
                <a:ext cx="3184716" cy="501650"/>
              </a:xfrm>
              <a:prstGeom prst="rect">
                <a:avLst/>
              </a:prstGeom>
              <a:solidFill>
                <a:srgbClr val="BAD4F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i="1" kern="100" smtClean="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𝜙</m:t>
                              </m:r>
                            </m:e>
                            <m:sub>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den>
                      </m:f>
                      <m:nary>
                        <m:naryPr>
                          <m:ctrlP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Sub>
                            <m:sSubPr>
                              <m:ctrlP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𝑎</m:t>
                              </m:r>
                            </m:e>
                            <m:sub>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sub>
                        <m:sup>
                          <m:sSub>
                            <m:sSubPr>
                              <m:ctrlP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𝑘</m:t>
                              </m:r>
                            </m:sub>
                          </m:sSub>
                        </m:sup>
                        <m:e>
                          <m: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t>𝑝</m:t>
                          </m:r>
                          <m:d>
                            <m:dPr>
                              <m:ctrlP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t>𝑥</m:t>
                              </m:r>
                            </m:e>
                            <m:e>
                              <m:sSub>
                                <m:sSubPr>
                                  <m:ctrlP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t>𝛾</m:t>
                                  </m:r>
                                </m:e>
                                <m:sub>
                                  <m: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t>0</m:t>
                                  </m:r>
                                </m:sub>
                              </m:sSub>
                              <m: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t>𝛾</m:t>
                                  </m:r>
                                </m:e>
                                <m:sub>
                                  <m: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t>1</m:t>
                                  </m:r>
                                </m:sub>
                              </m:sSub>
                            </m:e>
                          </m:d>
                          <m:r>
                            <a:rPr lang="en-US" sz="1400" i="1" kern="100">
                              <a:solidFill>
                                <a:schemeClr val="tx1"/>
                              </a:solidFill>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r>
                                <m:rPr>
                                  <m:sty m:val="p"/>
                                </m:rPr>
                                <a:rPr lang="en-US" sz="1400"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Beta</m:t>
                              </m:r>
                            </m:sub>
                          </m:sSub>
                          <m:d>
                            <m:dPr>
                              <m:ctrlP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𝑥</m:t>
                              </m:r>
                            </m:e>
                            <m:e>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𝛽</m:t>
                              </m:r>
                            </m:e>
                          </m:d>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𝑑𝑥</m:t>
                          </m:r>
                        </m:e>
                      </m:nary>
                    </m:oMath>
                  </m:oMathPara>
                </a14:m>
                <a:endParaRPr lang="en-US" dirty="0">
                  <a:solidFill>
                    <a:schemeClr val="tx1"/>
                  </a:solidFill>
                </a:endParaRPr>
              </a:p>
            </p:txBody>
          </p:sp>
        </mc:Choice>
        <mc:Fallback xmlns="">
          <p:sp>
            <p:nvSpPr>
              <p:cNvPr id="10" name="Rectangle 9">
                <a:extLst>
                  <a:ext uri="{FF2B5EF4-FFF2-40B4-BE49-F238E27FC236}">
                    <a16:creationId xmlns:a16="http://schemas.microsoft.com/office/drawing/2014/main" id="{1C05DBC8-7A11-4EC2-87DF-532C43DA3574}"/>
                  </a:ext>
                </a:extLst>
              </p:cNvPr>
              <p:cNvSpPr>
                <a:spLocks noRot="1" noChangeAspect="1" noMove="1" noResize="1" noEditPoints="1" noAdjustHandles="1" noChangeArrowheads="1" noChangeShapeType="1" noTextEdit="1"/>
              </p:cNvSpPr>
              <p:nvPr/>
            </p:nvSpPr>
            <p:spPr>
              <a:xfrm>
                <a:off x="5375065" y="585910"/>
                <a:ext cx="3184716" cy="501650"/>
              </a:xfrm>
              <a:prstGeom prst="rect">
                <a:avLst/>
              </a:prstGeom>
              <a:blipFill>
                <a:blip r:embed="rId5"/>
                <a:stretch>
                  <a:fillRect/>
                </a:stretch>
              </a:blipFill>
              <a:ln>
                <a:solidFill>
                  <a:schemeClr val="tx1"/>
                </a:solid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C793D732-44C3-4DBE-777B-DB9EA9243F0B}"/>
              </a:ext>
            </a:extLst>
          </p:cNvPr>
          <p:cNvCxnSpPr>
            <a:stCxn id="10" idx="2"/>
          </p:cNvCxnSpPr>
          <p:nvPr/>
        </p:nvCxnSpPr>
        <p:spPr>
          <a:xfrm>
            <a:off x="6967423" y="1087560"/>
            <a:ext cx="0" cy="1404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5B9F090-F9B3-88AC-B58A-FAD1B6B0883B}"/>
                  </a:ext>
                </a:extLst>
              </p:cNvPr>
              <p:cNvSpPr/>
              <p:nvPr/>
            </p:nvSpPr>
            <p:spPr>
              <a:xfrm>
                <a:off x="5294795" y="3584602"/>
                <a:ext cx="3345256" cy="877945"/>
              </a:xfrm>
              <a:prstGeom prst="rect">
                <a:avLst/>
              </a:prstGeom>
              <a:solidFill>
                <a:srgbClr val="BAD4F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unc>
                        <m:func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𝑓</m:t>
                              </m:r>
                            </m:e>
                            <m:sub>
                              <m:sSub>
                                <m:sSub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𝛾</m:t>
                                  </m:r>
                                </m:e>
                                <m:sub>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𝛾</m:t>
                                  </m:r>
                                </m:e>
                                <m:sub>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ln</m:t>
                                  </m:r>
                                </m:fName>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𝛼</m:t>
                                  </m:r>
                                </m:e>
                              </m:func>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ln</m:t>
                                  </m:r>
                                </m:fName>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𝛽</m:t>
                                  </m:r>
                                </m:e>
                              </m:func>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𝑚</m:t>
                              </m:r>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𝛾</m:t>
                                  </m:r>
                                </m:e>
                                <m:sub>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𝛾</m:t>
                                  </m:r>
                                </m:e>
                                <m:sub>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ln</m:t>
                                  </m:r>
                                </m:fName>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𝛼</m:t>
                                  </m:r>
                                </m:e>
                              </m:func>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ln</m:t>
                                  </m:r>
                                </m:fName>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𝛽</m:t>
                                  </m:r>
                                </m:e>
                              </m:func>
                            </m:e>
                            <m:e>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𝑚</m:t>
                              </m:r>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r>
                                <a:rPr lang="en-US" i="1" kern="10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𝑛</m:t>
                              </m:r>
                            </m:e>
                          </m:d>
                        </m:e>
                      </m:func>
                      <m:r>
                        <a:rPr lang="en-US" i="1" kern="100">
                          <a:latin typeface="Cambria Math" panose="02040503050406030204" pitchFamily="18" charset="0"/>
                          <a:ea typeface="Times New Roman" panose="02020603050405020304" pitchFamily="18" charset="0"/>
                          <a:cs typeface="Times New Roman" panose="02020603050405020304" pitchFamily="18" charset="0"/>
                        </a:rPr>
                        <m:t>∝</m:t>
                      </m:r>
                      <m:nary>
                        <m:naryPr>
                          <m:chr m:val="∑"/>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naryPr>
                        <m:sub>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𝑘</m:t>
                          </m:r>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=1</m:t>
                          </m:r>
                        </m:sub>
                        <m:sup>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𝐾</m:t>
                          </m:r>
                        </m:sup>
                        <m:e>
                          <m:func>
                            <m:func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𝑃</m:t>
                                  </m:r>
                                </m:e>
                                <m:sub>
                                  <m:r>
                                    <m:rPr>
                                      <m:sty m:val="p"/>
                                    </m:rPr>
                                    <a:rPr lang="en-US"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Bin</m:t>
                                  </m:r>
                                </m:sub>
                              </m:sSub>
                              <m:d>
                                <m:d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𝑚</m:t>
                                      </m:r>
                                    </m:e>
                                    <m:sub>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𝑘</m:t>
                                      </m:r>
                                    </m:sub>
                                  </m:sSub>
                                </m:e>
                                <m:e>
                                  <m:sSub>
                                    <m:sSub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𝑛</m:t>
                                      </m:r>
                                    </m:e>
                                    <m:sub>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𝑝</m:t>
                                      </m:r>
                                    </m:e>
                                    <m:sub>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𝑘</m:t>
                                      </m:r>
                                    </m:sub>
                                  </m:sSub>
                                </m:e>
                              </m:d>
                            </m:e>
                          </m:func>
                        </m:e>
                      </m:nary>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ln</m:t>
                          </m:r>
                        </m:fName>
                        <m:e>
                          <m:sSub>
                            <m:sSub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𝑃</m:t>
                              </m:r>
                            </m:e>
                            <m:sub>
                              <m:r>
                                <m:rPr>
                                  <m:sty m:val="p"/>
                                </m:rPr>
                                <a:rPr lang="en-US"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MN</m:t>
                              </m:r>
                            </m:sub>
                          </m:sSub>
                          <m:d>
                            <m:dPr>
                              <m:ctrlP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𝑛</m:t>
                              </m:r>
                            </m:e>
                            <m:e>
                              <m:r>
                                <a:rPr lang="en-US" i="1" kern="100">
                                  <a:solidFill>
                                    <a:srgbClr val="E97132"/>
                                  </a:solidFill>
                                  <a:latin typeface="Cambria Math" panose="02040503050406030204" pitchFamily="18" charset="0"/>
                                  <a:ea typeface="Times New Roman" panose="02020603050405020304" pitchFamily="18" charset="0"/>
                                  <a:cs typeface="Times New Roman" panose="02020603050405020304" pitchFamily="18" charset="0"/>
                                </a:rPr>
                                <m:t>𝜙</m:t>
                              </m:r>
                            </m:e>
                          </m:d>
                        </m:e>
                      </m:func>
                    </m:oMath>
                  </m:oMathPara>
                </a14:m>
                <a:endParaRPr lang="en-US" dirty="0">
                  <a:solidFill>
                    <a:schemeClr val="tx1"/>
                  </a:solidFill>
                </a:endParaRPr>
              </a:p>
            </p:txBody>
          </p:sp>
        </mc:Choice>
        <mc:Fallback xmlns="">
          <p:sp>
            <p:nvSpPr>
              <p:cNvPr id="13" name="Rectangle 12">
                <a:extLst>
                  <a:ext uri="{FF2B5EF4-FFF2-40B4-BE49-F238E27FC236}">
                    <a16:creationId xmlns:a16="http://schemas.microsoft.com/office/drawing/2014/main" id="{C5B9F090-F9B3-88AC-B58A-FAD1B6B0883B}"/>
                  </a:ext>
                </a:extLst>
              </p:cNvPr>
              <p:cNvSpPr>
                <a:spLocks noRot="1" noChangeAspect="1" noMove="1" noResize="1" noEditPoints="1" noAdjustHandles="1" noChangeArrowheads="1" noChangeShapeType="1" noTextEdit="1"/>
              </p:cNvSpPr>
              <p:nvPr/>
            </p:nvSpPr>
            <p:spPr>
              <a:xfrm>
                <a:off x="5294795" y="3584602"/>
                <a:ext cx="3345256" cy="877945"/>
              </a:xfrm>
              <a:prstGeom prst="rect">
                <a:avLst/>
              </a:prstGeom>
              <a:blipFill>
                <a:blip r:embed="rId6"/>
                <a:stretch>
                  <a:fillRect/>
                </a:stretch>
              </a:blipFill>
              <a:ln>
                <a:solidFill>
                  <a:schemeClr val="tx1"/>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4AD17173-E112-5051-1A94-FA7FCA007566}"/>
              </a:ext>
            </a:extLst>
          </p:cNvPr>
          <p:cNvCxnSpPr>
            <a:stCxn id="13" idx="0"/>
            <a:endCxn id="7" idx="2"/>
          </p:cNvCxnSpPr>
          <p:nvPr/>
        </p:nvCxnSpPr>
        <p:spPr>
          <a:xfrm flipV="1">
            <a:off x="6967423" y="3251915"/>
            <a:ext cx="0" cy="332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730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6"/>
          <p:cNvSpPr txBox="1">
            <a:spLocks noGrp="1"/>
          </p:cNvSpPr>
          <p:nvPr>
            <p:ph type="title"/>
          </p:nvPr>
        </p:nvSpPr>
        <p:spPr>
          <a:xfrm>
            <a:off x="607626" y="3957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000" dirty="0"/>
              <a:t>Results </a:t>
            </a:r>
            <a:endParaRPr sz="3000" dirty="0"/>
          </a:p>
          <a:p>
            <a:pPr marL="0" lvl="0" indent="0" algn="l" rtl="0">
              <a:spcBef>
                <a:spcPts val="0"/>
              </a:spcBef>
              <a:spcAft>
                <a:spcPts val="0"/>
              </a:spcAft>
              <a:buNone/>
            </a:pPr>
            <a:endParaRPr sz="3000" dirty="0"/>
          </a:p>
        </p:txBody>
      </p:sp>
      <p:grpSp>
        <p:nvGrpSpPr>
          <p:cNvPr id="7" name="Group 6">
            <a:extLst>
              <a:ext uri="{FF2B5EF4-FFF2-40B4-BE49-F238E27FC236}">
                <a16:creationId xmlns:a16="http://schemas.microsoft.com/office/drawing/2014/main" id="{FB9EBD5F-0CD5-8D14-537E-597588EC5CE0}"/>
              </a:ext>
            </a:extLst>
          </p:cNvPr>
          <p:cNvGrpSpPr/>
          <p:nvPr/>
        </p:nvGrpSpPr>
        <p:grpSpPr>
          <a:xfrm>
            <a:off x="329062" y="1263262"/>
            <a:ext cx="4139921" cy="1900662"/>
            <a:chOff x="432079" y="1185705"/>
            <a:chExt cx="4139921" cy="1900662"/>
          </a:xfrm>
        </p:grpSpPr>
        <p:pic>
          <p:nvPicPr>
            <p:cNvPr id="3" name="Picture 2">
              <a:extLst>
                <a:ext uri="{FF2B5EF4-FFF2-40B4-BE49-F238E27FC236}">
                  <a16:creationId xmlns:a16="http://schemas.microsoft.com/office/drawing/2014/main" id="{DDF94960-6F2C-72B3-3490-C65EAAA79BB0}"/>
                </a:ext>
              </a:extLst>
            </p:cNvPr>
            <p:cNvPicPr>
              <a:picLocks noChangeAspect="1"/>
            </p:cNvPicPr>
            <p:nvPr/>
          </p:nvPicPr>
          <p:blipFill>
            <a:blip r:embed="rId3"/>
            <a:stretch>
              <a:fillRect/>
            </a:stretch>
          </p:blipFill>
          <p:spPr>
            <a:xfrm>
              <a:off x="475678" y="1514523"/>
              <a:ext cx="4096322" cy="1571844"/>
            </a:xfrm>
            <a:prstGeom prst="rect">
              <a:avLst/>
            </a:prstGeom>
          </p:spPr>
        </p:pic>
        <p:sp>
          <p:nvSpPr>
            <p:cNvPr id="6" name="TextBox 5">
              <a:extLst>
                <a:ext uri="{FF2B5EF4-FFF2-40B4-BE49-F238E27FC236}">
                  <a16:creationId xmlns:a16="http://schemas.microsoft.com/office/drawing/2014/main" id="{C5CCE89A-3DC3-2118-3E80-E95C4FD7677F}"/>
                </a:ext>
              </a:extLst>
            </p:cNvPr>
            <p:cNvSpPr txBox="1"/>
            <p:nvPr/>
          </p:nvSpPr>
          <p:spPr>
            <a:xfrm>
              <a:off x="432079" y="1185705"/>
              <a:ext cx="4139921" cy="307777"/>
            </a:xfrm>
            <a:prstGeom prst="rect">
              <a:avLst/>
            </a:prstGeom>
            <a:noFill/>
          </p:spPr>
          <p:txBody>
            <a:bodyPr wrap="square" rtlCol="0">
              <a:spAutoFit/>
            </a:bodyPr>
            <a:lstStyle/>
            <a:p>
              <a:r>
                <a:rPr lang="en-US" dirty="0"/>
                <a:t>Table 2: Probability of taking a kick in each bin</a:t>
              </a:r>
            </a:p>
          </p:txBody>
        </p:sp>
      </p:grpSp>
      <p:sp>
        <p:nvSpPr>
          <p:cNvPr id="8" name="TextBox 7">
            <a:extLst>
              <a:ext uri="{FF2B5EF4-FFF2-40B4-BE49-F238E27FC236}">
                <a16:creationId xmlns:a16="http://schemas.microsoft.com/office/drawing/2014/main" id="{C27ED6ED-21E3-4560-502E-626C902908D8}"/>
              </a:ext>
            </a:extLst>
          </p:cNvPr>
          <p:cNvSpPr txBox="1"/>
          <p:nvPr/>
        </p:nvSpPr>
        <p:spPr>
          <a:xfrm>
            <a:off x="228579" y="3312077"/>
            <a:ext cx="4530647" cy="830997"/>
          </a:xfrm>
          <a:prstGeom prst="rect">
            <a:avLst/>
          </a:prstGeom>
          <a:noFill/>
        </p:spPr>
        <p:txBody>
          <a:bodyPr wrap="square" rtlCol="0">
            <a:spAutoFit/>
          </a:bodyPr>
          <a:lstStyle/>
          <a:p>
            <a:r>
              <a:rPr lang="el-GR" sz="2400" dirty="0">
                <a:solidFill>
                  <a:schemeClr val="tx1"/>
                </a:solidFill>
                <a:latin typeface="Cambria Math" panose="02040503050406030204" pitchFamily="18" charset="0"/>
                <a:ea typeface="Cambria Math" panose="02040503050406030204" pitchFamily="18" charset="0"/>
              </a:rPr>
              <a:t>ϕ</a:t>
            </a:r>
            <a:r>
              <a:rPr lang="en-US" sz="2400" baseline="-25000" dirty="0">
                <a:solidFill>
                  <a:schemeClr val="tx1"/>
                </a:solidFill>
                <a:latin typeface="Cambria Math" panose="02040503050406030204" pitchFamily="18" charset="0"/>
                <a:ea typeface="Cambria Math" panose="02040503050406030204" pitchFamily="18" charset="0"/>
              </a:rPr>
              <a:t>k</a:t>
            </a:r>
            <a:r>
              <a:rPr lang="en-US" sz="2400" dirty="0">
                <a:solidFill>
                  <a:schemeClr val="tx1"/>
                </a:solidFill>
                <a:latin typeface="Cambria Math" panose="02040503050406030204" pitchFamily="18" charset="0"/>
                <a:ea typeface="Cambria Math" panose="02040503050406030204" pitchFamily="18" charset="0"/>
              </a:rPr>
              <a:t>​ = </a:t>
            </a:r>
            <a:r>
              <a:rPr lang="en-US" sz="2400" dirty="0" err="1">
                <a:solidFill>
                  <a:schemeClr val="tx1"/>
                </a:solidFill>
                <a:latin typeface="Cambria Math" panose="02040503050406030204" pitchFamily="18" charset="0"/>
                <a:ea typeface="Cambria Math" panose="02040503050406030204" pitchFamily="18" charset="0"/>
              </a:rPr>
              <a:t>F</a:t>
            </a:r>
            <a:r>
              <a:rPr lang="en-US" sz="2400" baseline="-25000" dirty="0" err="1">
                <a:solidFill>
                  <a:schemeClr val="tx1"/>
                </a:solidFill>
                <a:latin typeface="Cambria Math" panose="02040503050406030204" pitchFamily="18" charset="0"/>
                <a:ea typeface="Cambria Math" panose="02040503050406030204" pitchFamily="18" charset="0"/>
              </a:rPr>
              <a:t>Beta</a:t>
            </a:r>
            <a:r>
              <a:rPr lang="en-US" sz="2400" dirty="0">
                <a:solidFill>
                  <a:schemeClr val="tx1"/>
                </a:solidFill>
                <a:latin typeface="Cambria Math" panose="02040503050406030204" pitchFamily="18" charset="0"/>
                <a:ea typeface="Cambria Math" panose="02040503050406030204" pitchFamily="18" charset="0"/>
              </a:rPr>
              <a:t>​ (b</a:t>
            </a:r>
            <a:r>
              <a:rPr lang="en-US" sz="2400" baseline="-25000" dirty="0">
                <a:solidFill>
                  <a:schemeClr val="tx1"/>
                </a:solidFill>
                <a:latin typeface="Cambria Math" panose="02040503050406030204" pitchFamily="18" charset="0"/>
                <a:ea typeface="Cambria Math" panose="02040503050406030204" pitchFamily="18" charset="0"/>
              </a:rPr>
              <a:t>k​</a:t>
            </a:r>
            <a:r>
              <a:rPr lang="en-US" sz="2400" dirty="0">
                <a:solidFill>
                  <a:schemeClr val="tx1"/>
                </a:solidFill>
                <a:latin typeface="Cambria Math" panose="02040503050406030204" pitchFamily="18" charset="0"/>
                <a:ea typeface="Cambria Math" panose="02040503050406030204" pitchFamily="18" charset="0"/>
              </a:rPr>
              <a:t>∣</a:t>
            </a:r>
            <a:r>
              <a:rPr lang="el-GR" sz="2400" dirty="0">
                <a:solidFill>
                  <a:schemeClr val="tx1"/>
                </a:solidFill>
                <a:latin typeface="Cambria Math" panose="02040503050406030204" pitchFamily="18" charset="0"/>
                <a:ea typeface="Cambria Math" panose="02040503050406030204" pitchFamily="18" charset="0"/>
              </a:rPr>
              <a:t>α,β)</a:t>
            </a:r>
            <a:r>
              <a:rPr lang="en-US" sz="2400" dirty="0">
                <a:solidFill>
                  <a:schemeClr val="tx1"/>
                </a:solidFill>
                <a:latin typeface="Cambria Math" panose="02040503050406030204" pitchFamily="18" charset="0"/>
                <a:ea typeface="Cambria Math" panose="02040503050406030204" pitchFamily="18" charset="0"/>
              </a:rPr>
              <a:t> </a:t>
            </a:r>
            <a:r>
              <a:rPr lang="el-GR" sz="2400" dirty="0">
                <a:solidFill>
                  <a:schemeClr val="tx1"/>
                </a:solidFill>
                <a:latin typeface="Cambria Math" panose="02040503050406030204" pitchFamily="18" charset="0"/>
                <a:ea typeface="Cambria Math" panose="02040503050406030204" pitchFamily="18" charset="0"/>
              </a:rPr>
              <a:t>−</a:t>
            </a:r>
            <a:r>
              <a:rPr lang="en-US" sz="2400" dirty="0">
                <a:solidFill>
                  <a:schemeClr val="tx1"/>
                </a:solidFill>
                <a:latin typeface="Cambria Math" panose="02040503050406030204" pitchFamily="18" charset="0"/>
                <a:ea typeface="Cambria Math" panose="02040503050406030204" pitchFamily="18" charset="0"/>
              </a:rPr>
              <a:t> </a:t>
            </a:r>
            <a:r>
              <a:rPr lang="en-US" sz="2400" dirty="0" err="1">
                <a:solidFill>
                  <a:schemeClr val="tx1"/>
                </a:solidFill>
                <a:latin typeface="Cambria Math" panose="02040503050406030204" pitchFamily="18" charset="0"/>
                <a:ea typeface="Cambria Math" panose="02040503050406030204" pitchFamily="18" charset="0"/>
              </a:rPr>
              <a:t>F</a:t>
            </a:r>
            <a:r>
              <a:rPr lang="en-US" sz="2400" baseline="-25000" dirty="0" err="1">
                <a:solidFill>
                  <a:schemeClr val="tx1"/>
                </a:solidFill>
                <a:latin typeface="Cambria Math" panose="02040503050406030204" pitchFamily="18" charset="0"/>
                <a:ea typeface="Cambria Math" panose="02040503050406030204" pitchFamily="18" charset="0"/>
              </a:rPr>
              <a:t>Beta</a:t>
            </a:r>
            <a:r>
              <a:rPr lang="en-US" sz="2400" dirty="0">
                <a:solidFill>
                  <a:schemeClr val="tx1"/>
                </a:solidFill>
                <a:latin typeface="Cambria Math" panose="02040503050406030204" pitchFamily="18" charset="0"/>
                <a:ea typeface="Cambria Math" panose="02040503050406030204" pitchFamily="18" charset="0"/>
              </a:rPr>
              <a:t>​(</a:t>
            </a:r>
            <a:r>
              <a:rPr lang="en-US" sz="2400" dirty="0" err="1">
                <a:solidFill>
                  <a:schemeClr val="tx1"/>
                </a:solidFill>
                <a:latin typeface="Cambria Math" panose="02040503050406030204" pitchFamily="18" charset="0"/>
                <a:ea typeface="Cambria Math" panose="02040503050406030204" pitchFamily="18" charset="0"/>
              </a:rPr>
              <a:t>a</a:t>
            </a:r>
            <a:r>
              <a:rPr lang="en-US" sz="2400" baseline="-25000" dirty="0" err="1">
                <a:solidFill>
                  <a:schemeClr val="tx1"/>
                </a:solidFill>
                <a:latin typeface="Cambria Math" panose="02040503050406030204" pitchFamily="18" charset="0"/>
                <a:ea typeface="Cambria Math" panose="02040503050406030204" pitchFamily="18" charset="0"/>
              </a:rPr>
              <a:t>k</a:t>
            </a:r>
            <a:r>
              <a:rPr lang="en-US" sz="2400" dirty="0">
                <a:solidFill>
                  <a:schemeClr val="tx1"/>
                </a:solidFill>
                <a:latin typeface="Cambria Math" panose="02040503050406030204" pitchFamily="18" charset="0"/>
                <a:ea typeface="Cambria Math" panose="02040503050406030204" pitchFamily="18" charset="0"/>
              </a:rPr>
              <a:t>​∣</a:t>
            </a:r>
            <a:r>
              <a:rPr lang="el-GR" sz="2400" dirty="0">
                <a:solidFill>
                  <a:schemeClr val="tx1"/>
                </a:solidFill>
                <a:latin typeface="Cambria Math" panose="02040503050406030204" pitchFamily="18" charset="0"/>
                <a:ea typeface="Cambria Math" panose="02040503050406030204" pitchFamily="18" charset="0"/>
              </a:rPr>
              <a:t>α,β)</a:t>
            </a:r>
            <a:endParaRPr lang="en-US" sz="2400" dirty="0">
              <a:solidFill>
                <a:schemeClr val="tx1"/>
              </a:solidFill>
              <a:latin typeface="Cambria Math" panose="02040503050406030204" pitchFamily="18" charset="0"/>
              <a:ea typeface="Cambria Math" panose="02040503050406030204" pitchFamily="18" charset="0"/>
            </a:endParaRPr>
          </a:p>
          <a:p>
            <a:endParaRPr lang="en-US" sz="2400" dirty="0"/>
          </a:p>
        </p:txBody>
      </p:sp>
      <p:pic>
        <p:nvPicPr>
          <p:cNvPr id="9" name="Picture 8">
            <a:extLst>
              <a:ext uri="{FF2B5EF4-FFF2-40B4-BE49-F238E27FC236}">
                <a16:creationId xmlns:a16="http://schemas.microsoft.com/office/drawing/2014/main" id="{9211ADCE-1349-095F-7398-24EDC0081B1F}"/>
              </a:ext>
            </a:extLst>
          </p:cNvPr>
          <p:cNvPicPr>
            <a:picLocks noChangeAspect="1"/>
          </p:cNvPicPr>
          <p:nvPr/>
        </p:nvPicPr>
        <p:blipFill>
          <a:blip r:embed="rId4"/>
          <a:stretch>
            <a:fillRect/>
          </a:stretch>
        </p:blipFill>
        <p:spPr>
          <a:xfrm>
            <a:off x="5274420" y="515376"/>
            <a:ext cx="3540518" cy="2648548"/>
          </a:xfrm>
          <a:prstGeom prst="rect">
            <a:avLst/>
          </a:prstGeom>
        </p:spPr>
      </p:pic>
      <p:sp>
        <p:nvSpPr>
          <p:cNvPr id="10" name="TextBox 9">
            <a:extLst>
              <a:ext uri="{FF2B5EF4-FFF2-40B4-BE49-F238E27FC236}">
                <a16:creationId xmlns:a16="http://schemas.microsoft.com/office/drawing/2014/main" id="{900432A9-675B-B9D6-8A0D-76CCD4B1D343}"/>
              </a:ext>
            </a:extLst>
          </p:cNvPr>
          <p:cNvSpPr txBox="1"/>
          <p:nvPr/>
        </p:nvSpPr>
        <p:spPr>
          <a:xfrm>
            <a:off x="5264159" y="3173577"/>
            <a:ext cx="3651262" cy="276999"/>
          </a:xfrm>
          <a:prstGeom prst="rect">
            <a:avLst/>
          </a:prstGeom>
          <a:noFill/>
        </p:spPr>
        <p:txBody>
          <a:bodyPr wrap="square" rtlCol="0">
            <a:spAutoFit/>
          </a:bodyPr>
          <a:lstStyle/>
          <a:p>
            <a:r>
              <a:rPr lang="en-US" sz="1200" dirty="0"/>
              <a:t>Figure 1: PDF and CDF of Field Goal Distance</a:t>
            </a:r>
          </a:p>
        </p:txBody>
      </p:sp>
      <p:sp>
        <p:nvSpPr>
          <p:cNvPr id="11" name="TextBox 10">
            <a:extLst>
              <a:ext uri="{FF2B5EF4-FFF2-40B4-BE49-F238E27FC236}">
                <a16:creationId xmlns:a16="http://schemas.microsoft.com/office/drawing/2014/main" id="{317F1A55-4940-FF22-0990-DAE2B5422AE7}"/>
              </a:ext>
            </a:extLst>
          </p:cNvPr>
          <p:cNvSpPr txBox="1"/>
          <p:nvPr/>
        </p:nvSpPr>
        <p:spPr>
          <a:xfrm rot="16200000">
            <a:off x="5003553" y="837611"/>
            <a:ext cx="803343" cy="261610"/>
          </a:xfrm>
          <a:prstGeom prst="rect">
            <a:avLst/>
          </a:prstGeom>
          <a:noFill/>
        </p:spPr>
        <p:txBody>
          <a:bodyPr wrap="square" rtlCol="0">
            <a:spAutoFit/>
          </a:bodyPr>
          <a:lstStyle/>
          <a:p>
            <a:r>
              <a:rPr lang="en-US" sz="1100" dirty="0">
                <a:solidFill>
                  <a:schemeClr val="tx1"/>
                </a:solidFill>
              </a:rPr>
              <a:t>yards</a:t>
            </a:r>
            <a:r>
              <a:rPr lang="en-US" sz="1100" baseline="30000" dirty="0">
                <a:solidFill>
                  <a:schemeClr val="tx1"/>
                </a:solidFill>
              </a:rPr>
              <a:t>-1</a:t>
            </a:r>
            <a:endParaRPr lang="en-US" sz="11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a:extLst>
            <a:ext uri="{FF2B5EF4-FFF2-40B4-BE49-F238E27FC236}">
              <a16:creationId xmlns:a16="http://schemas.microsoft.com/office/drawing/2014/main" id="{F14C6425-C159-4C5C-5AF4-0AD0E15932BE}"/>
            </a:ext>
          </a:extLst>
        </p:cNvPr>
        <p:cNvGrpSpPr/>
        <p:nvPr/>
      </p:nvGrpSpPr>
      <p:grpSpPr>
        <a:xfrm>
          <a:off x="0" y="0"/>
          <a:ext cx="0" cy="0"/>
          <a:chOff x="0" y="0"/>
          <a:chExt cx="0" cy="0"/>
        </a:xfrm>
      </p:grpSpPr>
      <p:sp>
        <p:nvSpPr>
          <p:cNvPr id="292" name="Google Shape;292;p36">
            <a:extLst>
              <a:ext uri="{FF2B5EF4-FFF2-40B4-BE49-F238E27FC236}">
                <a16:creationId xmlns:a16="http://schemas.microsoft.com/office/drawing/2014/main" id="{349495D7-FD4B-96D9-DCE1-D67B06291E2B}"/>
              </a:ext>
            </a:extLst>
          </p:cNvPr>
          <p:cNvSpPr txBox="1">
            <a:spLocks noGrp="1"/>
          </p:cNvSpPr>
          <p:nvPr>
            <p:ph type="title"/>
          </p:nvPr>
        </p:nvSpPr>
        <p:spPr>
          <a:xfrm>
            <a:off x="607626" y="3957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000" dirty="0"/>
              <a:t>Results </a:t>
            </a:r>
            <a:endParaRPr sz="3000" dirty="0"/>
          </a:p>
          <a:p>
            <a:pPr marL="0" lvl="0" indent="0" algn="l" rtl="0">
              <a:spcBef>
                <a:spcPts val="0"/>
              </a:spcBef>
              <a:spcAft>
                <a:spcPts val="0"/>
              </a:spcAft>
              <a:buNone/>
            </a:pPr>
            <a:endParaRPr sz="3000" dirty="0"/>
          </a:p>
        </p:txBody>
      </p:sp>
      <p:pic>
        <p:nvPicPr>
          <p:cNvPr id="9" name="Picture 8">
            <a:extLst>
              <a:ext uri="{FF2B5EF4-FFF2-40B4-BE49-F238E27FC236}">
                <a16:creationId xmlns:a16="http://schemas.microsoft.com/office/drawing/2014/main" id="{35D2275B-566C-9253-9E09-697FF58841E9}"/>
              </a:ext>
            </a:extLst>
          </p:cNvPr>
          <p:cNvPicPr>
            <a:picLocks noChangeAspect="1"/>
          </p:cNvPicPr>
          <p:nvPr/>
        </p:nvPicPr>
        <p:blipFill>
          <a:blip r:embed="rId3"/>
          <a:stretch>
            <a:fillRect/>
          </a:stretch>
        </p:blipFill>
        <p:spPr>
          <a:xfrm>
            <a:off x="5166231" y="1281973"/>
            <a:ext cx="3115110" cy="1152686"/>
          </a:xfrm>
          <a:prstGeom prst="rect">
            <a:avLst/>
          </a:prstGeom>
        </p:spPr>
      </p:pic>
      <p:grpSp>
        <p:nvGrpSpPr>
          <p:cNvPr id="11" name="Group 10">
            <a:extLst>
              <a:ext uri="{FF2B5EF4-FFF2-40B4-BE49-F238E27FC236}">
                <a16:creationId xmlns:a16="http://schemas.microsoft.com/office/drawing/2014/main" id="{4186A5F6-D03A-6EF7-DA33-6768A30D36BB}"/>
              </a:ext>
            </a:extLst>
          </p:cNvPr>
          <p:cNvGrpSpPr/>
          <p:nvPr/>
        </p:nvGrpSpPr>
        <p:grpSpPr>
          <a:xfrm>
            <a:off x="412670" y="1193302"/>
            <a:ext cx="3595933" cy="1022252"/>
            <a:chOff x="412670" y="1193302"/>
            <a:chExt cx="3595933" cy="1022252"/>
          </a:xfrm>
        </p:grpSpPr>
        <p:pic>
          <p:nvPicPr>
            <p:cNvPr id="4" name="Picture 3">
              <a:extLst>
                <a:ext uri="{FF2B5EF4-FFF2-40B4-BE49-F238E27FC236}">
                  <a16:creationId xmlns:a16="http://schemas.microsoft.com/office/drawing/2014/main" id="{5D2BCED9-DDFE-DDFF-2B36-21C520DA5668}"/>
                </a:ext>
              </a:extLst>
            </p:cNvPr>
            <p:cNvPicPr>
              <a:picLocks noChangeAspect="1"/>
            </p:cNvPicPr>
            <p:nvPr/>
          </p:nvPicPr>
          <p:blipFill>
            <a:blip r:embed="rId4"/>
            <a:stretch>
              <a:fillRect/>
            </a:stretch>
          </p:blipFill>
          <p:spPr>
            <a:xfrm>
              <a:off x="443503" y="1501079"/>
              <a:ext cx="3534268" cy="714475"/>
            </a:xfrm>
            <a:prstGeom prst="rect">
              <a:avLst/>
            </a:prstGeom>
          </p:spPr>
        </p:pic>
        <p:sp>
          <p:nvSpPr>
            <p:cNvPr id="10" name="TextBox 9">
              <a:extLst>
                <a:ext uri="{FF2B5EF4-FFF2-40B4-BE49-F238E27FC236}">
                  <a16:creationId xmlns:a16="http://schemas.microsoft.com/office/drawing/2014/main" id="{D86394D0-C8BE-FA11-A7D7-411C0EFB0329}"/>
                </a:ext>
              </a:extLst>
            </p:cNvPr>
            <p:cNvSpPr txBox="1"/>
            <p:nvPr/>
          </p:nvSpPr>
          <p:spPr>
            <a:xfrm>
              <a:off x="412670" y="1193302"/>
              <a:ext cx="3595933" cy="307777"/>
            </a:xfrm>
            <a:prstGeom prst="rect">
              <a:avLst/>
            </a:prstGeom>
            <a:noFill/>
          </p:spPr>
          <p:txBody>
            <a:bodyPr wrap="square" rtlCol="0">
              <a:spAutoFit/>
            </a:bodyPr>
            <a:lstStyle/>
            <a:p>
              <a:r>
                <a:rPr lang="en-US" dirty="0"/>
                <a:t>Table 3: Shape Parameters</a:t>
              </a:r>
            </a:p>
          </p:txBody>
        </p:sp>
      </p:grpSp>
      <p:sp>
        <p:nvSpPr>
          <p:cNvPr id="12" name="TextBox 11">
            <a:extLst>
              <a:ext uri="{FF2B5EF4-FFF2-40B4-BE49-F238E27FC236}">
                <a16:creationId xmlns:a16="http://schemas.microsoft.com/office/drawing/2014/main" id="{64AA0C24-1EAB-82D2-6366-D006E04DC04C}"/>
              </a:ext>
            </a:extLst>
          </p:cNvPr>
          <p:cNvSpPr txBox="1"/>
          <p:nvPr/>
        </p:nvSpPr>
        <p:spPr>
          <a:xfrm>
            <a:off x="5135399" y="968417"/>
            <a:ext cx="3164539" cy="307777"/>
          </a:xfrm>
          <a:prstGeom prst="rect">
            <a:avLst/>
          </a:prstGeom>
          <a:noFill/>
        </p:spPr>
        <p:txBody>
          <a:bodyPr wrap="square" rtlCol="0">
            <a:spAutoFit/>
          </a:bodyPr>
          <a:lstStyle/>
          <a:p>
            <a:r>
              <a:rPr lang="en-US" dirty="0"/>
              <a:t>Table 4: Distribution FG Statistics</a:t>
            </a:r>
          </a:p>
        </p:txBody>
      </p:sp>
      <p:sp>
        <p:nvSpPr>
          <p:cNvPr id="13" name="TextBox 12">
            <a:extLst>
              <a:ext uri="{FF2B5EF4-FFF2-40B4-BE49-F238E27FC236}">
                <a16:creationId xmlns:a16="http://schemas.microsoft.com/office/drawing/2014/main" id="{34D728F4-00B4-E1DD-D9B4-83B434391624}"/>
              </a:ext>
            </a:extLst>
          </p:cNvPr>
          <p:cNvSpPr txBox="1"/>
          <p:nvPr/>
        </p:nvSpPr>
        <p:spPr>
          <a:xfrm>
            <a:off x="443503" y="2708842"/>
            <a:ext cx="3595933" cy="738664"/>
          </a:xfrm>
          <a:prstGeom prst="rect">
            <a:avLst/>
          </a:prstGeom>
          <a:noFill/>
        </p:spPr>
        <p:txBody>
          <a:bodyPr wrap="square" rtlCol="0">
            <a:spAutoFit/>
          </a:bodyPr>
          <a:lstStyle/>
          <a:p>
            <a:r>
              <a:rPr lang="el-GR" dirty="0"/>
              <a:t>α</a:t>
            </a:r>
            <a:r>
              <a:rPr lang="en-US" dirty="0"/>
              <a:t>: tendency toward shorter distances</a:t>
            </a:r>
          </a:p>
          <a:p>
            <a:endParaRPr lang="en-US" dirty="0"/>
          </a:p>
          <a:p>
            <a:r>
              <a:rPr lang="el-GR" dirty="0"/>
              <a:t>β</a:t>
            </a:r>
            <a:r>
              <a:rPr lang="en-US" dirty="0"/>
              <a:t>: tendency toward longer distances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60BAA45-9EFE-FC56-B553-D1B5ED50A3A2}"/>
                  </a:ext>
                </a:extLst>
              </p:cNvPr>
              <p:cNvSpPr txBox="1"/>
              <p:nvPr/>
            </p:nvSpPr>
            <p:spPr>
              <a:xfrm>
                <a:off x="5104564" y="2708842"/>
                <a:ext cx="3595933" cy="1607684"/>
              </a:xfrm>
              <a:prstGeom prst="rect">
                <a:avLst/>
              </a:prstGeom>
              <a:noFill/>
            </p:spPr>
            <p:txBody>
              <a:bodyPr wrap="square" rtlCol="0">
                <a:spAutoFit/>
              </a:bodyPr>
              <a:lstStyle/>
              <a:p>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𝛼</m:t>
                        </m:r>
                      </m:num>
                      <m:den>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den>
                    </m:f>
                  </m:oMath>
                </a14:m>
                <a:r>
                  <a:rPr lang="en-US" dirty="0"/>
                  <a:t>: mean distance (average </a:t>
                </a:r>
                <a:r>
                  <a:rPr lang="en-US" dirty="0" err="1"/>
                  <a:t>fg</a:t>
                </a:r>
                <a:r>
                  <a:rPr lang="en-US" dirty="0"/>
                  <a:t> attempt)</a:t>
                </a:r>
              </a:p>
              <a:p>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−2</m:t>
                        </m:r>
                      </m:den>
                    </m:f>
                  </m:oMath>
                </a14:m>
                <a:r>
                  <a:rPr lang="en-US" dirty="0"/>
                  <a:t>: mode (most common attempt)</a:t>
                </a:r>
              </a:p>
              <a:p>
                <a14:m>
                  <m:oMath xmlns:m="http://schemas.openxmlformats.org/officeDocument/2006/math">
                    <m:rad>
                      <m:radPr>
                        <m:degHide m:val="on"/>
                        <m:ctrlPr>
                          <a:rPr lang="en-US" i="1" smtClean="0">
                            <a:latin typeface="Cambria Math" panose="02040503050406030204" pitchFamily="18" charset="0"/>
                          </a:rPr>
                        </m:ctrlPr>
                      </m:radPr>
                      <m:deg/>
                      <m:e>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𝛼𝛽</m:t>
                            </m:r>
                          </m:num>
                          <m:den>
                            <m:sSup>
                              <m:sSupPr>
                                <m:ctrlPr>
                                  <a:rPr lang="en-US" b="0"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rPr>
                          <m:t> </m:t>
                        </m:r>
                      </m:e>
                    </m:rad>
                  </m:oMath>
                </a14:m>
                <a:r>
                  <a:rPr lang="en-US" dirty="0"/>
                  <a:t>: Standard deviation</a:t>
                </a:r>
              </a:p>
              <a:p>
                <a:endParaRPr lang="en-US" dirty="0"/>
              </a:p>
              <a:p>
                <a:r>
                  <a:rPr lang="en-US" dirty="0"/>
                  <a:t>Everything * 100 to convert to yards</a:t>
                </a:r>
              </a:p>
            </p:txBody>
          </p:sp>
        </mc:Choice>
        <mc:Fallback xmlns="">
          <p:sp>
            <p:nvSpPr>
              <p:cNvPr id="14" name="TextBox 13">
                <a:extLst>
                  <a:ext uri="{FF2B5EF4-FFF2-40B4-BE49-F238E27FC236}">
                    <a16:creationId xmlns:a16="http://schemas.microsoft.com/office/drawing/2014/main" id="{360BAA45-9EFE-FC56-B553-D1B5ED50A3A2}"/>
                  </a:ext>
                </a:extLst>
              </p:cNvPr>
              <p:cNvSpPr txBox="1">
                <a:spLocks noRot="1" noChangeAspect="1" noMove="1" noResize="1" noEditPoints="1" noAdjustHandles="1" noChangeArrowheads="1" noChangeShapeType="1" noTextEdit="1"/>
              </p:cNvSpPr>
              <p:nvPr/>
            </p:nvSpPr>
            <p:spPr>
              <a:xfrm>
                <a:off x="5104564" y="2708842"/>
                <a:ext cx="3595933" cy="1607684"/>
              </a:xfrm>
              <a:prstGeom prst="rect">
                <a:avLst/>
              </a:prstGeom>
              <a:blipFill>
                <a:blip r:embed="rId5"/>
                <a:stretch>
                  <a:fillRect l="-508" b="-3409"/>
                </a:stretch>
              </a:blipFill>
            </p:spPr>
            <p:txBody>
              <a:bodyPr/>
              <a:lstStyle/>
              <a:p>
                <a:r>
                  <a:rPr lang="en-US">
                    <a:noFill/>
                  </a:rPr>
                  <a:t> </a:t>
                </a:r>
              </a:p>
            </p:txBody>
          </p:sp>
        </mc:Fallback>
      </mc:AlternateContent>
    </p:spTree>
    <p:extLst>
      <p:ext uri="{BB962C8B-B14F-4D97-AF65-F5344CB8AC3E}">
        <p14:creationId xmlns:p14="http://schemas.microsoft.com/office/powerpoint/2010/main" val="2600118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
          <a:extLst>
            <a:ext uri="{FF2B5EF4-FFF2-40B4-BE49-F238E27FC236}">
              <a16:creationId xmlns:a16="http://schemas.microsoft.com/office/drawing/2014/main" id="{649343C7-2856-5CFA-31D4-54333368E14C}"/>
            </a:ext>
          </a:extLst>
        </p:cNvPr>
        <p:cNvGrpSpPr/>
        <p:nvPr/>
      </p:nvGrpSpPr>
      <p:grpSpPr>
        <a:xfrm>
          <a:off x="0" y="0"/>
          <a:ext cx="0" cy="0"/>
          <a:chOff x="0" y="0"/>
          <a:chExt cx="0" cy="0"/>
        </a:xfrm>
      </p:grpSpPr>
      <p:sp>
        <p:nvSpPr>
          <p:cNvPr id="292" name="Google Shape;292;p36">
            <a:extLst>
              <a:ext uri="{FF2B5EF4-FFF2-40B4-BE49-F238E27FC236}">
                <a16:creationId xmlns:a16="http://schemas.microsoft.com/office/drawing/2014/main" id="{D1D97E9C-D7A6-68C6-7596-FD13247B032E}"/>
              </a:ext>
            </a:extLst>
          </p:cNvPr>
          <p:cNvSpPr txBox="1">
            <a:spLocks noGrp="1"/>
          </p:cNvSpPr>
          <p:nvPr>
            <p:ph type="title"/>
          </p:nvPr>
        </p:nvSpPr>
        <p:spPr>
          <a:xfrm>
            <a:off x="607626" y="395717"/>
            <a:ext cx="435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000" dirty="0"/>
              <a:t>Results </a:t>
            </a:r>
            <a:endParaRPr sz="3000" dirty="0"/>
          </a:p>
          <a:p>
            <a:pPr marL="0" lvl="0" indent="0" algn="l" rtl="0">
              <a:spcBef>
                <a:spcPts val="0"/>
              </a:spcBef>
              <a:spcAft>
                <a:spcPts val="0"/>
              </a:spcAft>
              <a:buNone/>
            </a:pPr>
            <a:endParaRPr sz="3000" dirty="0"/>
          </a:p>
        </p:txBody>
      </p:sp>
      <p:pic>
        <p:nvPicPr>
          <p:cNvPr id="9" name="Picture 8">
            <a:extLst>
              <a:ext uri="{FF2B5EF4-FFF2-40B4-BE49-F238E27FC236}">
                <a16:creationId xmlns:a16="http://schemas.microsoft.com/office/drawing/2014/main" id="{52073E44-1D4A-F9CC-354A-01024224C209}"/>
              </a:ext>
            </a:extLst>
          </p:cNvPr>
          <p:cNvPicPr>
            <a:picLocks noChangeAspect="1"/>
          </p:cNvPicPr>
          <p:nvPr/>
        </p:nvPicPr>
        <p:blipFill>
          <a:blip r:embed="rId3"/>
          <a:stretch>
            <a:fillRect/>
          </a:stretch>
        </p:blipFill>
        <p:spPr>
          <a:xfrm>
            <a:off x="4752982" y="574505"/>
            <a:ext cx="3538728" cy="2861858"/>
          </a:xfrm>
          <a:prstGeom prst="rect">
            <a:avLst/>
          </a:prstGeom>
        </p:spPr>
      </p:pic>
      <p:grpSp>
        <p:nvGrpSpPr>
          <p:cNvPr id="13" name="Group 12">
            <a:extLst>
              <a:ext uri="{FF2B5EF4-FFF2-40B4-BE49-F238E27FC236}">
                <a16:creationId xmlns:a16="http://schemas.microsoft.com/office/drawing/2014/main" id="{6102E2BA-B4DD-BB03-5B07-BB6EB773A152}"/>
              </a:ext>
            </a:extLst>
          </p:cNvPr>
          <p:cNvGrpSpPr/>
          <p:nvPr/>
        </p:nvGrpSpPr>
        <p:grpSpPr>
          <a:xfrm>
            <a:off x="298752" y="1034565"/>
            <a:ext cx="3930774" cy="1265464"/>
            <a:chOff x="251209" y="1306286"/>
            <a:chExt cx="3930774" cy="1265464"/>
          </a:xfrm>
        </p:grpSpPr>
        <p:pic>
          <p:nvPicPr>
            <p:cNvPr id="11" name="Picture 10">
              <a:extLst>
                <a:ext uri="{FF2B5EF4-FFF2-40B4-BE49-F238E27FC236}">
                  <a16:creationId xmlns:a16="http://schemas.microsoft.com/office/drawing/2014/main" id="{A12114F0-92F0-D0DA-BEA3-90E91BAFB3B3}"/>
                </a:ext>
              </a:extLst>
            </p:cNvPr>
            <p:cNvPicPr>
              <a:picLocks noChangeAspect="1"/>
            </p:cNvPicPr>
            <p:nvPr/>
          </p:nvPicPr>
          <p:blipFill>
            <a:blip r:embed="rId4"/>
            <a:stretch>
              <a:fillRect/>
            </a:stretch>
          </p:blipFill>
          <p:spPr>
            <a:xfrm>
              <a:off x="286192" y="1636984"/>
              <a:ext cx="3895791" cy="934766"/>
            </a:xfrm>
            <a:prstGeom prst="rect">
              <a:avLst/>
            </a:prstGeom>
          </p:spPr>
        </p:pic>
        <p:sp>
          <p:nvSpPr>
            <p:cNvPr id="12" name="TextBox 11">
              <a:extLst>
                <a:ext uri="{FF2B5EF4-FFF2-40B4-BE49-F238E27FC236}">
                  <a16:creationId xmlns:a16="http://schemas.microsoft.com/office/drawing/2014/main" id="{637C0FA2-B570-C828-4B36-FF70782781AE}"/>
                </a:ext>
              </a:extLst>
            </p:cNvPr>
            <p:cNvSpPr txBox="1"/>
            <p:nvPr/>
          </p:nvSpPr>
          <p:spPr>
            <a:xfrm>
              <a:off x="251209" y="1306286"/>
              <a:ext cx="3918857" cy="307777"/>
            </a:xfrm>
            <a:prstGeom prst="rect">
              <a:avLst/>
            </a:prstGeom>
            <a:noFill/>
          </p:spPr>
          <p:txBody>
            <a:bodyPr wrap="square" rtlCol="0">
              <a:spAutoFit/>
            </a:bodyPr>
            <a:lstStyle/>
            <a:p>
              <a:r>
                <a:rPr lang="en-US" dirty="0"/>
                <a:t>Table 5: </a:t>
              </a:r>
              <a:r>
                <a:rPr lang="el-GR" dirty="0"/>
                <a:t>γ₀</a:t>
              </a:r>
              <a:r>
                <a:rPr lang="en-US" dirty="0"/>
                <a:t> and </a:t>
              </a:r>
              <a:r>
                <a:rPr lang="el-GR" dirty="0"/>
                <a:t>γ₁</a:t>
              </a:r>
              <a:r>
                <a:rPr lang="en-US" dirty="0"/>
                <a:t> coefficient outputs</a:t>
              </a:r>
            </a:p>
          </p:txBody>
        </p:sp>
      </p:grpSp>
      <p:sp>
        <p:nvSpPr>
          <p:cNvPr id="14" name="TextBox 13">
            <a:extLst>
              <a:ext uri="{FF2B5EF4-FFF2-40B4-BE49-F238E27FC236}">
                <a16:creationId xmlns:a16="http://schemas.microsoft.com/office/drawing/2014/main" id="{5BA3F486-77D1-08AB-2711-75906C1D1D85}"/>
              </a:ext>
            </a:extLst>
          </p:cNvPr>
          <p:cNvSpPr txBox="1"/>
          <p:nvPr/>
        </p:nvSpPr>
        <p:spPr>
          <a:xfrm>
            <a:off x="4752982" y="3436363"/>
            <a:ext cx="3538728" cy="246221"/>
          </a:xfrm>
          <a:prstGeom prst="rect">
            <a:avLst/>
          </a:prstGeom>
          <a:noFill/>
        </p:spPr>
        <p:txBody>
          <a:bodyPr wrap="square" rtlCol="0">
            <a:spAutoFit/>
          </a:bodyPr>
          <a:lstStyle/>
          <a:p>
            <a:r>
              <a:rPr lang="en-US" sz="1000" dirty="0"/>
              <a:t>Figure 2: Logistic Regression using Expected Bin Yardage</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AA5F1EE-B89E-92E6-8ED6-F4772A5B2B20}"/>
                  </a:ext>
                </a:extLst>
              </p:cNvPr>
              <p:cNvSpPr txBox="1"/>
              <p:nvPr/>
            </p:nvSpPr>
            <p:spPr>
              <a:xfrm>
                <a:off x="1256100" y="2938004"/>
                <a:ext cx="4572000" cy="5098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smtClean="0">
                          <a:solidFill>
                            <a:schemeClr val="tx1"/>
                          </a:solidFill>
                          <a:latin typeface="Cambria Math" panose="02040503050406030204" pitchFamily="18" charset="0"/>
                          <a:ea typeface="Cambria Math" panose="02040503050406030204" pitchFamily="18" charset="0"/>
                        </a:rPr>
                        <m:t>𝑝</m:t>
                      </m:r>
                      <m:d>
                        <m:dPr>
                          <m:ctrlPr>
                            <a:rPr lang="en-US" sz="1400" i="1">
                              <a:solidFill>
                                <a:schemeClr val="tx1"/>
                              </a:solidFill>
                              <a:latin typeface="Cambria Math" panose="02040503050406030204" pitchFamily="18" charset="0"/>
                              <a:ea typeface="Cambria Math" panose="02040503050406030204" pitchFamily="18" charset="0"/>
                            </a:rPr>
                          </m:ctrlPr>
                        </m:dPr>
                        <m:e>
                          <m:r>
                            <a:rPr lang="en-US" sz="1400">
                              <a:solidFill>
                                <a:schemeClr val="tx1"/>
                              </a:solidFill>
                              <a:latin typeface="Cambria Math" panose="02040503050406030204" pitchFamily="18" charset="0"/>
                              <a:ea typeface="Cambria Math" panose="02040503050406030204" pitchFamily="18" charset="0"/>
                            </a:rPr>
                            <m:t>𝑥</m:t>
                          </m:r>
                        </m:e>
                        <m:e>
                          <m:sSub>
                            <m:sSubPr>
                              <m:ctrlPr>
                                <a:rPr lang="en-US" sz="1400" i="1">
                                  <a:solidFill>
                                    <a:schemeClr val="tx1"/>
                                  </a:solidFill>
                                  <a:latin typeface="Cambria Math" panose="02040503050406030204" pitchFamily="18" charset="0"/>
                                  <a:ea typeface="Cambria Math" panose="02040503050406030204" pitchFamily="18" charset="0"/>
                                </a:rPr>
                              </m:ctrlPr>
                            </m:sSubPr>
                            <m:e>
                              <m:r>
                                <a:rPr lang="en-US" sz="1400">
                                  <a:solidFill>
                                    <a:schemeClr val="tx1"/>
                                  </a:solidFill>
                                  <a:latin typeface="Cambria Math" panose="02040503050406030204" pitchFamily="18" charset="0"/>
                                  <a:ea typeface="Cambria Math" panose="02040503050406030204" pitchFamily="18" charset="0"/>
                                </a:rPr>
                                <m:t>𝛾</m:t>
                              </m:r>
                            </m:e>
                            <m:sub>
                              <m:r>
                                <a:rPr lang="en-US" sz="1400">
                                  <a:solidFill>
                                    <a:schemeClr val="tx1"/>
                                  </a:solidFill>
                                  <a:latin typeface="Cambria Math" panose="02040503050406030204" pitchFamily="18" charset="0"/>
                                  <a:ea typeface="Cambria Math" panose="02040503050406030204" pitchFamily="18" charset="0"/>
                                </a:rPr>
                                <m:t>0</m:t>
                              </m:r>
                            </m:sub>
                          </m:sSub>
                          <m:r>
                            <a:rPr lang="en-US" sz="1400">
                              <a:solidFill>
                                <a:schemeClr val="tx1"/>
                              </a:solidFill>
                              <a:latin typeface="Cambria Math" panose="02040503050406030204" pitchFamily="18" charset="0"/>
                              <a:ea typeface="Cambria Math" panose="02040503050406030204" pitchFamily="18" charset="0"/>
                            </a:rPr>
                            <m:t>,</m:t>
                          </m:r>
                          <m:sSub>
                            <m:sSubPr>
                              <m:ctrlPr>
                                <a:rPr lang="en-US" sz="1400" i="1">
                                  <a:solidFill>
                                    <a:schemeClr val="tx1"/>
                                  </a:solidFill>
                                  <a:latin typeface="Cambria Math" panose="02040503050406030204" pitchFamily="18" charset="0"/>
                                  <a:ea typeface="Cambria Math" panose="02040503050406030204" pitchFamily="18" charset="0"/>
                                </a:rPr>
                              </m:ctrlPr>
                            </m:sSubPr>
                            <m:e>
                              <m:r>
                                <a:rPr lang="en-US" sz="1400">
                                  <a:solidFill>
                                    <a:schemeClr val="tx1"/>
                                  </a:solidFill>
                                  <a:latin typeface="Cambria Math" panose="02040503050406030204" pitchFamily="18" charset="0"/>
                                  <a:ea typeface="Cambria Math" panose="02040503050406030204" pitchFamily="18" charset="0"/>
                                </a:rPr>
                                <m:t>𝛾</m:t>
                              </m:r>
                            </m:e>
                            <m:sub>
                              <m:r>
                                <a:rPr lang="en-US" sz="1400">
                                  <a:solidFill>
                                    <a:schemeClr val="tx1"/>
                                  </a:solidFill>
                                  <a:latin typeface="Cambria Math" panose="02040503050406030204" pitchFamily="18" charset="0"/>
                                  <a:ea typeface="Cambria Math" panose="02040503050406030204" pitchFamily="18" charset="0"/>
                                </a:rPr>
                                <m:t>1</m:t>
                              </m:r>
                            </m:sub>
                          </m:sSub>
                        </m:e>
                      </m:d>
                      <m:r>
                        <a:rPr lang="en-US" sz="1400">
                          <a:solidFill>
                            <a:schemeClr val="tx1"/>
                          </a:solidFill>
                          <a:latin typeface="Cambria Math" panose="02040503050406030204" pitchFamily="18" charset="0"/>
                          <a:ea typeface="Cambria Math" panose="02040503050406030204" pitchFamily="18" charset="0"/>
                        </a:rPr>
                        <m:t>=</m:t>
                      </m:r>
                      <m:f>
                        <m:fPr>
                          <m:ctrlPr>
                            <a:rPr lang="en-US" sz="1400" i="1">
                              <a:solidFill>
                                <a:schemeClr val="tx1"/>
                              </a:solidFill>
                              <a:latin typeface="Cambria Math" panose="02040503050406030204" pitchFamily="18" charset="0"/>
                              <a:ea typeface="Cambria Math" panose="02040503050406030204" pitchFamily="18" charset="0"/>
                            </a:rPr>
                          </m:ctrlPr>
                        </m:fPr>
                        <m:num>
                          <m:r>
                            <a:rPr lang="en-US" sz="1400">
                              <a:solidFill>
                                <a:schemeClr val="tx1"/>
                              </a:solidFill>
                              <a:latin typeface="Cambria Math" panose="02040503050406030204" pitchFamily="18" charset="0"/>
                              <a:ea typeface="Cambria Math" panose="02040503050406030204" pitchFamily="18" charset="0"/>
                            </a:rPr>
                            <m:t>1</m:t>
                          </m:r>
                        </m:num>
                        <m:den>
                          <m:r>
                            <a:rPr lang="en-US" sz="1400">
                              <a:solidFill>
                                <a:schemeClr val="tx1"/>
                              </a:solidFill>
                              <a:latin typeface="Cambria Math" panose="02040503050406030204" pitchFamily="18" charset="0"/>
                              <a:ea typeface="Cambria Math" panose="02040503050406030204" pitchFamily="18" charset="0"/>
                            </a:rPr>
                            <m:t>1+</m:t>
                          </m:r>
                          <m:sSup>
                            <m:sSupPr>
                              <m:ctrlPr>
                                <a:rPr lang="en-US" sz="1400" i="1">
                                  <a:solidFill>
                                    <a:schemeClr val="tx1"/>
                                  </a:solidFill>
                                  <a:latin typeface="Cambria Math" panose="02040503050406030204" pitchFamily="18" charset="0"/>
                                  <a:ea typeface="Cambria Math" panose="02040503050406030204" pitchFamily="18" charset="0"/>
                                </a:rPr>
                              </m:ctrlPr>
                            </m:sSupPr>
                            <m:e>
                              <m:r>
                                <a:rPr lang="en-US" sz="1400">
                                  <a:solidFill>
                                    <a:schemeClr val="tx1"/>
                                  </a:solidFill>
                                  <a:latin typeface="Cambria Math" panose="02040503050406030204" pitchFamily="18" charset="0"/>
                                  <a:ea typeface="Cambria Math" panose="02040503050406030204" pitchFamily="18" charset="0"/>
                                </a:rPr>
                                <m:t>𝑒</m:t>
                              </m:r>
                            </m:e>
                            <m:sup>
                              <m:r>
                                <a:rPr lang="en-US" sz="1400">
                                  <a:solidFill>
                                    <a:schemeClr val="tx1"/>
                                  </a:solidFill>
                                  <a:latin typeface="Cambria Math" panose="02040503050406030204" pitchFamily="18" charset="0"/>
                                  <a:ea typeface="Cambria Math" panose="02040503050406030204" pitchFamily="18" charset="0"/>
                                </a:rPr>
                                <m:t>−</m:t>
                              </m:r>
                              <m:d>
                                <m:dPr>
                                  <m:ctrlPr>
                                    <a:rPr lang="en-US" sz="1400" i="1">
                                      <a:solidFill>
                                        <a:schemeClr val="tx1"/>
                                      </a:solidFill>
                                      <a:latin typeface="Cambria Math" panose="02040503050406030204" pitchFamily="18" charset="0"/>
                                      <a:ea typeface="Cambria Math" panose="02040503050406030204" pitchFamily="18" charset="0"/>
                                    </a:rPr>
                                  </m:ctrlPr>
                                </m:dPr>
                                <m:e>
                                  <m:sSub>
                                    <m:sSubPr>
                                      <m:ctrlPr>
                                        <a:rPr lang="en-US" sz="1400" i="1">
                                          <a:solidFill>
                                            <a:schemeClr val="tx1"/>
                                          </a:solidFill>
                                          <a:latin typeface="Cambria Math" panose="02040503050406030204" pitchFamily="18" charset="0"/>
                                          <a:ea typeface="Cambria Math" panose="02040503050406030204" pitchFamily="18" charset="0"/>
                                        </a:rPr>
                                      </m:ctrlPr>
                                    </m:sSubPr>
                                    <m:e>
                                      <m:r>
                                        <a:rPr lang="en-US" sz="1400">
                                          <a:solidFill>
                                            <a:schemeClr val="tx1"/>
                                          </a:solidFill>
                                          <a:latin typeface="Cambria Math" panose="02040503050406030204" pitchFamily="18" charset="0"/>
                                          <a:ea typeface="Cambria Math" panose="02040503050406030204" pitchFamily="18" charset="0"/>
                                        </a:rPr>
                                        <m:t>𝛾</m:t>
                                      </m:r>
                                    </m:e>
                                    <m:sub>
                                      <m:r>
                                        <a:rPr lang="en-US" sz="1400">
                                          <a:solidFill>
                                            <a:schemeClr val="tx1"/>
                                          </a:solidFill>
                                          <a:latin typeface="Cambria Math" panose="02040503050406030204" pitchFamily="18" charset="0"/>
                                          <a:ea typeface="Cambria Math" panose="02040503050406030204" pitchFamily="18" charset="0"/>
                                        </a:rPr>
                                        <m:t>0</m:t>
                                      </m:r>
                                    </m:sub>
                                  </m:sSub>
                                  <m:r>
                                    <a:rPr lang="en-US" sz="1400">
                                      <a:solidFill>
                                        <a:schemeClr val="tx1"/>
                                      </a:solidFill>
                                      <a:latin typeface="Cambria Math" panose="02040503050406030204" pitchFamily="18" charset="0"/>
                                      <a:ea typeface="Cambria Math" panose="02040503050406030204" pitchFamily="18" charset="0"/>
                                    </a:rPr>
                                    <m:t>+</m:t>
                                  </m:r>
                                  <m:sSub>
                                    <m:sSubPr>
                                      <m:ctrlPr>
                                        <a:rPr lang="en-US" sz="1400" i="1">
                                          <a:solidFill>
                                            <a:schemeClr val="tx1"/>
                                          </a:solidFill>
                                          <a:latin typeface="Cambria Math" panose="02040503050406030204" pitchFamily="18" charset="0"/>
                                          <a:ea typeface="Cambria Math" panose="02040503050406030204" pitchFamily="18" charset="0"/>
                                        </a:rPr>
                                      </m:ctrlPr>
                                    </m:sSubPr>
                                    <m:e>
                                      <m:r>
                                        <a:rPr lang="en-US" sz="1400">
                                          <a:solidFill>
                                            <a:schemeClr val="tx1"/>
                                          </a:solidFill>
                                          <a:latin typeface="Cambria Math" panose="02040503050406030204" pitchFamily="18" charset="0"/>
                                          <a:ea typeface="Cambria Math" panose="02040503050406030204" pitchFamily="18" charset="0"/>
                                        </a:rPr>
                                        <m:t>𝛾</m:t>
                                      </m:r>
                                    </m:e>
                                    <m:sub>
                                      <m:r>
                                        <a:rPr lang="en-US" sz="1400">
                                          <a:solidFill>
                                            <a:schemeClr val="tx1"/>
                                          </a:solidFill>
                                          <a:latin typeface="Cambria Math" panose="02040503050406030204" pitchFamily="18" charset="0"/>
                                          <a:ea typeface="Cambria Math" panose="02040503050406030204" pitchFamily="18" charset="0"/>
                                        </a:rPr>
                                        <m:t>1</m:t>
                                      </m:r>
                                    </m:sub>
                                  </m:sSub>
                                  <m:r>
                                    <a:rPr lang="en-US" sz="1400">
                                      <a:solidFill>
                                        <a:schemeClr val="tx1"/>
                                      </a:solidFill>
                                      <a:latin typeface="Cambria Math" panose="02040503050406030204" pitchFamily="18" charset="0"/>
                                      <a:ea typeface="Cambria Math" panose="02040503050406030204" pitchFamily="18" charset="0"/>
                                    </a:rPr>
                                    <m:t>𝑥</m:t>
                                  </m:r>
                                </m:e>
                              </m:d>
                            </m:sup>
                          </m:sSup>
                        </m:den>
                      </m:f>
                    </m:oMath>
                  </m:oMathPara>
                </a14:m>
                <a:endParaRPr lang="en-US" dirty="0"/>
              </a:p>
            </p:txBody>
          </p:sp>
        </mc:Choice>
        <mc:Fallback xmlns="">
          <p:sp>
            <p:nvSpPr>
              <p:cNvPr id="18" name="TextBox 17">
                <a:extLst>
                  <a:ext uri="{FF2B5EF4-FFF2-40B4-BE49-F238E27FC236}">
                    <a16:creationId xmlns:a16="http://schemas.microsoft.com/office/drawing/2014/main" id="{6AA5F1EE-B89E-92E6-8ED6-F4772A5B2B20}"/>
                  </a:ext>
                </a:extLst>
              </p:cNvPr>
              <p:cNvSpPr txBox="1">
                <a:spLocks noRot="1" noChangeAspect="1" noMove="1" noResize="1" noEditPoints="1" noAdjustHandles="1" noChangeArrowheads="1" noChangeShapeType="1" noTextEdit="1"/>
              </p:cNvSpPr>
              <p:nvPr/>
            </p:nvSpPr>
            <p:spPr>
              <a:xfrm>
                <a:off x="1256100" y="2938004"/>
                <a:ext cx="4572000" cy="509820"/>
              </a:xfrm>
              <a:prstGeom prst="rect">
                <a:avLst/>
              </a:prstGeom>
              <a:blipFill>
                <a:blip r:embed="rId5"/>
                <a:stretch>
                  <a:fillRect b="-2381"/>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13902836-7E8A-965D-796C-C8CF4F75DE46}"/>
              </a:ext>
            </a:extLst>
          </p:cNvPr>
          <p:cNvGrpSpPr/>
          <p:nvPr/>
        </p:nvGrpSpPr>
        <p:grpSpPr>
          <a:xfrm>
            <a:off x="225714" y="2331161"/>
            <a:ext cx="2105504" cy="1685093"/>
            <a:chOff x="225714" y="2331161"/>
            <a:chExt cx="2105504" cy="1685093"/>
          </a:xfrm>
        </p:grpSpPr>
        <p:pic>
          <p:nvPicPr>
            <p:cNvPr id="20" name="Picture 19">
              <a:extLst>
                <a:ext uri="{FF2B5EF4-FFF2-40B4-BE49-F238E27FC236}">
                  <a16:creationId xmlns:a16="http://schemas.microsoft.com/office/drawing/2014/main" id="{F8F916CD-7702-9BCF-105F-7202F04BA2D7}"/>
                </a:ext>
              </a:extLst>
            </p:cNvPr>
            <p:cNvPicPr>
              <a:picLocks noChangeAspect="1"/>
            </p:cNvPicPr>
            <p:nvPr/>
          </p:nvPicPr>
          <p:blipFill>
            <a:blip r:embed="rId6"/>
            <a:stretch>
              <a:fillRect/>
            </a:stretch>
          </p:blipFill>
          <p:spPr>
            <a:xfrm>
              <a:off x="298752" y="2615731"/>
              <a:ext cx="2032466" cy="1400523"/>
            </a:xfrm>
            <a:prstGeom prst="rect">
              <a:avLst/>
            </a:prstGeom>
          </p:spPr>
        </p:pic>
        <p:sp>
          <p:nvSpPr>
            <p:cNvPr id="21" name="TextBox 20">
              <a:extLst>
                <a:ext uri="{FF2B5EF4-FFF2-40B4-BE49-F238E27FC236}">
                  <a16:creationId xmlns:a16="http://schemas.microsoft.com/office/drawing/2014/main" id="{155B98A4-7255-0922-9672-F90DCB9A0473}"/>
                </a:ext>
              </a:extLst>
            </p:cNvPr>
            <p:cNvSpPr txBox="1"/>
            <p:nvPr/>
          </p:nvSpPr>
          <p:spPr>
            <a:xfrm>
              <a:off x="225714" y="2331161"/>
              <a:ext cx="2032466" cy="307777"/>
            </a:xfrm>
            <a:prstGeom prst="rect">
              <a:avLst/>
            </a:prstGeom>
            <a:noFill/>
          </p:spPr>
          <p:txBody>
            <a:bodyPr wrap="square" rtlCol="0">
              <a:spAutoFit/>
            </a:bodyPr>
            <a:lstStyle/>
            <a:p>
              <a:r>
                <a:rPr lang="en-US" dirty="0"/>
                <a:t>Table 6:  Success Rate</a:t>
              </a:r>
            </a:p>
          </p:txBody>
        </p:sp>
      </p:grpSp>
    </p:spTree>
    <p:extLst>
      <p:ext uri="{BB962C8B-B14F-4D97-AF65-F5344CB8AC3E}">
        <p14:creationId xmlns:p14="http://schemas.microsoft.com/office/powerpoint/2010/main" val="3992977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54B37-CC75-E25B-0AE5-EFE986E1CDF7}"/>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B18876C4-851F-1EA5-3B5F-A2C713A875B0}"/>
              </a:ext>
            </a:extLst>
          </p:cNvPr>
          <p:cNvSpPr>
            <a:spLocks noGrp="1"/>
          </p:cNvSpPr>
          <p:nvPr>
            <p:ph type="body" idx="1"/>
          </p:nvPr>
        </p:nvSpPr>
        <p:spPr/>
        <p:txBody>
          <a:bodyPr/>
          <a:lstStyle/>
          <a:p>
            <a:pPr marL="438150" indent="-285750">
              <a:buFont typeface="Arial" panose="020B0604020202020204" pitchFamily="34" charset="0"/>
              <a:buChar char="•"/>
            </a:pPr>
            <a:r>
              <a:rPr lang="en-US" sz="1800" b="1" dirty="0">
                <a:solidFill>
                  <a:schemeClr val="accent1"/>
                </a:solidFill>
              </a:rPr>
              <a:t>As expected field goal success decreases as distance increases </a:t>
            </a:r>
            <a:r>
              <a:rPr lang="en-US" sz="1400" b="1" dirty="0">
                <a:solidFill>
                  <a:schemeClr val="accent1"/>
                </a:solidFill>
              </a:rPr>
              <a:t>		(Shown in Logistic Curve)</a:t>
            </a:r>
            <a:endParaRPr lang="en-US" sz="2000" b="1" dirty="0">
              <a:solidFill>
                <a:schemeClr val="accent1"/>
              </a:solidFill>
            </a:endParaRPr>
          </a:p>
          <a:p>
            <a:pPr marL="438150" indent="-285750">
              <a:buFont typeface="Arial" panose="020B0604020202020204" pitchFamily="34" charset="0"/>
              <a:buChar char="•"/>
            </a:pPr>
            <a:r>
              <a:rPr lang="en-US" sz="1800" b="1" dirty="0">
                <a:solidFill>
                  <a:schemeClr val="accent1"/>
                </a:solidFill>
              </a:rPr>
              <a:t>Teams most often take field goals at the 39.5-49.5 range (29.9%)</a:t>
            </a:r>
          </a:p>
          <a:p>
            <a:pPr marL="438150" indent="-285750">
              <a:buFont typeface="Arial" panose="020B0604020202020204" pitchFamily="34" charset="0"/>
              <a:buChar char="•"/>
            </a:pPr>
            <a:r>
              <a:rPr lang="en-US" sz="1800" b="1" dirty="0">
                <a:solidFill>
                  <a:schemeClr val="accent1"/>
                </a:solidFill>
              </a:rPr>
              <a:t>Teams attempt just as many FGS from 30-40 yard to 40-50 yards despite 22.3% lower success rate</a:t>
            </a:r>
          </a:p>
          <a:p>
            <a:pPr marL="438150" indent="-285750">
              <a:buFont typeface="Arial" panose="020B0604020202020204" pitchFamily="34" charset="0"/>
              <a:buChar char="•"/>
            </a:pPr>
            <a:r>
              <a:rPr lang="en-US" sz="1800" b="1" dirty="0">
                <a:solidFill>
                  <a:schemeClr val="accent1"/>
                </a:solidFill>
              </a:rPr>
              <a:t>Penalties heavily affect kicks: 						</a:t>
            </a:r>
            <a:r>
              <a:rPr lang="en-US" b="1" dirty="0">
                <a:solidFill>
                  <a:schemeClr val="accent1"/>
                </a:solidFill>
              </a:rPr>
              <a:t>a 5 yard penalty at 45 yards causes an 80% to 72% success drop</a:t>
            </a:r>
          </a:p>
          <a:p>
            <a:pPr marL="438150" indent="-285750">
              <a:buFont typeface="Arial" panose="020B0604020202020204" pitchFamily="34" charset="0"/>
              <a:buChar char="•"/>
            </a:pPr>
            <a:r>
              <a:rPr lang="en-US" sz="2000" b="1" dirty="0">
                <a:solidFill>
                  <a:schemeClr val="accent1"/>
                </a:solidFill>
              </a:rPr>
              <a:t>Despite range of kickers these days it may be more statistically viable to go for it on 4</a:t>
            </a:r>
            <a:r>
              <a:rPr lang="en-US" sz="2000" b="1" baseline="30000" dirty="0">
                <a:solidFill>
                  <a:schemeClr val="accent1"/>
                </a:solidFill>
              </a:rPr>
              <a:t>th</a:t>
            </a:r>
            <a:r>
              <a:rPr lang="en-US" sz="2000" b="1" dirty="0">
                <a:solidFill>
                  <a:schemeClr val="accent1"/>
                </a:solidFill>
              </a:rPr>
              <a:t> down. </a:t>
            </a:r>
          </a:p>
          <a:p>
            <a:pPr marL="438150" indent="-285750">
              <a:buFont typeface="Arial" panose="020B0604020202020204" pitchFamily="34" charset="0"/>
              <a:buChar char="•"/>
            </a:pPr>
            <a:endParaRPr lang="en-US" sz="2000" b="1" dirty="0">
              <a:solidFill>
                <a:schemeClr val="accent1"/>
              </a:solidFill>
            </a:endParaRPr>
          </a:p>
          <a:p>
            <a:pPr marL="438150" indent="-285750">
              <a:buFont typeface="Arial" panose="020B0604020202020204" pitchFamily="34" charset="0"/>
              <a:buChar char="•"/>
            </a:pPr>
            <a:endParaRPr lang="en-US" sz="1800" b="1" dirty="0">
              <a:solidFill>
                <a:schemeClr val="accent1"/>
              </a:solidFill>
            </a:endParaRPr>
          </a:p>
          <a:p>
            <a:pPr marL="152400" indent="0">
              <a:buNone/>
            </a:pPr>
            <a:endParaRPr lang="en-US" sz="1800" b="1" dirty="0">
              <a:solidFill>
                <a:schemeClr val="accent1"/>
              </a:solidFill>
            </a:endParaRPr>
          </a:p>
          <a:p>
            <a:pPr marL="152400" indent="0">
              <a:buNone/>
            </a:pPr>
            <a:endParaRPr lang="en-US" dirty="0"/>
          </a:p>
        </p:txBody>
      </p:sp>
    </p:spTree>
    <p:extLst>
      <p:ext uri="{BB962C8B-B14F-4D97-AF65-F5344CB8AC3E}">
        <p14:creationId xmlns:p14="http://schemas.microsoft.com/office/powerpoint/2010/main" val="3555786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A93F7-00CE-8465-C52C-41A0BB0B70A1}"/>
              </a:ext>
            </a:extLst>
          </p:cNvPr>
          <p:cNvSpPr>
            <a:spLocks noGrp="1"/>
          </p:cNvSpPr>
          <p:nvPr>
            <p:ph type="title"/>
          </p:nvPr>
        </p:nvSpPr>
        <p:spPr/>
        <p:txBody>
          <a:bodyPr/>
          <a:lstStyle/>
          <a:p>
            <a:r>
              <a:rPr lang="en-US" dirty="0"/>
              <a:t>Limitations</a:t>
            </a:r>
          </a:p>
        </p:txBody>
      </p:sp>
      <p:sp>
        <p:nvSpPr>
          <p:cNvPr id="3" name="Text Placeholder 2">
            <a:extLst>
              <a:ext uri="{FF2B5EF4-FFF2-40B4-BE49-F238E27FC236}">
                <a16:creationId xmlns:a16="http://schemas.microsoft.com/office/drawing/2014/main" id="{D243BED4-876D-A7D1-F08F-5F5187C99EC9}"/>
              </a:ext>
            </a:extLst>
          </p:cNvPr>
          <p:cNvSpPr>
            <a:spLocks noGrp="1"/>
          </p:cNvSpPr>
          <p:nvPr>
            <p:ph type="body" idx="1"/>
          </p:nvPr>
        </p:nvSpPr>
        <p:spPr/>
        <p:txBody>
          <a:bodyPr/>
          <a:lstStyle/>
          <a:p>
            <a:pPr marL="152400" indent="0">
              <a:buNone/>
            </a:pPr>
            <a:r>
              <a:rPr lang="en-US" sz="1800" b="1" dirty="0">
                <a:solidFill>
                  <a:schemeClr val="accent1"/>
                </a:solidFill>
              </a:rPr>
              <a:t>Does not account for as we assumed for independence:</a:t>
            </a:r>
          </a:p>
          <a:p>
            <a:pPr marL="152400" indent="0">
              <a:buNone/>
            </a:pPr>
            <a:r>
              <a:rPr lang="en-US" sz="1800" b="1" dirty="0">
                <a:solidFill>
                  <a:schemeClr val="accent1"/>
                </a:solidFill>
              </a:rPr>
              <a:t>	Weather conditions</a:t>
            </a:r>
          </a:p>
          <a:p>
            <a:pPr marL="152400" indent="0">
              <a:buNone/>
            </a:pPr>
            <a:r>
              <a:rPr lang="en-US" sz="1800" b="1" dirty="0">
                <a:solidFill>
                  <a:schemeClr val="accent1"/>
                </a:solidFill>
              </a:rPr>
              <a:t>	Dome vs outdoors</a:t>
            </a:r>
          </a:p>
          <a:p>
            <a:pPr marL="152400" indent="0">
              <a:buNone/>
            </a:pPr>
            <a:r>
              <a:rPr lang="en-US" sz="1800" b="1" dirty="0">
                <a:solidFill>
                  <a:schemeClr val="accent1"/>
                </a:solidFill>
              </a:rPr>
              <a:t>	Kicker skill</a:t>
            </a:r>
          </a:p>
        </p:txBody>
      </p:sp>
    </p:spTree>
    <p:extLst>
      <p:ext uri="{BB962C8B-B14F-4D97-AF65-F5344CB8AC3E}">
        <p14:creationId xmlns:p14="http://schemas.microsoft.com/office/powerpoint/2010/main" val="3191344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920E7CDE-78D1-3881-66BB-370E35F010D2}"/>
            </a:ext>
          </a:extLst>
        </p:cNvPr>
        <p:cNvGrpSpPr/>
        <p:nvPr/>
      </p:nvGrpSpPr>
      <p:grpSpPr>
        <a:xfrm>
          <a:off x="0" y="0"/>
          <a:ext cx="0" cy="0"/>
          <a:chOff x="0" y="0"/>
          <a:chExt cx="0" cy="0"/>
        </a:xfrm>
      </p:grpSpPr>
      <p:grpSp>
        <p:nvGrpSpPr>
          <p:cNvPr id="190" name="Google Shape;190;p30">
            <a:extLst>
              <a:ext uri="{FF2B5EF4-FFF2-40B4-BE49-F238E27FC236}">
                <a16:creationId xmlns:a16="http://schemas.microsoft.com/office/drawing/2014/main" id="{F6079AED-72B8-3E9A-587B-16791AA7A03A}"/>
              </a:ext>
            </a:extLst>
          </p:cNvPr>
          <p:cNvGrpSpPr/>
          <p:nvPr/>
        </p:nvGrpSpPr>
        <p:grpSpPr>
          <a:xfrm flipH="1">
            <a:off x="5362004" y="1327366"/>
            <a:ext cx="2742357" cy="3803561"/>
            <a:chOff x="845875" y="2400750"/>
            <a:chExt cx="942650" cy="1307425"/>
          </a:xfrm>
        </p:grpSpPr>
        <p:sp>
          <p:nvSpPr>
            <p:cNvPr id="191" name="Google Shape;191;p30">
              <a:extLst>
                <a:ext uri="{FF2B5EF4-FFF2-40B4-BE49-F238E27FC236}">
                  <a16:creationId xmlns:a16="http://schemas.microsoft.com/office/drawing/2014/main" id="{CE6DBC23-D53D-43E4-3ABB-410249EF0327}"/>
                </a:ext>
              </a:extLst>
            </p:cNvPr>
            <p:cNvSpPr/>
            <p:nvPr/>
          </p:nvSpPr>
          <p:spPr>
            <a:xfrm>
              <a:off x="1758800" y="2513325"/>
              <a:ext cx="19400" cy="1035150"/>
            </a:xfrm>
            <a:custGeom>
              <a:avLst/>
              <a:gdLst/>
              <a:ahLst/>
              <a:cxnLst/>
              <a:rect l="l" t="t" r="r" b="b"/>
              <a:pathLst>
                <a:path w="776" h="41406" extrusionOk="0">
                  <a:moveTo>
                    <a:pt x="390" y="1"/>
                  </a:moveTo>
                  <a:cubicBezTo>
                    <a:pt x="181" y="1"/>
                    <a:pt x="1" y="168"/>
                    <a:pt x="1" y="385"/>
                  </a:cubicBezTo>
                  <a:lnTo>
                    <a:pt x="1" y="41308"/>
                  </a:lnTo>
                  <a:lnTo>
                    <a:pt x="775" y="41406"/>
                  </a:lnTo>
                  <a:lnTo>
                    <a:pt x="775" y="385"/>
                  </a:lnTo>
                  <a:cubicBezTo>
                    <a:pt x="775" y="194"/>
                    <a:pt x="631" y="29"/>
                    <a:pt x="435" y="3"/>
                  </a:cubicBezTo>
                  <a:cubicBezTo>
                    <a:pt x="420" y="1"/>
                    <a:pt x="405" y="1"/>
                    <a:pt x="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0">
              <a:extLst>
                <a:ext uri="{FF2B5EF4-FFF2-40B4-BE49-F238E27FC236}">
                  <a16:creationId xmlns:a16="http://schemas.microsoft.com/office/drawing/2014/main" id="{1B1A3FCA-2909-B787-744B-ACA754921AD9}"/>
                </a:ext>
              </a:extLst>
            </p:cNvPr>
            <p:cNvSpPr/>
            <p:nvPr/>
          </p:nvSpPr>
          <p:spPr>
            <a:xfrm>
              <a:off x="866000" y="2956700"/>
              <a:ext cx="902525" cy="131825"/>
            </a:xfrm>
            <a:custGeom>
              <a:avLst/>
              <a:gdLst/>
              <a:ahLst/>
              <a:cxnLst/>
              <a:rect l="l" t="t" r="r" b="b"/>
              <a:pathLst>
                <a:path w="36101" h="5273" extrusionOk="0">
                  <a:moveTo>
                    <a:pt x="1" y="0"/>
                  </a:moveTo>
                  <a:lnTo>
                    <a:pt x="1" y="770"/>
                  </a:lnTo>
                  <a:lnTo>
                    <a:pt x="36100" y="5273"/>
                  </a:lnTo>
                  <a:lnTo>
                    <a:pt x="36100" y="449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0">
              <a:extLst>
                <a:ext uri="{FF2B5EF4-FFF2-40B4-BE49-F238E27FC236}">
                  <a16:creationId xmlns:a16="http://schemas.microsoft.com/office/drawing/2014/main" id="{1A6B2401-3F25-EA3E-9A75-2CA51F8343D7}"/>
                </a:ext>
              </a:extLst>
            </p:cNvPr>
            <p:cNvSpPr/>
            <p:nvPr/>
          </p:nvSpPr>
          <p:spPr>
            <a:xfrm>
              <a:off x="1748225" y="3512525"/>
              <a:ext cx="40300" cy="195650"/>
            </a:xfrm>
            <a:custGeom>
              <a:avLst/>
              <a:gdLst/>
              <a:ahLst/>
              <a:cxnLst/>
              <a:rect l="l" t="t" r="r" b="b"/>
              <a:pathLst>
                <a:path w="1612" h="7826" extrusionOk="0">
                  <a:moveTo>
                    <a:pt x="799" y="1"/>
                  </a:moveTo>
                  <a:cubicBezTo>
                    <a:pt x="364" y="1"/>
                    <a:pt x="1" y="353"/>
                    <a:pt x="1" y="803"/>
                  </a:cubicBezTo>
                  <a:lnTo>
                    <a:pt x="6" y="7826"/>
                  </a:lnTo>
                  <a:lnTo>
                    <a:pt x="1612" y="7826"/>
                  </a:lnTo>
                  <a:lnTo>
                    <a:pt x="1612" y="803"/>
                  </a:lnTo>
                  <a:cubicBezTo>
                    <a:pt x="1612" y="395"/>
                    <a:pt x="1307" y="54"/>
                    <a:pt x="904" y="8"/>
                  </a:cubicBezTo>
                  <a:cubicBezTo>
                    <a:pt x="869" y="3"/>
                    <a:pt x="834" y="1"/>
                    <a:pt x="7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0">
              <a:extLst>
                <a:ext uri="{FF2B5EF4-FFF2-40B4-BE49-F238E27FC236}">
                  <a16:creationId xmlns:a16="http://schemas.microsoft.com/office/drawing/2014/main" id="{F78DCFF5-FB8F-5F0A-5440-E7654340DA42}"/>
                </a:ext>
              </a:extLst>
            </p:cNvPr>
            <p:cNvSpPr/>
            <p:nvPr/>
          </p:nvSpPr>
          <p:spPr>
            <a:xfrm>
              <a:off x="856325" y="2400750"/>
              <a:ext cx="19375" cy="1035300"/>
            </a:xfrm>
            <a:custGeom>
              <a:avLst/>
              <a:gdLst/>
              <a:ahLst/>
              <a:cxnLst/>
              <a:rect l="l" t="t" r="r" b="b"/>
              <a:pathLst>
                <a:path w="775" h="41412" extrusionOk="0">
                  <a:moveTo>
                    <a:pt x="390" y="1"/>
                  </a:moveTo>
                  <a:cubicBezTo>
                    <a:pt x="181" y="1"/>
                    <a:pt x="0" y="168"/>
                    <a:pt x="0" y="385"/>
                  </a:cubicBezTo>
                  <a:lnTo>
                    <a:pt x="0" y="41313"/>
                  </a:lnTo>
                  <a:lnTo>
                    <a:pt x="775" y="41411"/>
                  </a:lnTo>
                  <a:lnTo>
                    <a:pt x="775" y="385"/>
                  </a:lnTo>
                  <a:cubicBezTo>
                    <a:pt x="775" y="194"/>
                    <a:pt x="630" y="29"/>
                    <a:pt x="434" y="3"/>
                  </a:cubicBezTo>
                  <a:cubicBezTo>
                    <a:pt x="419" y="2"/>
                    <a:pt x="404" y="1"/>
                    <a:pt x="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0">
              <a:extLst>
                <a:ext uri="{FF2B5EF4-FFF2-40B4-BE49-F238E27FC236}">
                  <a16:creationId xmlns:a16="http://schemas.microsoft.com/office/drawing/2014/main" id="{ECED6B7E-D09C-08F7-6A90-5E17A5E5DAD8}"/>
                </a:ext>
              </a:extLst>
            </p:cNvPr>
            <p:cNvSpPr/>
            <p:nvPr/>
          </p:nvSpPr>
          <p:spPr>
            <a:xfrm>
              <a:off x="845875" y="3399975"/>
              <a:ext cx="40150" cy="308200"/>
            </a:xfrm>
            <a:custGeom>
              <a:avLst/>
              <a:gdLst/>
              <a:ahLst/>
              <a:cxnLst/>
              <a:rect l="l" t="t" r="r" b="b"/>
              <a:pathLst>
                <a:path w="1606" h="12328" extrusionOk="0">
                  <a:moveTo>
                    <a:pt x="799" y="0"/>
                  </a:moveTo>
                  <a:cubicBezTo>
                    <a:pt x="364" y="0"/>
                    <a:pt x="0" y="352"/>
                    <a:pt x="0" y="802"/>
                  </a:cubicBezTo>
                  <a:lnTo>
                    <a:pt x="0" y="12328"/>
                  </a:lnTo>
                  <a:lnTo>
                    <a:pt x="1606" y="12328"/>
                  </a:lnTo>
                  <a:lnTo>
                    <a:pt x="1606" y="802"/>
                  </a:lnTo>
                  <a:cubicBezTo>
                    <a:pt x="1606" y="399"/>
                    <a:pt x="1306" y="53"/>
                    <a:pt x="904" y="7"/>
                  </a:cubicBezTo>
                  <a:cubicBezTo>
                    <a:pt x="868" y="2"/>
                    <a:pt x="833" y="0"/>
                    <a:pt x="7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30">
            <a:extLst>
              <a:ext uri="{FF2B5EF4-FFF2-40B4-BE49-F238E27FC236}">
                <a16:creationId xmlns:a16="http://schemas.microsoft.com/office/drawing/2014/main" id="{6A15FE98-2D1E-21BB-D50D-7B83E0D5CE35}"/>
              </a:ext>
            </a:extLst>
          </p:cNvPr>
          <p:cNvGrpSpPr/>
          <p:nvPr/>
        </p:nvGrpSpPr>
        <p:grpSpPr>
          <a:xfrm>
            <a:off x="4169943" y="2086281"/>
            <a:ext cx="2386842" cy="1784370"/>
            <a:chOff x="4029925" y="586725"/>
            <a:chExt cx="1224775" cy="915625"/>
          </a:xfrm>
        </p:grpSpPr>
        <p:sp>
          <p:nvSpPr>
            <p:cNvPr id="197" name="Google Shape;197;p30">
              <a:extLst>
                <a:ext uri="{FF2B5EF4-FFF2-40B4-BE49-F238E27FC236}">
                  <a16:creationId xmlns:a16="http://schemas.microsoft.com/office/drawing/2014/main" id="{C51BEB54-92CF-DCD2-9C67-81B533078B74}"/>
                </a:ext>
              </a:extLst>
            </p:cNvPr>
            <p:cNvSpPr/>
            <p:nvPr/>
          </p:nvSpPr>
          <p:spPr>
            <a:xfrm>
              <a:off x="4795575" y="649425"/>
              <a:ext cx="401425" cy="396825"/>
            </a:xfrm>
            <a:custGeom>
              <a:avLst/>
              <a:gdLst/>
              <a:ahLst/>
              <a:cxnLst/>
              <a:rect l="l" t="t" r="r" b="b"/>
              <a:pathLst>
                <a:path w="16057" h="15873" extrusionOk="0">
                  <a:moveTo>
                    <a:pt x="14012" y="1"/>
                  </a:moveTo>
                  <a:cubicBezTo>
                    <a:pt x="13004" y="1"/>
                    <a:pt x="11996" y="90"/>
                    <a:pt x="11003" y="269"/>
                  </a:cubicBezTo>
                  <a:cubicBezTo>
                    <a:pt x="10472" y="362"/>
                    <a:pt x="9950" y="485"/>
                    <a:pt x="9432" y="632"/>
                  </a:cubicBezTo>
                  <a:cubicBezTo>
                    <a:pt x="7576" y="1170"/>
                    <a:pt x="5592" y="2137"/>
                    <a:pt x="3891" y="3836"/>
                  </a:cubicBezTo>
                  <a:cubicBezTo>
                    <a:pt x="2190" y="5537"/>
                    <a:pt x="1226" y="7520"/>
                    <a:pt x="688" y="9376"/>
                  </a:cubicBezTo>
                  <a:cubicBezTo>
                    <a:pt x="538" y="9894"/>
                    <a:pt x="418" y="10417"/>
                    <a:pt x="322" y="10947"/>
                  </a:cubicBezTo>
                  <a:cubicBezTo>
                    <a:pt x="77" y="12324"/>
                    <a:pt x="1" y="13728"/>
                    <a:pt x="97" y="15125"/>
                  </a:cubicBezTo>
                  <a:cubicBezTo>
                    <a:pt x="126" y="15532"/>
                    <a:pt x="163" y="15766"/>
                    <a:pt x="163" y="15766"/>
                  </a:cubicBezTo>
                  <a:cubicBezTo>
                    <a:pt x="163" y="15766"/>
                    <a:pt x="236" y="15775"/>
                    <a:pt x="374" y="15793"/>
                  </a:cubicBezTo>
                  <a:cubicBezTo>
                    <a:pt x="660" y="15824"/>
                    <a:pt x="1218" y="15873"/>
                    <a:pt x="1962" y="15873"/>
                  </a:cubicBezTo>
                  <a:cubicBezTo>
                    <a:pt x="2782" y="15873"/>
                    <a:pt x="3828" y="15813"/>
                    <a:pt x="4981" y="15606"/>
                  </a:cubicBezTo>
                  <a:cubicBezTo>
                    <a:pt x="5511" y="15510"/>
                    <a:pt x="6034" y="15387"/>
                    <a:pt x="6552" y="15240"/>
                  </a:cubicBezTo>
                  <a:cubicBezTo>
                    <a:pt x="8408" y="14703"/>
                    <a:pt x="10391" y="13738"/>
                    <a:pt x="12092" y="12037"/>
                  </a:cubicBezTo>
                  <a:cubicBezTo>
                    <a:pt x="13794" y="10338"/>
                    <a:pt x="14758" y="8352"/>
                    <a:pt x="15296" y="6497"/>
                  </a:cubicBezTo>
                  <a:cubicBezTo>
                    <a:pt x="15443" y="5979"/>
                    <a:pt x="15566" y="5456"/>
                    <a:pt x="15659" y="4926"/>
                  </a:cubicBezTo>
                  <a:cubicBezTo>
                    <a:pt x="16057" y="2729"/>
                    <a:pt x="15914" y="920"/>
                    <a:pt x="15848" y="321"/>
                  </a:cubicBezTo>
                  <a:cubicBezTo>
                    <a:pt x="15831" y="183"/>
                    <a:pt x="15821" y="107"/>
                    <a:pt x="15821" y="107"/>
                  </a:cubicBezTo>
                  <a:cubicBezTo>
                    <a:pt x="15821" y="107"/>
                    <a:pt x="15588" y="73"/>
                    <a:pt x="15180" y="41"/>
                  </a:cubicBezTo>
                  <a:cubicBezTo>
                    <a:pt x="14791" y="14"/>
                    <a:pt x="14402" y="1"/>
                    <a:pt x="14012" y="1"/>
                  </a:cubicBezTo>
                  <a:close/>
                </a:path>
              </a:pathLst>
            </a:custGeom>
            <a:solidFill>
              <a:srgbClr val="D47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0">
              <a:extLst>
                <a:ext uri="{FF2B5EF4-FFF2-40B4-BE49-F238E27FC236}">
                  <a16:creationId xmlns:a16="http://schemas.microsoft.com/office/drawing/2014/main" id="{5BF715C2-F6A9-56FB-AF22-4D355D10AB76}"/>
                </a:ext>
              </a:extLst>
            </p:cNvPr>
            <p:cNvSpPr/>
            <p:nvPr/>
          </p:nvSpPr>
          <p:spPr>
            <a:xfrm>
              <a:off x="4797975" y="650425"/>
              <a:ext cx="393750" cy="393825"/>
            </a:xfrm>
            <a:custGeom>
              <a:avLst/>
              <a:gdLst/>
              <a:ahLst/>
              <a:cxnLst/>
              <a:rect l="l" t="t" r="r" b="b"/>
              <a:pathLst>
                <a:path w="15750" h="15753" extrusionOk="0">
                  <a:moveTo>
                    <a:pt x="15084" y="1"/>
                  </a:moveTo>
                  <a:cubicBezTo>
                    <a:pt x="13580" y="406"/>
                    <a:pt x="9500" y="1793"/>
                    <a:pt x="5644" y="5647"/>
                  </a:cubicBezTo>
                  <a:lnTo>
                    <a:pt x="5646" y="5647"/>
                  </a:lnTo>
                  <a:cubicBezTo>
                    <a:pt x="1790" y="9500"/>
                    <a:pt x="406" y="13580"/>
                    <a:pt x="1" y="15085"/>
                  </a:cubicBezTo>
                  <a:cubicBezTo>
                    <a:pt x="30" y="15492"/>
                    <a:pt x="67" y="15726"/>
                    <a:pt x="67" y="15726"/>
                  </a:cubicBezTo>
                  <a:cubicBezTo>
                    <a:pt x="67" y="15726"/>
                    <a:pt x="140" y="15735"/>
                    <a:pt x="278" y="15753"/>
                  </a:cubicBezTo>
                  <a:cubicBezTo>
                    <a:pt x="327" y="15495"/>
                    <a:pt x="1328" y="10566"/>
                    <a:pt x="5946" y="5949"/>
                  </a:cubicBezTo>
                  <a:cubicBezTo>
                    <a:pt x="10570" y="1324"/>
                    <a:pt x="15492" y="330"/>
                    <a:pt x="15750" y="281"/>
                  </a:cubicBezTo>
                  <a:cubicBezTo>
                    <a:pt x="15735" y="143"/>
                    <a:pt x="15723" y="67"/>
                    <a:pt x="15723" y="67"/>
                  </a:cubicBezTo>
                  <a:cubicBezTo>
                    <a:pt x="15723" y="67"/>
                    <a:pt x="15492" y="33"/>
                    <a:pt x="15084" y="1"/>
                  </a:cubicBezTo>
                  <a:close/>
                </a:path>
              </a:pathLst>
            </a:custGeom>
            <a:solidFill>
              <a:srgbClr val="CC6B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a:extLst>
                <a:ext uri="{FF2B5EF4-FFF2-40B4-BE49-F238E27FC236}">
                  <a16:creationId xmlns:a16="http://schemas.microsoft.com/office/drawing/2014/main" id="{52358068-0D5D-0CDE-34CF-BB983BC78D45}"/>
                </a:ext>
              </a:extLst>
            </p:cNvPr>
            <p:cNvSpPr/>
            <p:nvPr/>
          </p:nvSpPr>
          <p:spPr>
            <a:xfrm>
              <a:off x="5031300" y="656150"/>
              <a:ext cx="155775" cy="155700"/>
            </a:xfrm>
            <a:custGeom>
              <a:avLst/>
              <a:gdLst/>
              <a:ahLst/>
              <a:cxnLst/>
              <a:rect l="l" t="t" r="r" b="b"/>
              <a:pathLst>
                <a:path w="6231" h="6228" extrusionOk="0">
                  <a:moveTo>
                    <a:pt x="1571" y="0"/>
                  </a:moveTo>
                  <a:cubicBezTo>
                    <a:pt x="1043" y="93"/>
                    <a:pt x="518" y="216"/>
                    <a:pt x="0" y="363"/>
                  </a:cubicBezTo>
                  <a:lnTo>
                    <a:pt x="3" y="363"/>
                  </a:lnTo>
                  <a:cubicBezTo>
                    <a:pt x="646" y="1534"/>
                    <a:pt x="1502" y="2668"/>
                    <a:pt x="2531" y="3699"/>
                  </a:cubicBezTo>
                  <a:cubicBezTo>
                    <a:pt x="3559" y="4728"/>
                    <a:pt x="4696" y="5585"/>
                    <a:pt x="5864" y="6228"/>
                  </a:cubicBezTo>
                  <a:cubicBezTo>
                    <a:pt x="6014" y="5710"/>
                    <a:pt x="6137" y="5187"/>
                    <a:pt x="6230" y="4657"/>
                  </a:cubicBezTo>
                  <a:cubicBezTo>
                    <a:pt x="4320" y="3508"/>
                    <a:pt x="2722" y="1907"/>
                    <a:pt x="1571"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0">
              <a:extLst>
                <a:ext uri="{FF2B5EF4-FFF2-40B4-BE49-F238E27FC236}">
                  <a16:creationId xmlns:a16="http://schemas.microsoft.com/office/drawing/2014/main" id="{8306EF7D-B15D-58A2-C8BE-B8BC14145DF3}"/>
                </a:ext>
              </a:extLst>
            </p:cNvPr>
            <p:cNvSpPr/>
            <p:nvPr/>
          </p:nvSpPr>
          <p:spPr>
            <a:xfrm>
              <a:off x="4803625" y="883825"/>
              <a:ext cx="155700" cy="155750"/>
            </a:xfrm>
            <a:custGeom>
              <a:avLst/>
              <a:gdLst/>
              <a:ahLst/>
              <a:cxnLst/>
              <a:rect l="l" t="t" r="r" b="b"/>
              <a:pathLst>
                <a:path w="6228" h="6230" extrusionOk="0">
                  <a:moveTo>
                    <a:pt x="366" y="0"/>
                  </a:moveTo>
                  <a:cubicBezTo>
                    <a:pt x="216" y="518"/>
                    <a:pt x="96" y="1041"/>
                    <a:pt x="0" y="1571"/>
                  </a:cubicBezTo>
                  <a:cubicBezTo>
                    <a:pt x="1910" y="2722"/>
                    <a:pt x="3508" y="4320"/>
                    <a:pt x="4659" y="6230"/>
                  </a:cubicBezTo>
                  <a:cubicBezTo>
                    <a:pt x="5187" y="6134"/>
                    <a:pt x="5712" y="6011"/>
                    <a:pt x="6228" y="5864"/>
                  </a:cubicBezTo>
                  <a:cubicBezTo>
                    <a:pt x="5585" y="4693"/>
                    <a:pt x="4728" y="3559"/>
                    <a:pt x="3700" y="2531"/>
                  </a:cubicBezTo>
                  <a:cubicBezTo>
                    <a:pt x="2671" y="1502"/>
                    <a:pt x="1534" y="643"/>
                    <a:pt x="366"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0">
              <a:extLst>
                <a:ext uri="{FF2B5EF4-FFF2-40B4-BE49-F238E27FC236}">
                  <a16:creationId xmlns:a16="http://schemas.microsoft.com/office/drawing/2014/main" id="{FAE6EB72-8294-46AD-A1EC-B019F9D65195}"/>
                </a:ext>
              </a:extLst>
            </p:cNvPr>
            <p:cNvSpPr/>
            <p:nvPr/>
          </p:nvSpPr>
          <p:spPr>
            <a:xfrm>
              <a:off x="4889725" y="745000"/>
              <a:ext cx="108150" cy="103050"/>
            </a:xfrm>
            <a:custGeom>
              <a:avLst/>
              <a:gdLst/>
              <a:ahLst/>
              <a:cxnLst/>
              <a:rect l="l" t="t" r="r" b="b"/>
              <a:pathLst>
                <a:path w="4326" h="4122" extrusionOk="0">
                  <a:moveTo>
                    <a:pt x="3374" y="1"/>
                  </a:moveTo>
                  <a:cubicBezTo>
                    <a:pt x="3178" y="1"/>
                    <a:pt x="2982" y="67"/>
                    <a:pt x="2821" y="204"/>
                  </a:cubicBezTo>
                  <a:cubicBezTo>
                    <a:pt x="2376" y="590"/>
                    <a:pt x="1942" y="995"/>
                    <a:pt x="1525" y="1412"/>
                  </a:cubicBezTo>
                  <a:cubicBezTo>
                    <a:pt x="1107" y="1829"/>
                    <a:pt x="702" y="2264"/>
                    <a:pt x="317" y="2708"/>
                  </a:cubicBezTo>
                  <a:cubicBezTo>
                    <a:pt x="0" y="3076"/>
                    <a:pt x="52" y="3631"/>
                    <a:pt x="430" y="3935"/>
                  </a:cubicBezTo>
                  <a:cubicBezTo>
                    <a:pt x="586" y="4060"/>
                    <a:pt x="774" y="4121"/>
                    <a:pt x="961" y="4121"/>
                  </a:cubicBezTo>
                  <a:cubicBezTo>
                    <a:pt x="1200" y="4121"/>
                    <a:pt x="1438" y="4022"/>
                    <a:pt x="1606" y="3827"/>
                  </a:cubicBezTo>
                  <a:cubicBezTo>
                    <a:pt x="1964" y="3413"/>
                    <a:pt x="2342" y="3008"/>
                    <a:pt x="2730" y="2617"/>
                  </a:cubicBezTo>
                  <a:cubicBezTo>
                    <a:pt x="3118" y="2229"/>
                    <a:pt x="3523" y="1851"/>
                    <a:pt x="3940" y="1493"/>
                  </a:cubicBezTo>
                  <a:cubicBezTo>
                    <a:pt x="4291" y="1184"/>
                    <a:pt x="4325" y="649"/>
                    <a:pt x="4018" y="295"/>
                  </a:cubicBezTo>
                  <a:cubicBezTo>
                    <a:pt x="3850" y="101"/>
                    <a:pt x="3612" y="1"/>
                    <a:pt x="3374" y="1"/>
                  </a:cubicBezTo>
                  <a:close/>
                </a:path>
              </a:pathLst>
            </a:custGeom>
            <a:solidFill>
              <a:srgbClr val="B85C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0">
              <a:extLst>
                <a:ext uri="{FF2B5EF4-FFF2-40B4-BE49-F238E27FC236}">
                  <a16:creationId xmlns:a16="http://schemas.microsoft.com/office/drawing/2014/main" id="{A38F95EC-CC55-4C1A-BCAE-0C3C19A08533}"/>
                </a:ext>
              </a:extLst>
            </p:cNvPr>
            <p:cNvSpPr/>
            <p:nvPr/>
          </p:nvSpPr>
          <p:spPr>
            <a:xfrm>
              <a:off x="4948075" y="744825"/>
              <a:ext cx="48325" cy="46700"/>
            </a:xfrm>
            <a:custGeom>
              <a:avLst/>
              <a:gdLst/>
              <a:ahLst/>
              <a:cxnLst/>
              <a:rect l="l" t="t" r="r" b="b"/>
              <a:pathLst>
                <a:path w="1933" h="1868" extrusionOk="0">
                  <a:moveTo>
                    <a:pt x="365" y="1"/>
                  </a:moveTo>
                  <a:cubicBezTo>
                    <a:pt x="281" y="1"/>
                    <a:pt x="196" y="33"/>
                    <a:pt x="131" y="98"/>
                  </a:cubicBezTo>
                  <a:cubicBezTo>
                    <a:pt x="3" y="224"/>
                    <a:pt x="1" y="430"/>
                    <a:pt x="123" y="560"/>
                  </a:cubicBezTo>
                  <a:lnTo>
                    <a:pt x="1333" y="1768"/>
                  </a:lnTo>
                  <a:cubicBezTo>
                    <a:pt x="1398" y="1834"/>
                    <a:pt x="1483" y="1867"/>
                    <a:pt x="1568" y="1867"/>
                  </a:cubicBezTo>
                  <a:cubicBezTo>
                    <a:pt x="1653" y="1867"/>
                    <a:pt x="1738" y="1835"/>
                    <a:pt x="1802" y="1770"/>
                  </a:cubicBezTo>
                  <a:cubicBezTo>
                    <a:pt x="1932" y="1640"/>
                    <a:pt x="1932" y="1429"/>
                    <a:pt x="1800" y="1301"/>
                  </a:cubicBezTo>
                  <a:lnTo>
                    <a:pt x="592" y="91"/>
                  </a:lnTo>
                  <a:cubicBezTo>
                    <a:pt x="528" y="31"/>
                    <a:pt x="447" y="1"/>
                    <a:pt x="365" y="1"/>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0">
              <a:extLst>
                <a:ext uri="{FF2B5EF4-FFF2-40B4-BE49-F238E27FC236}">
                  <a16:creationId xmlns:a16="http://schemas.microsoft.com/office/drawing/2014/main" id="{9CDF7839-BB6A-36AC-884C-0F3044A160A2}"/>
                </a:ext>
              </a:extLst>
            </p:cNvPr>
            <p:cNvSpPr/>
            <p:nvPr/>
          </p:nvSpPr>
          <p:spPr>
            <a:xfrm>
              <a:off x="4928450" y="762875"/>
              <a:ext cx="48075" cy="46475"/>
            </a:xfrm>
            <a:custGeom>
              <a:avLst/>
              <a:gdLst/>
              <a:ahLst/>
              <a:cxnLst/>
              <a:rect l="l" t="t" r="r" b="b"/>
              <a:pathLst>
                <a:path w="1923" h="1859" extrusionOk="0">
                  <a:moveTo>
                    <a:pt x="361" y="0"/>
                  </a:moveTo>
                  <a:cubicBezTo>
                    <a:pt x="277" y="0"/>
                    <a:pt x="193" y="32"/>
                    <a:pt x="128" y="96"/>
                  </a:cubicBezTo>
                  <a:cubicBezTo>
                    <a:pt x="3" y="223"/>
                    <a:pt x="0" y="427"/>
                    <a:pt x="123" y="557"/>
                  </a:cubicBezTo>
                  <a:lnTo>
                    <a:pt x="1328" y="1765"/>
                  </a:lnTo>
                  <a:cubicBezTo>
                    <a:pt x="1393" y="1827"/>
                    <a:pt x="1476" y="1858"/>
                    <a:pt x="1559" y="1858"/>
                  </a:cubicBezTo>
                  <a:cubicBezTo>
                    <a:pt x="1643" y="1858"/>
                    <a:pt x="1728" y="1826"/>
                    <a:pt x="1792" y="1760"/>
                  </a:cubicBezTo>
                  <a:cubicBezTo>
                    <a:pt x="1920" y="1632"/>
                    <a:pt x="1922" y="1426"/>
                    <a:pt x="1794" y="1296"/>
                  </a:cubicBezTo>
                  <a:lnTo>
                    <a:pt x="589" y="91"/>
                  </a:lnTo>
                  <a:cubicBezTo>
                    <a:pt x="525" y="30"/>
                    <a:pt x="443" y="0"/>
                    <a:pt x="361"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0">
              <a:extLst>
                <a:ext uri="{FF2B5EF4-FFF2-40B4-BE49-F238E27FC236}">
                  <a16:creationId xmlns:a16="http://schemas.microsoft.com/office/drawing/2014/main" id="{A0C77BAF-1CE4-1A44-97A8-B1514F12D0C7}"/>
                </a:ext>
              </a:extLst>
            </p:cNvPr>
            <p:cNvSpPr/>
            <p:nvPr/>
          </p:nvSpPr>
          <p:spPr>
            <a:xfrm>
              <a:off x="4909225" y="781350"/>
              <a:ext cx="48625" cy="46950"/>
            </a:xfrm>
            <a:custGeom>
              <a:avLst/>
              <a:gdLst/>
              <a:ahLst/>
              <a:cxnLst/>
              <a:rect l="l" t="t" r="r" b="b"/>
              <a:pathLst>
                <a:path w="1945" h="1878" extrusionOk="0">
                  <a:moveTo>
                    <a:pt x="365" y="1"/>
                  </a:moveTo>
                  <a:cubicBezTo>
                    <a:pt x="280" y="1"/>
                    <a:pt x="196" y="33"/>
                    <a:pt x="131" y="98"/>
                  </a:cubicBezTo>
                  <a:cubicBezTo>
                    <a:pt x="1" y="228"/>
                    <a:pt x="1" y="439"/>
                    <a:pt x="133" y="567"/>
                  </a:cubicBezTo>
                  <a:lnTo>
                    <a:pt x="1344" y="1777"/>
                  </a:lnTo>
                  <a:cubicBezTo>
                    <a:pt x="1408" y="1844"/>
                    <a:pt x="1494" y="1878"/>
                    <a:pt x="1581" y="1878"/>
                  </a:cubicBezTo>
                  <a:cubicBezTo>
                    <a:pt x="1665" y="1878"/>
                    <a:pt x="1749" y="1846"/>
                    <a:pt x="1815" y="1782"/>
                  </a:cubicBezTo>
                  <a:cubicBezTo>
                    <a:pt x="1945" y="1649"/>
                    <a:pt x="1942" y="1438"/>
                    <a:pt x="1810" y="1311"/>
                  </a:cubicBezTo>
                  <a:lnTo>
                    <a:pt x="600" y="100"/>
                  </a:lnTo>
                  <a:cubicBezTo>
                    <a:pt x="536" y="34"/>
                    <a:pt x="450" y="1"/>
                    <a:pt x="365" y="1"/>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a:extLst>
                <a:ext uri="{FF2B5EF4-FFF2-40B4-BE49-F238E27FC236}">
                  <a16:creationId xmlns:a16="http://schemas.microsoft.com/office/drawing/2014/main" id="{F5A1FB50-30E1-86DD-66E8-F92AE21698D0}"/>
                </a:ext>
              </a:extLst>
            </p:cNvPr>
            <p:cNvSpPr/>
            <p:nvPr/>
          </p:nvSpPr>
          <p:spPr>
            <a:xfrm>
              <a:off x="4891550" y="801375"/>
              <a:ext cx="48075" cy="46425"/>
            </a:xfrm>
            <a:custGeom>
              <a:avLst/>
              <a:gdLst/>
              <a:ahLst/>
              <a:cxnLst/>
              <a:rect l="l" t="t" r="r" b="b"/>
              <a:pathLst>
                <a:path w="1923" h="1857" extrusionOk="0">
                  <a:moveTo>
                    <a:pt x="365" y="0"/>
                  </a:moveTo>
                  <a:cubicBezTo>
                    <a:pt x="280" y="0"/>
                    <a:pt x="195" y="33"/>
                    <a:pt x="131" y="97"/>
                  </a:cubicBezTo>
                  <a:cubicBezTo>
                    <a:pt x="3" y="225"/>
                    <a:pt x="1" y="429"/>
                    <a:pt x="124" y="559"/>
                  </a:cubicBezTo>
                  <a:lnTo>
                    <a:pt x="1334" y="1766"/>
                  </a:lnTo>
                  <a:cubicBezTo>
                    <a:pt x="1398" y="1827"/>
                    <a:pt x="1480" y="1857"/>
                    <a:pt x="1561" y="1857"/>
                  </a:cubicBezTo>
                  <a:cubicBezTo>
                    <a:pt x="1645" y="1857"/>
                    <a:pt x="1729" y="1825"/>
                    <a:pt x="1793" y="1761"/>
                  </a:cubicBezTo>
                  <a:cubicBezTo>
                    <a:pt x="1920" y="1634"/>
                    <a:pt x="1923" y="1430"/>
                    <a:pt x="1800" y="1300"/>
                  </a:cubicBezTo>
                  <a:lnTo>
                    <a:pt x="590" y="90"/>
                  </a:lnTo>
                  <a:cubicBezTo>
                    <a:pt x="527" y="30"/>
                    <a:pt x="446" y="0"/>
                    <a:pt x="365" y="0"/>
                  </a:cubicBezTo>
                  <a:close/>
                </a:path>
              </a:pathLst>
            </a:custGeom>
            <a:solidFill>
              <a:srgbClr val="FF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0">
              <a:extLst>
                <a:ext uri="{FF2B5EF4-FFF2-40B4-BE49-F238E27FC236}">
                  <a16:creationId xmlns:a16="http://schemas.microsoft.com/office/drawing/2014/main" id="{3235AE13-69DB-2564-B263-10E68402936B}"/>
                </a:ext>
              </a:extLst>
            </p:cNvPr>
            <p:cNvSpPr/>
            <p:nvPr/>
          </p:nvSpPr>
          <p:spPr>
            <a:xfrm>
              <a:off x="5191025" y="652150"/>
              <a:ext cx="700" cy="5300"/>
            </a:xfrm>
            <a:custGeom>
              <a:avLst/>
              <a:gdLst/>
              <a:ahLst/>
              <a:cxnLst/>
              <a:rect l="l" t="t" r="r" b="b"/>
              <a:pathLst>
                <a:path w="28" h="212" extrusionOk="0">
                  <a:moveTo>
                    <a:pt x="1" y="1"/>
                  </a:moveTo>
                  <a:cubicBezTo>
                    <a:pt x="3" y="8"/>
                    <a:pt x="13" y="82"/>
                    <a:pt x="28" y="212"/>
                  </a:cubicBezTo>
                  <a:cubicBezTo>
                    <a:pt x="15" y="82"/>
                    <a:pt x="3" y="8"/>
                    <a:pt x="3" y="1"/>
                  </a:cubicBezTo>
                  <a:close/>
                </a:path>
              </a:pathLst>
            </a:custGeom>
            <a:solidFill>
              <a:srgbClr val="DCC7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0">
              <a:extLst>
                <a:ext uri="{FF2B5EF4-FFF2-40B4-BE49-F238E27FC236}">
                  <a16:creationId xmlns:a16="http://schemas.microsoft.com/office/drawing/2014/main" id="{62390C6F-1A9A-0005-F7F0-5C09DE1C6DA7}"/>
                </a:ext>
              </a:extLst>
            </p:cNvPr>
            <p:cNvSpPr/>
            <p:nvPr/>
          </p:nvSpPr>
          <p:spPr>
            <a:xfrm>
              <a:off x="5042525" y="657425"/>
              <a:ext cx="154475" cy="318900"/>
            </a:xfrm>
            <a:custGeom>
              <a:avLst/>
              <a:gdLst/>
              <a:ahLst/>
              <a:cxnLst/>
              <a:rect l="l" t="t" r="r" b="b"/>
              <a:pathLst>
                <a:path w="6179" h="12756" extrusionOk="0">
                  <a:moveTo>
                    <a:pt x="5968" y="1"/>
                  </a:moveTo>
                  <a:cubicBezTo>
                    <a:pt x="5953" y="3"/>
                    <a:pt x="5921" y="11"/>
                    <a:pt x="5869" y="20"/>
                  </a:cubicBezTo>
                  <a:cubicBezTo>
                    <a:pt x="5847" y="646"/>
                    <a:pt x="5732" y="2203"/>
                    <a:pt x="5138" y="4129"/>
                  </a:cubicBezTo>
                  <a:cubicBezTo>
                    <a:pt x="5133" y="4149"/>
                    <a:pt x="5128" y="4169"/>
                    <a:pt x="5121" y="4186"/>
                  </a:cubicBezTo>
                  <a:cubicBezTo>
                    <a:pt x="5339" y="4336"/>
                    <a:pt x="5560" y="4476"/>
                    <a:pt x="5781" y="4608"/>
                  </a:cubicBezTo>
                  <a:cubicBezTo>
                    <a:pt x="6179" y="2409"/>
                    <a:pt x="6036" y="602"/>
                    <a:pt x="5968" y="1"/>
                  </a:cubicBezTo>
                  <a:close/>
                  <a:moveTo>
                    <a:pt x="4583" y="5678"/>
                  </a:moveTo>
                  <a:cubicBezTo>
                    <a:pt x="3864" y="7414"/>
                    <a:pt x="2750" y="9309"/>
                    <a:pt x="1017" y="11044"/>
                  </a:cubicBezTo>
                  <a:cubicBezTo>
                    <a:pt x="683" y="11376"/>
                    <a:pt x="344" y="11687"/>
                    <a:pt x="0" y="11975"/>
                  </a:cubicBezTo>
                  <a:cubicBezTo>
                    <a:pt x="280" y="12196"/>
                    <a:pt x="565" y="12414"/>
                    <a:pt x="852" y="12625"/>
                  </a:cubicBezTo>
                  <a:cubicBezTo>
                    <a:pt x="911" y="12669"/>
                    <a:pt x="970" y="12713"/>
                    <a:pt x="1029" y="12755"/>
                  </a:cubicBezTo>
                  <a:cubicBezTo>
                    <a:pt x="1446" y="12436"/>
                    <a:pt x="1841" y="12090"/>
                    <a:pt x="2214" y="11717"/>
                  </a:cubicBezTo>
                  <a:cubicBezTo>
                    <a:pt x="3564" y="10367"/>
                    <a:pt x="4448" y="8840"/>
                    <a:pt x="5027" y="7340"/>
                  </a:cubicBezTo>
                  <a:cubicBezTo>
                    <a:pt x="5177" y="6950"/>
                    <a:pt x="5305" y="6560"/>
                    <a:pt x="5418" y="6177"/>
                  </a:cubicBezTo>
                  <a:cubicBezTo>
                    <a:pt x="5135" y="6022"/>
                    <a:pt x="4858" y="5855"/>
                    <a:pt x="4583" y="5678"/>
                  </a:cubicBez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0">
              <a:extLst>
                <a:ext uri="{FF2B5EF4-FFF2-40B4-BE49-F238E27FC236}">
                  <a16:creationId xmlns:a16="http://schemas.microsoft.com/office/drawing/2014/main" id="{3939B7D5-C504-EBC7-8192-1355A2EC2E29}"/>
                </a:ext>
              </a:extLst>
            </p:cNvPr>
            <p:cNvSpPr/>
            <p:nvPr/>
          </p:nvSpPr>
          <p:spPr>
            <a:xfrm>
              <a:off x="5189300" y="651900"/>
              <a:ext cx="2425" cy="6050"/>
            </a:xfrm>
            <a:custGeom>
              <a:avLst/>
              <a:gdLst/>
              <a:ahLst/>
              <a:cxnLst/>
              <a:rect l="l" t="t" r="r" b="b"/>
              <a:pathLst>
                <a:path w="97" h="242" extrusionOk="0">
                  <a:moveTo>
                    <a:pt x="6" y="1"/>
                  </a:moveTo>
                  <a:cubicBezTo>
                    <a:pt x="6" y="50"/>
                    <a:pt x="6" y="131"/>
                    <a:pt x="1" y="241"/>
                  </a:cubicBezTo>
                  <a:cubicBezTo>
                    <a:pt x="50" y="232"/>
                    <a:pt x="82" y="224"/>
                    <a:pt x="97" y="222"/>
                  </a:cubicBezTo>
                  <a:cubicBezTo>
                    <a:pt x="84" y="92"/>
                    <a:pt x="72" y="20"/>
                    <a:pt x="72" y="11"/>
                  </a:cubicBezTo>
                  <a:cubicBezTo>
                    <a:pt x="72" y="11"/>
                    <a:pt x="48" y="6"/>
                    <a:pt x="6" y="1"/>
                  </a:cubicBezTo>
                  <a:close/>
                </a:path>
              </a:pathLst>
            </a:custGeom>
            <a:solidFill>
              <a:srgbClr val="B960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0">
              <a:extLst>
                <a:ext uri="{FF2B5EF4-FFF2-40B4-BE49-F238E27FC236}">
                  <a16:creationId xmlns:a16="http://schemas.microsoft.com/office/drawing/2014/main" id="{4944951C-D18E-8A9C-F2D7-E245CDB657A0}"/>
                </a:ext>
              </a:extLst>
            </p:cNvPr>
            <p:cNvSpPr/>
            <p:nvPr/>
          </p:nvSpPr>
          <p:spPr>
            <a:xfrm>
              <a:off x="5157100" y="762050"/>
              <a:ext cx="29975" cy="49800"/>
            </a:xfrm>
            <a:custGeom>
              <a:avLst/>
              <a:gdLst/>
              <a:ahLst/>
              <a:cxnLst/>
              <a:rect l="l" t="t" r="r" b="b"/>
              <a:pathLst>
                <a:path w="1199" h="1992" extrusionOk="0">
                  <a:moveTo>
                    <a:pt x="538" y="1"/>
                  </a:moveTo>
                  <a:cubicBezTo>
                    <a:pt x="398" y="455"/>
                    <a:pt x="228" y="931"/>
                    <a:pt x="30" y="1420"/>
                  </a:cubicBezTo>
                  <a:cubicBezTo>
                    <a:pt x="20" y="1444"/>
                    <a:pt x="10" y="1469"/>
                    <a:pt x="0" y="1493"/>
                  </a:cubicBezTo>
                  <a:cubicBezTo>
                    <a:pt x="275" y="1670"/>
                    <a:pt x="552" y="1837"/>
                    <a:pt x="832" y="1992"/>
                  </a:cubicBezTo>
                  <a:cubicBezTo>
                    <a:pt x="982" y="1474"/>
                    <a:pt x="1105" y="951"/>
                    <a:pt x="1198" y="421"/>
                  </a:cubicBezTo>
                  <a:cubicBezTo>
                    <a:pt x="977" y="291"/>
                    <a:pt x="756" y="151"/>
                    <a:pt x="538" y="1"/>
                  </a:cubicBezTo>
                  <a:close/>
                </a:path>
              </a:pathLst>
            </a:custGeom>
            <a:solidFill>
              <a:srgbClr val="DCC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0">
              <a:extLst>
                <a:ext uri="{FF2B5EF4-FFF2-40B4-BE49-F238E27FC236}">
                  <a16:creationId xmlns:a16="http://schemas.microsoft.com/office/drawing/2014/main" id="{1061C52B-54A5-41CB-51D9-9272A4BCA07C}"/>
                </a:ext>
              </a:extLst>
            </p:cNvPr>
            <p:cNvSpPr/>
            <p:nvPr/>
          </p:nvSpPr>
          <p:spPr>
            <a:xfrm>
              <a:off x="4906725" y="1039625"/>
              <a:ext cx="12975" cy="2100"/>
            </a:xfrm>
            <a:custGeom>
              <a:avLst/>
              <a:gdLst/>
              <a:ahLst/>
              <a:cxnLst/>
              <a:rect l="l" t="t" r="r" b="b"/>
              <a:pathLst>
                <a:path w="519" h="84" extrusionOk="0">
                  <a:moveTo>
                    <a:pt x="0" y="84"/>
                  </a:moveTo>
                  <a:lnTo>
                    <a:pt x="0" y="84"/>
                  </a:lnTo>
                  <a:close/>
                  <a:moveTo>
                    <a:pt x="22" y="81"/>
                  </a:moveTo>
                  <a:lnTo>
                    <a:pt x="17" y="81"/>
                  </a:lnTo>
                  <a:lnTo>
                    <a:pt x="22" y="81"/>
                  </a:lnTo>
                  <a:close/>
                  <a:moveTo>
                    <a:pt x="42" y="79"/>
                  </a:moveTo>
                  <a:lnTo>
                    <a:pt x="35" y="79"/>
                  </a:lnTo>
                  <a:lnTo>
                    <a:pt x="42" y="79"/>
                  </a:lnTo>
                  <a:close/>
                  <a:moveTo>
                    <a:pt x="69" y="74"/>
                  </a:moveTo>
                  <a:lnTo>
                    <a:pt x="47" y="79"/>
                  </a:lnTo>
                  <a:lnTo>
                    <a:pt x="69" y="74"/>
                  </a:lnTo>
                  <a:close/>
                  <a:moveTo>
                    <a:pt x="481" y="8"/>
                  </a:moveTo>
                  <a:cubicBezTo>
                    <a:pt x="341" y="32"/>
                    <a:pt x="204" y="54"/>
                    <a:pt x="69" y="74"/>
                  </a:cubicBezTo>
                  <a:cubicBezTo>
                    <a:pt x="204" y="54"/>
                    <a:pt x="341" y="32"/>
                    <a:pt x="481" y="8"/>
                  </a:cubicBezTo>
                  <a:close/>
                  <a:moveTo>
                    <a:pt x="501" y="3"/>
                  </a:moveTo>
                  <a:lnTo>
                    <a:pt x="484" y="8"/>
                  </a:lnTo>
                  <a:lnTo>
                    <a:pt x="501" y="3"/>
                  </a:lnTo>
                  <a:close/>
                  <a:moveTo>
                    <a:pt x="518" y="0"/>
                  </a:moveTo>
                  <a:lnTo>
                    <a:pt x="511" y="0"/>
                  </a:lnTo>
                  <a:lnTo>
                    <a:pt x="518" y="0"/>
                  </a:lnTo>
                  <a:close/>
                </a:path>
              </a:pathLst>
            </a:custGeom>
            <a:solidFill>
              <a:srgbClr val="DCC7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0">
              <a:extLst>
                <a:ext uri="{FF2B5EF4-FFF2-40B4-BE49-F238E27FC236}">
                  <a16:creationId xmlns:a16="http://schemas.microsoft.com/office/drawing/2014/main" id="{6E933797-0CCF-099B-9CEA-8C7548878665}"/>
                </a:ext>
              </a:extLst>
            </p:cNvPr>
            <p:cNvSpPr/>
            <p:nvPr/>
          </p:nvSpPr>
          <p:spPr>
            <a:xfrm>
              <a:off x="4889475" y="963100"/>
              <a:ext cx="170875" cy="80175"/>
            </a:xfrm>
            <a:custGeom>
              <a:avLst/>
              <a:gdLst/>
              <a:ahLst/>
              <a:cxnLst/>
              <a:rect l="l" t="t" r="r" b="b"/>
              <a:pathLst>
                <a:path w="6835" h="3207" extrusionOk="0">
                  <a:moveTo>
                    <a:pt x="5820" y="0"/>
                  </a:moveTo>
                  <a:cubicBezTo>
                    <a:pt x="4782" y="833"/>
                    <a:pt x="3648" y="1535"/>
                    <a:pt x="2440" y="2094"/>
                  </a:cubicBezTo>
                  <a:cubicBezTo>
                    <a:pt x="2566" y="2296"/>
                    <a:pt x="2683" y="2497"/>
                    <a:pt x="2794" y="2698"/>
                  </a:cubicBezTo>
                  <a:cubicBezTo>
                    <a:pt x="3938" y="2372"/>
                    <a:pt x="5032" y="1898"/>
                    <a:pt x="6051" y="1284"/>
                  </a:cubicBezTo>
                  <a:cubicBezTo>
                    <a:pt x="6314" y="1125"/>
                    <a:pt x="6576" y="953"/>
                    <a:pt x="6834" y="769"/>
                  </a:cubicBezTo>
                  <a:lnTo>
                    <a:pt x="6751" y="707"/>
                  </a:lnTo>
                  <a:cubicBezTo>
                    <a:pt x="6437" y="477"/>
                    <a:pt x="6127" y="241"/>
                    <a:pt x="5820" y="0"/>
                  </a:cubicBezTo>
                  <a:close/>
                  <a:moveTo>
                    <a:pt x="995" y="2683"/>
                  </a:moveTo>
                  <a:lnTo>
                    <a:pt x="995" y="2683"/>
                  </a:lnTo>
                  <a:cubicBezTo>
                    <a:pt x="732" y="2777"/>
                    <a:pt x="474" y="2863"/>
                    <a:pt x="226" y="2939"/>
                  </a:cubicBezTo>
                  <a:cubicBezTo>
                    <a:pt x="148" y="2963"/>
                    <a:pt x="74" y="2985"/>
                    <a:pt x="0" y="3007"/>
                  </a:cubicBezTo>
                  <a:cubicBezTo>
                    <a:pt x="76" y="3074"/>
                    <a:pt x="155" y="3140"/>
                    <a:pt x="231" y="3206"/>
                  </a:cubicBezTo>
                  <a:cubicBezTo>
                    <a:pt x="381" y="3189"/>
                    <a:pt x="533" y="3169"/>
                    <a:pt x="688" y="3145"/>
                  </a:cubicBezTo>
                  <a:lnTo>
                    <a:pt x="690" y="3145"/>
                  </a:lnTo>
                  <a:lnTo>
                    <a:pt x="707" y="3142"/>
                  </a:lnTo>
                  <a:lnTo>
                    <a:pt x="737" y="3142"/>
                  </a:lnTo>
                  <a:lnTo>
                    <a:pt x="759" y="3140"/>
                  </a:lnTo>
                  <a:cubicBezTo>
                    <a:pt x="894" y="3118"/>
                    <a:pt x="1031" y="3096"/>
                    <a:pt x="1171" y="3071"/>
                  </a:cubicBezTo>
                  <a:lnTo>
                    <a:pt x="1174" y="3071"/>
                  </a:lnTo>
                  <a:lnTo>
                    <a:pt x="1191" y="3069"/>
                  </a:lnTo>
                  <a:lnTo>
                    <a:pt x="1201" y="3066"/>
                  </a:lnTo>
                  <a:lnTo>
                    <a:pt x="1208" y="3066"/>
                  </a:lnTo>
                  <a:lnTo>
                    <a:pt x="1225" y="3064"/>
                  </a:lnTo>
                  <a:cubicBezTo>
                    <a:pt x="1152" y="2939"/>
                    <a:pt x="1073" y="2813"/>
                    <a:pt x="992" y="2688"/>
                  </a:cubicBezTo>
                  <a:lnTo>
                    <a:pt x="995" y="2683"/>
                  </a:ln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0">
              <a:extLst>
                <a:ext uri="{FF2B5EF4-FFF2-40B4-BE49-F238E27FC236}">
                  <a16:creationId xmlns:a16="http://schemas.microsoft.com/office/drawing/2014/main" id="{41D1F824-6BE3-4614-EF85-95F008AD5305}"/>
                </a:ext>
              </a:extLst>
            </p:cNvPr>
            <p:cNvSpPr/>
            <p:nvPr/>
          </p:nvSpPr>
          <p:spPr>
            <a:xfrm>
              <a:off x="4914275" y="1015325"/>
              <a:ext cx="45050" cy="24250"/>
            </a:xfrm>
            <a:custGeom>
              <a:avLst/>
              <a:gdLst/>
              <a:ahLst/>
              <a:cxnLst/>
              <a:rect l="l" t="t" r="r" b="b"/>
              <a:pathLst>
                <a:path w="1802" h="970" extrusionOk="0">
                  <a:moveTo>
                    <a:pt x="1451" y="0"/>
                  </a:moveTo>
                  <a:cubicBezTo>
                    <a:pt x="1200" y="116"/>
                    <a:pt x="952" y="224"/>
                    <a:pt x="707" y="324"/>
                  </a:cubicBezTo>
                  <a:cubicBezTo>
                    <a:pt x="469" y="423"/>
                    <a:pt x="233" y="511"/>
                    <a:pt x="0" y="594"/>
                  </a:cubicBezTo>
                  <a:cubicBezTo>
                    <a:pt x="81" y="720"/>
                    <a:pt x="160" y="845"/>
                    <a:pt x="233" y="970"/>
                  </a:cubicBezTo>
                  <a:cubicBezTo>
                    <a:pt x="763" y="874"/>
                    <a:pt x="1286" y="751"/>
                    <a:pt x="1802" y="604"/>
                  </a:cubicBezTo>
                  <a:cubicBezTo>
                    <a:pt x="1691" y="400"/>
                    <a:pt x="1574" y="199"/>
                    <a:pt x="1451" y="0"/>
                  </a:cubicBezTo>
                  <a:close/>
                </a:path>
              </a:pathLst>
            </a:custGeom>
            <a:solidFill>
              <a:srgbClr val="DCC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0">
              <a:extLst>
                <a:ext uri="{FF2B5EF4-FFF2-40B4-BE49-F238E27FC236}">
                  <a16:creationId xmlns:a16="http://schemas.microsoft.com/office/drawing/2014/main" id="{F01F6571-BBD7-2FFC-EA40-1032A95A0DCC}"/>
                </a:ext>
              </a:extLst>
            </p:cNvPr>
            <p:cNvSpPr/>
            <p:nvPr/>
          </p:nvSpPr>
          <p:spPr>
            <a:xfrm>
              <a:off x="4859150" y="1041350"/>
              <a:ext cx="22850" cy="4625"/>
            </a:xfrm>
            <a:custGeom>
              <a:avLst/>
              <a:gdLst/>
              <a:ahLst/>
              <a:cxnLst/>
              <a:rect l="l" t="t" r="r" b="b"/>
              <a:pathLst>
                <a:path w="914" h="185" extrusionOk="0">
                  <a:moveTo>
                    <a:pt x="764" y="0"/>
                  </a:moveTo>
                  <a:cubicBezTo>
                    <a:pt x="502" y="71"/>
                    <a:pt x="246" y="133"/>
                    <a:pt x="1" y="184"/>
                  </a:cubicBezTo>
                  <a:cubicBezTo>
                    <a:pt x="288" y="177"/>
                    <a:pt x="592" y="157"/>
                    <a:pt x="914" y="130"/>
                  </a:cubicBezTo>
                  <a:lnTo>
                    <a:pt x="764" y="0"/>
                  </a:lnTo>
                  <a:close/>
                </a:path>
              </a:pathLst>
            </a:custGeom>
            <a:solidFill>
              <a:srgbClr val="BE66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0">
              <a:extLst>
                <a:ext uri="{FF2B5EF4-FFF2-40B4-BE49-F238E27FC236}">
                  <a16:creationId xmlns:a16="http://schemas.microsoft.com/office/drawing/2014/main" id="{E4777B72-45ED-684A-F505-B56A5495B8F1}"/>
                </a:ext>
              </a:extLst>
            </p:cNvPr>
            <p:cNvSpPr/>
            <p:nvPr/>
          </p:nvSpPr>
          <p:spPr>
            <a:xfrm>
              <a:off x="4788650" y="586725"/>
              <a:ext cx="214000" cy="196525"/>
            </a:xfrm>
            <a:custGeom>
              <a:avLst/>
              <a:gdLst/>
              <a:ahLst/>
              <a:cxnLst/>
              <a:rect l="l" t="t" r="r" b="b"/>
              <a:pathLst>
                <a:path w="8560" h="7861" extrusionOk="0">
                  <a:moveTo>
                    <a:pt x="1698" y="1"/>
                  </a:moveTo>
                  <a:cubicBezTo>
                    <a:pt x="1455" y="1"/>
                    <a:pt x="1214" y="43"/>
                    <a:pt x="985" y="124"/>
                  </a:cubicBezTo>
                  <a:cubicBezTo>
                    <a:pt x="739" y="212"/>
                    <a:pt x="526" y="372"/>
                    <a:pt x="369" y="580"/>
                  </a:cubicBezTo>
                  <a:cubicBezTo>
                    <a:pt x="214" y="789"/>
                    <a:pt x="128" y="1039"/>
                    <a:pt x="84" y="1285"/>
                  </a:cubicBezTo>
                  <a:cubicBezTo>
                    <a:pt x="0" y="1783"/>
                    <a:pt x="76" y="2272"/>
                    <a:pt x="187" y="2738"/>
                  </a:cubicBezTo>
                  <a:cubicBezTo>
                    <a:pt x="423" y="3673"/>
                    <a:pt x="828" y="4542"/>
                    <a:pt x="1284" y="5372"/>
                  </a:cubicBezTo>
                  <a:cubicBezTo>
                    <a:pt x="1746" y="6199"/>
                    <a:pt x="2259" y="6997"/>
                    <a:pt x="2813" y="7763"/>
                  </a:cubicBezTo>
                  <a:cubicBezTo>
                    <a:pt x="2838" y="7795"/>
                    <a:pt x="2863" y="7829"/>
                    <a:pt x="2885" y="7861"/>
                  </a:cubicBezTo>
                  <a:cubicBezTo>
                    <a:pt x="2961" y="7755"/>
                    <a:pt x="3039" y="7650"/>
                    <a:pt x="3118" y="7544"/>
                  </a:cubicBezTo>
                  <a:lnTo>
                    <a:pt x="3118" y="7542"/>
                  </a:lnTo>
                  <a:cubicBezTo>
                    <a:pt x="2561" y="6793"/>
                    <a:pt x="2050" y="6012"/>
                    <a:pt x="1586" y="5202"/>
                  </a:cubicBezTo>
                  <a:cubicBezTo>
                    <a:pt x="1355" y="4800"/>
                    <a:pt x="1147" y="4385"/>
                    <a:pt x="955" y="3963"/>
                  </a:cubicBezTo>
                  <a:cubicBezTo>
                    <a:pt x="764" y="3543"/>
                    <a:pt x="604" y="3109"/>
                    <a:pt x="482" y="2664"/>
                  </a:cubicBezTo>
                  <a:cubicBezTo>
                    <a:pt x="366" y="2225"/>
                    <a:pt x="293" y="1766"/>
                    <a:pt x="356" y="1329"/>
                  </a:cubicBezTo>
                  <a:cubicBezTo>
                    <a:pt x="391" y="1115"/>
                    <a:pt x="459" y="907"/>
                    <a:pt x="580" y="737"/>
                  </a:cubicBezTo>
                  <a:cubicBezTo>
                    <a:pt x="705" y="566"/>
                    <a:pt x="877" y="433"/>
                    <a:pt x="1076" y="359"/>
                  </a:cubicBezTo>
                  <a:cubicBezTo>
                    <a:pt x="1289" y="280"/>
                    <a:pt x="1517" y="239"/>
                    <a:pt x="1744" y="239"/>
                  </a:cubicBezTo>
                  <a:cubicBezTo>
                    <a:pt x="1757" y="239"/>
                    <a:pt x="1770" y="239"/>
                    <a:pt x="1782" y="239"/>
                  </a:cubicBezTo>
                  <a:cubicBezTo>
                    <a:pt x="1989" y="242"/>
                    <a:pt x="2197" y="261"/>
                    <a:pt x="2401" y="296"/>
                  </a:cubicBezTo>
                  <a:cubicBezTo>
                    <a:pt x="2858" y="384"/>
                    <a:pt x="3302" y="514"/>
                    <a:pt x="3731" y="686"/>
                  </a:cubicBezTo>
                  <a:cubicBezTo>
                    <a:pt x="4603" y="1020"/>
                    <a:pt x="5433" y="1461"/>
                    <a:pt x="6233" y="1948"/>
                  </a:cubicBezTo>
                  <a:cubicBezTo>
                    <a:pt x="7035" y="2431"/>
                    <a:pt x="7806" y="2969"/>
                    <a:pt x="8560" y="3528"/>
                  </a:cubicBezTo>
                  <a:cubicBezTo>
                    <a:pt x="7833" y="2932"/>
                    <a:pt x="7075" y="2375"/>
                    <a:pt x="6289" y="1859"/>
                  </a:cubicBezTo>
                  <a:cubicBezTo>
                    <a:pt x="5499" y="1346"/>
                    <a:pt x="4679" y="875"/>
                    <a:pt x="3803" y="507"/>
                  </a:cubicBezTo>
                  <a:cubicBezTo>
                    <a:pt x="3366" y="318"/>
                    <a:pt x="2909" y="175"/>
                    <a:pt x="2443" y="77"/>
                  </a:cubicBezTo>
                  <a:cubicBezTo>
                    <a:pt x="2205" y="30"/>
                    <a:pt x="1964" y="6"/>
                    <a:pt x="1724" y="3"/>
                  </a:cubicBezTo>
                  <a:lnTo>
                    <a:pt x="1724" y="1"/>
                  </a:lnTo>
                  <a:lnTo>
                    <a:pt x="1719" y="1"/>
                  </a:lnTo>
                  <a:cubicBezTo>
                    <a:pt x="1712" y="1"/>
                    <a:pt x="1705" y="1"/>
                    <a:pt x="16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0">
              <a:extLst>
                <a:ext uri="{FF2B5EF4-FFF2-40B4-BE49-F238E27FC236}">
                  <a16:creationId xmlns:a16="http://schemas.microsoft.com/office/drawing/2014/main" id="{515A2A04-A915-102A-945A-2A1C4F55736A}"/>
                </a:ext>
              </a:extLst>
            </p:cNvPr>
            <p:cNvSpPr/>
            <p:nvPr/>
          </p:nvSpPr>
          <p:spPr>
            <a:xfrm>
              <a:off x="4860825" y="775250"/>
              <a:ext cx="181725" cy="187750"/>
            </a:xfrm>
            <a:custGeom>
              <a:avLst/>
              <a:gdLst/>
              <a:ahLst/>
              <a:cxnLst/>
              <a:rect l="l" t="t" r="r" b="b"/>
              <a:pathLst>
                <a:path w="7269" h="7510" extrusionOk="0">
                  <a:moveTo>
                    <a:pt x="233" y="1"/>
                  </a:moveTo>
                  <a:cubicBezTo>
                    <a:pt x="152" y="106"/>
                    <a:pt x="76" y="212"/>
                    <a:pt x="0" y="317"/>
                  </a:cubicBezTo>
                  <a:cubicBezTo>
                    <a:pt x="405" y="875"/>
                    <a:pt x="830" y="1419"/>
                    <a:pt x="1274" y="1950"/>
                  </a:cubicBezTo>
                  <a:cubicBezTo>
                    <a:pt x="1286" y="1837"/>
                    <a:pt x="1323" y="1729"/>
                    <a:pt x="1382" y="1631"/>
                  </a:cubicBezTo>
                  <a:lnTo>
                    <a:pt x="1355" y="1604"/>
                  </a:lnTo>
                  <a:cubicBezTo>
                    <a:pt x="1281" y="1530"/>
                    <a:pt x="1247" y="1429"/>
                    <a:pt x="1259" y="1326"/>
                  </a:cubicBezTo>
                  <a:cubicBezTo>
                    <a:pt x="906" y="894"/>
                    <a:pt x="565" y="452"/>
                    <a:pt x="233" y="1"/>
                  </a:cubicBezTo>
                  <a:close/>
                  <a:moveTo>
                    <a:pt x="2531" y="2806"/>
                  </a:moveTo>
                  <a:cubicBezTo>
                    <a:pt x="2403" y="2875"/>
                    <a:pt x="2261" y="2912"/>
                    <a:pt x="2118" y="2912"/>
                  </a:cubicBezTo>
                  <a:lnTo>
                    <a:pt x="2101" y="2912"/>
                  </a:lnTo>
                  <a:cubicBezTo>
                    <a:pt x="2592" y="3459"/>
                    <a:pt x="3095" y="3994"/>
                    <a:pt x="3613" y="4517"/>
                  </a:cubicBezTo>
                  <a:cubicBezTo>
                    <a:pt x="4671" y="5578"/>
                    <a:pt x="5793" y="6579"/>
                    <a:pt x="6969" y="7510"/>
                  </a:cubicBezTo>
                  <a:cubicBezTo>
                    <a:pt x="7069" y="7429"/>
                    <a:pt x="7170" y="7348"/>
                    <a:pt x="7268" y="7262"/>
                  </a:cubicBezTo>
                  <a:cubicBezTo>
                    <a:pt x="6085" y="6321"/>
                    <a:pt x="4958" y="5310"/>
                    <a:pt x="3893" y="4237"/>
                  </a:cubicBezTo>
                  <a:cubicBezTo>
                    <a:pt x="3429" y="3771"/>
                    <a:pt x="2975" y="3292"/>
                    <a:pt x="2531" y="2806"/>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0">
              <a:extLst>
                <a:ext uri="{FF2B5EF4-FFF2-40B4-BE49-F238E27FC236}">
                  <a16:creationId xmlns:a16="http://schemas.microsoft.com/office/drawing/2014/main" id="{56D02D4C-FE10-6BA2-7F5F-6F3495A556CE}"/>
                </a:ext>
              </a:extLst>
            </p:cNvPr>
            <p:cNvSpPr/>
            <p:nvPr/>
          </p:nvSpPr>
          <p:spPr>
            <a:xfrm>
              <a:off x="4892600" y="816000"/>
              <a:ext cx="31500" cy="32050"/>
            </a:xfrm>
            <a:custGeom>
              <a:avLst/>
              <a:gdLst/>
              <a:ahLst/>
              <a:cxnLst/>
              <a:rect l="l" t="t" r="r" b="b"/>
              <a:pathLst>
                <a:path w="1260" h="1282" extrusionOk="0">
                  <a:moveTo>
                    <a:pt x="109" y="1"/>
                  </a:moveTo>
                  <a:cubicBezTo>
                    <a:pt x="52" y="99"/>
                    <a:pt x="15" y="207"/>
                    <a:pt x="1" y="320"/>
                  </a:cubicBezTo>
                  <a:cubicBezTo>
                    <a:pt x="273" y="646"/>
                    <a:pt x="548" y="965"/>
                    <a:pt x="830" y="1282"/>
                  </a:cubicBezTo>
                  <a:lnTo>
                    <a:pt x="847" y="1282"/>
                  </a:lnTo>
                  <a:cubicBezTo>
                    <a:pt x="990" y="1282"/>
                    <a:pt x="1132" y="1245"/>
                    <a:pt x="1260" y="1176"/>
                  </a:cubicBezTo>
                  <a:cubicBezTo>
                    <a:pt x="1184" y="1093"/>
                    <a:pt x="1110" y="1009"/>
                    <a:pt x="1036" y="926"/>
                  </a:cubicBezTo>
                  <a:lnTo>
                    <a:pt x="109" y="1"/>
                  </a:lnTo>
                  <a:close/>
                </a:path>
              </a:pathLst>
            </a:custGeom>
            <a:solidFill>
              <a:srgbClr val="CD8D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a:extLst>
                <a:ext uri="{FF2B5EF4-FFF2-40B4-BE49-F238E27FC236}">
                  <a16:creationId xmlns:a16="http://schemas.microsoft.com/office/drawing/2014/main" id="{6F485B96-DFDF-682D-265B-589931A4EAE2}"/>
                </a:ext>
              </a:extLst>
            </p:cNvPr>
            <p:cNvSpPr/>
            <p:nvPr/>
          </p:nvSpPr>
          <p:spPr>
            <a:xfrm>
              <a:off x="4891925" y="808450"/>
              <a:ext cx="26600" cy="30775"/>
            </a:xfrm>
            <a:custGeom>
              <a:avLst/>
              <a:gdLst/>
              <a:ahLst/>
              <a:cxnLst/>
              <a:rect l="l" t="t" r="r" b="b"/>
              <a:pathLst>
                <a:path w="1064" h="1231" extrusionOk="0">
                  <a:moveTo>
                    <a:pt x="15" y="1"/>
                  </a:moveTo>
                  <a:cubicBezTo>
                    <a:pt x="1" y="101"/>
                    <a:pt x="35" y="204"/>
                    <a:pt x="109" y="276"/>
                  </a:cubicBezTo>
                  <a:lnTo>
                    <a:pt x="136" y="305"/>
                  </a:lnTo>
                  <a:lnTo>
                    <a:pt x="1063" y="1230"/>
                  </a:lnTo>
                  <a:cubicBezTo>
                    <a:pt x="705" y="828"/>
                    <a:pt x="354" y="418"/>
                    <a:pt x="15" y="3"/>
                  </a:cubicBezTo>
                  <a:lnTo>
                    <a:pt x="15" y="1"/>
                  </a:lnTo>
                  <a:close/>
                </a:path>
              </a:pathLst>
            </a:custGeom>
            <a:solidFill>
              <a:srgbClr val="FF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0">
              <a:extLst>
                <a:ext uri="{FF2B5EF4-FFF2-40B4-BE49-F238E27FC236}">
                  <a16:creationId xmlns:a16="http://schemas.microsoft.com/office/drawing/2014/main" id="{1CEC2130-AC09-49C1-1BBD-EB2F89CD1B70}"/>
                </a:ext>
              </a:extLst>
            </p:cNvPr>
            <p:cNvSpPr/>
            <p:nvPr/>
          </p:nvSpPr>
          <p:spPr>
            <a:xfrm>
              <a:off x="5060375" y="840925"/>
              <a:ext cx="194325" cy="210575"/>
            </a:xfrm>
            <a:custGeom>
              <a:avLst/>
              <a:gdLst/>
              <a:ahLst/>
              <a:cxnLst/>
              <a:rect l="l" t="t" r="r" b="b"/>
              <a:pathLst>
                <a:path w="7773" h="8423" extrusionOk="0">
                  <a:moveTo>
                    <a:pt x="315" y="5415"/>
                  </a:moveTo>
                  <a:cubicBezTo>
                    <a:pt x="209" y="5496"/>
                    <a:pt x="106" y="5572"/>
                    <a:pt x="1" y="5648"/>
                  </a:cubicBezTo>
                  <a:cubicBezTo>
                    <a:pt x="104" y="5724"/>
                    <a:pt x="209" y="5801"/>
                    <a:pt x="317" y="5874"/>
                  </a:cubicBezTo>
                  <a:lnTo>
                    <a:pt x="585" y="5612"/>
                  </a:lnTo>
                  <a:cubicBezTo>
                    <a:pt x="494" y="5545"/>
                    <a:pt x="403" y="5481"/>
                    <a:pt x="315" y="5415"/>
                  </a:cubicBezTo>
                  <a:close/>
                  <a:moveTo>
                    <a:pt x="634" y="5646"/>
                  </a:moveTo>
                  <a:lnTo>
                    <a:pt x="369" y="5913"/>
                  </a:lnTo>
                  <a:cubicBezTo>
                    <a:pt x="992" y="6348"/>
                    <a:pt x="1633" y="6755"/>
                    <a:pt x="2298" y="7131"/>
                  </a:cubicBezTo>
                  <a:cubicBezTo>
                    <a:pt x="2657" y="7327"/>
                    <a:pt x="3020" y="7519"/>
                    <a:pt x="3393" y="7691"/>
                  </a:cubicBezTo>
                  <a:lnTo>
                    <a:pt x="3648" y="7440"/>
                  </a:lnTo>
                  <a:cubicBezTo>
                    <a:pt x="3248" y="7254"/>
                    <a:pt x="2855" y="7048"/>
                    <a:pt x="2470" y="6827"/>
                  </a:cubicBezTo>
                  <a:cubicBezTo>
                    <a:pt x="1839" y="6463"/>
                    <a:pt x="1228" y="6068"/>
                    <a:pt x="634" y="5646"/>
                  </a:cubicBezTo>
                  <a:close/>
                  <a:moveTo>
                    <a:pt x="4311" y="0"/>
                  </a:moveTo>
                  <a:lnTo>
                    <a:pt x="4311" y="0"/>
                  </a:lnTo>
                  <a:cubicBezTo>
                    <a:pt x="4868" y="756"/>
                    <a:pt x="5398" y="1532"/>
                    <a:pt x="5884" y="2335"/>
                  </a:cubicBezTo>
                  <a:cubicBezTo>
                    <a:pt x="6368" y="3137"/>
                    <a:pt x="6800" y="3972"/>
                    <a:pt x="7127" y="4843"/>
                  </a:cubicBezTo>
                  <a:cubicBezTo>
                    <a:pt x="7289" y="5278"/>
                    <a:pt x="7424" y="5724"/>
                    <a:pt x="7492" y="6179"/>
                  </a:cubicBezTo>
                  <a:cubicBezTo>
                    <a:pt x="7559" y="6625"/>
                    <a:pt x="7563" y="7104"/>
                    <a:pt x="7372" y="7489"/>
                  </a:cubicBezTo>
                  <a:cubicBezTo>
                    <a:pt x="7188" y="7880"/>
                    <a:pt x="6773" y="8093"/>
                    <a:pt x="6336" y="8128"/>
                  </a:cubicBezTo>
                  <a:cubicBezTo>
                    <a:pt x="6262" y="8133"/>
                    <a:pt x="6186" y="8137"/>
                    <a:pt x="6113" y="8137"/>
                  </a:cubicBezTo>
                  <a:cubicBezTo>
                    <a:pt x="5742" y="8137"/>
                    <a:pt x="5364" y="8061"/>
                    <a:pt x="4998" y="7958"/>
                  </a:cubicBezTo>
                  <a:cubicBezTo>
                    <a:pt x="4556" y="7831"/>
                    <a:pt x="4124" y="7666"/>
                    <a:pt x="3705" y="7467"/>
                  </a:cubicBezTo>
                  <a:lnTo>
                    <a:pt x="3457" y="7723"/>
                  </a:lnTo>
                  <a:cubicBezTo>
                    <a:pt x="3928" y="7939"/>
                    <a:pt x="4417" y="8118"/>
                    <a:pt x="4917" y="8255"/>
                  </a:cubicBezTo>
                  <a:cubicBezTo>
                    <a:pt x="5286" y="8349"/>
                    <a:pt x="5666" y="8422"/>
                    <a:pt x="6054" y="8422"/>
                  </a:cubicBezTo>
                  <a:cubicBezTo>
                    <a:pt x="6157" y="8422"/>
                    <a:pt x="6260" y="8415"/>
                    <a:pt x="6363" y="8405"/>
                  </a:cubicBezTo>
                  <a:cubicBezTo>
                    <a:pt x="6618" y="8380"/>
                    <a:pt x="6864" y="8302"/>
                    <a:pt x="7085" y="8169"/>
                  </a:cubicBezTo>
                  <a:cubicBezTo>
                    <a:pt x="7306" y="8034"/>
                    <a:pt x="7485" y="7835"/>
                    <a:pt x="7595" y="7600"/>
                  </a:cubicBezTo>
                  <a:cubicBezTo>
                    <a:pt x="7701" y="7369"/>
                    <a:pt x="7757" y="7121"/>
                    <a:pt x="7765" y="6871"/>
                  </a:cubicBezTo>
                  <a:cubicBezTo>
                    <a:pt x="7772" y="6628"/>
                    <a:pt x="7755" y="6385"/>
                    <a:pt x="7711" y="6144"/>
                  </a:cubicBezTo>
                  <a:cubicBezTo>
                    <a:pt x="7630" y="5670"/>
                    <a:pt x="7482" y="5214"/>
                    <a:pt x="7306" y="4775"/>
                  </a:cubicBezTo>
                  <a:cubicBezTo>
                    <a:pt x="6947" y="3896"/>
                    <a:pt x="6481" y="3071"/>
                    <a:pt x="5973" y="2281"/>
                  </a:cubicBezTo>
                  <a:cubicBezTo>
                    <a:pt x="5460" y="1490"/>
                    <a:pt x="4907" y="729"/>
                    <a:pt x="43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0">
              <a:extLst>
                <a:ext uri="{FF2B5EF4-FFF2-40B4-BE49-F238E27FC236}">
                  <a16:creationId xmlns:a16="http://schemas.microsoft.com/office/drawing/2014/main" id="{6434CBE7-D9CD-7C4C-C990-BF288A53630F}"/>
                </a:ext>
              </a:extLst>
            </p:cNvPr>
            <p:cNvSpPr/>
            <p:nvPr/>
          </p:nvSpPr>
          <p:spPr>
            <a:xfrm>
              <a:off x="5035025" y="956775"/>
              <a:ext cx="33225" cy="25425"/>
            </a:xfrm>
            <a:custGeom>
              <a:avLst/>
              <a:gdLst/>
              <a:ahLst/>
              <a:cxnLst/>
              <a:rect l="l" t="t" r="r" b="b"/>
              <a:pathLst>
                <a:path w="1329" h="1017" extrusionOk="0">
                  <a:moveTo>
                    <a:pt x="300" y="1"/>
                  </a:moveTo>
                  <a:cubicBezTo>
                    <a:pt x="202" y="87"/>
                    <a:pt x="101" y="168"/>
                    <a:pt x="1" y="249"/>
                  </a:cubicBezTo>
                  <a:cubicBezTo>
                    <a:pt x="305" y="489"/>
                    <a:pt x="615" y="725"/>
                    <a:pt x="929" y="955"/>
                  </a:cubicBezTo>
                  <a:lnTo>
                    <a:pt x="1015" y="1017"/>
                  </a:lnTo>
                  <a:cubicBezTo>
                    <a:pt x="1120" y="941"/>
                    <a:pt x="1223" y="862"/>
                    <a:pt x="1329" y="784"/>
                  </a:cubicBezTo>
                  <a:cubicBezTo>
                    <a:pt x="1270" y="739"/>
                    <a:pt x="1211" y="695"/>
                    <a:pt x="1152" y="651"/>
                  </a:cubicBezTo>
                  <a:cubicBezTo>
                    <a:pt x="865" y="440"/>
                    <a:pt x="583" y="224"/>
                    <a:pt x="300" y="1"/>
                  </a:cubicBez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0">
              <a:extLst>
                <a:ext uri="{FF2B5EF4-FFF2-40B4-BE49-F238E27FC236}">
                  <a16:creationId xmlns:a16="http://schemas.microsoft.com/office/drawing/2014/main" id="{35B37347-0652-6B9C-6A3B-D7192AB7BB86}"/>
                </a:ext>
              </a:extLst>
            </p:cNvPr>
            <p:cNvSpPr/>
            <p:nvPr/>
          </p:nvSpPr>
          <p:spPr>
            <a:xfrm>
              <a:off x="4702550" y="752050"/>
              <a:ext cx="145825" cy="209425"/>
            </a:xfrm>
            <a:custGeom>
              <a:avLst/>
              <a:gdLst/>
              <a:ahLst/>
              <a:cxnLst/>
              <a:rect l="l" t="t" r="r" b="b"/>
              <a:pathLst>
                <a:path w="5833" h="8377" extrusionOk="0">
                  <a:moveTo>
                    <a:pt x="1436" y="1"/>
                  </a:moveTo>
                  <a:cubicBezTo>
                    <a:pt x="1260" y="1"/>
                    <a:pt x="1083" y="23"/>
                    <a:pt x="911" y="72"/>
                  </a:cubicBezTo>
                  <a:cubicBezTo>
                    <a:pt x="720" y="126"/>
                    <a:pt x="545" y="229"/>
                    <a:pt x="406" y="367"/>
                  </a:cubicBezTo>
                  <a:cubicBezTo>
                    <a:pt x="268" y="511"/>
                    <a:pt x="167" y="686"/>
                    <a:pt x="113" y="877"/>
                  </a:cubicBezTo>
                  <a:cubicBezTo>
                    <a:pt x="1" y="1253"/>
                    <a:pt x="28" y="1636"/>
                    <a:pt x="91" y="1996"/>
                  </a:cubicBezTo>
                  <a:cubicBezTo>
                    <a:pt x="158" y="2355"/>
                    <a:pt x="258" y="2708"/>
                    <a:pt x="388" y="3050"/>
                  </a:cubicBezTo>
                  <a:cubicBezTo>
                    <a:pt x="644" y="3729"/>
                    <a:pt x="980" y="4373"/>
                    <a:pt x="1348" y="4989"/>
                  </a:cubicBezTo>
                  <a:cubicBezTo>
                    <a:pt x="1719" y="5605"/>
                    <a:pt x="2124" y="6201"/>
                    <a:pt x="2551" y="6778"/>
                  </a:cubicBezTo>
                  <a:cubicBezTo>
                    <a:pt x="2899" y="7245"/>
                    <a:pt x="3265" y="7701"/>
                    <a:pt x="3643" y="8145"/>
                  </a:cubicBezTo>
                  <a:cubicBezTo>
                    <a:pt x="3724" y="8064"/>
                    <a:pt x="3805" y="7983"/>
                    <a:pt x="3889" y="7905"/>
                  </a:cubicBezTo>
                  <a:cubicBezTo>
                    <a:pt x="3889" y="7885"/>
                    <a:pt x="3891" y="7866"/>
                    <a:pt x="3894" y="7846"/>
                  </a:cubicBezTo>
                  <a:cubicBezTo>
                    <a:pt x="3535" y="7424"/>
                    <a:pt x="3187" y="6994"/>
                    <a:pt x="2850" y="6552"/>
                  </a:cubicBezTo>
                  <a:cubicBezTo>
                    <a:pt x="2421" y="5990"/>
                    <a:pt x="2016" y="5408"/>
                    <a:pt x="1645" y="4810"/>
                  </a:cubicBezTo>
                  <a:cubicBezTo>
                    <a:pt x="1461" y="4508"/>
                    <a:pt x="1284" y="4203"/>
                    <a:pt x="1120" y="3891"/>
                  </a:cubicBezTo>
                  <a:cubicBezTo>
                    <a:pt x="955" y="3582"/>
                    <a:pt x="806" y="3266"/>
                    <a:pt x="673" y="2939"/>
                  </a:cubicBezTo>
                  <a:cubicBezTo>
                    <a:pt x="541" y="2620"/>
                    <a:pt x="435" y="2286"/>
                    <a:pt x="364" y="1947"/>
                  </a:cubicBezTo>
                  <a:cubicBezTo>
                    <a:pt x="295" y="1611"/>
                    <a:pt x="266" y="1263"/>
                    <a:pt x="352" y="948"/>
                  </a:cubicBezTo>
                  <a:cubicBezTo>
                    <a:pt x="391" y="794"/>
                    <a:pt x="469" y="651"/>
                    <a:pt x="575" y="533"/>
                  </a:cubicBezTo>
                  <a:cubicBezTo>
                    <a:pt x="685" y="418"/>
                    <a:pt x="825" y="332"/>
                    <a:pt x="977" y="286"/>
                  </a:cubicBezTo>
                  <a:cubicBezTo>
                    <a:pt x="1137" y="236"/>
                    <a:pt x="1303" y="212"/>
                    <a:pt x="1469" y="212"/>
                  </a:cubicBezTo>
                  <a:cubicBezTo>
                    <a:pt x="1477" y="212"/>
                    <a:pt x="1485" y="212"/>
                    <a:pt x="1493" y="212"/>
                  </a:cubicBezTo>
                  <a:cubicBezTo>
                    <a:pt x="1660" y="214"/>
                    <a:pt x="1822" y="227"/>
                    <a:pt x="1984" y="256"/>
                  </a:cubicBezTo>
                  <a:cubicBezTo>
                    <a:pt x="2674" y="369"/>
                    <a:pt x="3339" y="639"/>
                    <a:pt x="3977" y="946"/>
                  </a:cubicBezTo>
                  <a:cubicBezTo>
                    <a:pt x="4615" y="1263"/>
                    <a:pt x="5234" y="1614"/>
                    <a:pt x="5833" y="1999"/>
                  </a:cubicBezTo>
                  <a:cubicBezTo>
                    <a:pt x="5256" y="1577"/>
                    <a:pt x="4652" y="1194"/>
                    <a:pt x="4024" y="853"/>
                  </a:cubicBezTo>
                  <a:cubicBezTo>
                    <a:pt x="3393" y="519"/>
                    <a:pt x="2735" y="214"/>
                    <a:pt x="2021" y="65"/>
                  </a:cubicBezTo>
                  <a:cubicBezTo>
                    <a:pt x="1827" y="25"/>
                    <a:pt x="1633" y="6"/>
                    <a:pt x="1436" y="3"/>
                  </a:cubicBezTo>
                  <a:lnTo>
                    <a:pt x="1436" y="1"/>
                  </a:lnTo>
                  <a:close/>
                  <a:moveTo>
                    <a:pt x="3874" y="8023"/>
                  </a:moveTo>
                  <a:lnTo>
                    <a:pt x="3695" y="8207"/>
                  </a:lnTo>
                  <a:cubicBezTo>
                    <a:pt x="3744" y="8263"/>
                    <a:pt x="3791" y="8320"/>
                    <a:pt x="3840" y="8376"/>
                  </a:cubicBezTo>
                  <a:cubicBezTo>
                    <a:pt x="3852" y="8261"/>
                    <a:pt x="3862" y="8143"/>
                    <a:pt x="3874" y="802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0">
              <a:extLst>
                <a:ext uri="{FF2B5EF4-FFF2-40B4-BE49-F238E27FC236}">
                  <a16:creationId xmlns:a16="http://schemas.microsoft.com/office/drawing/2014/main" id="{2498DFC1-6B2A-FA30-2292-C897142EA832}"/>
                </a:ext>
              </a:extLst>
            </p:cNvPr>
            <p:cNvSpPr/>
            <p:nvPr/>
          </p:nvSpPr>
          <p:spPr>
            <a:xfrm>
              <a:off x="4798525" y="948125"/>
              <a:ext cx="90900" cy="93250"/>
            </a:xfrm>
            <a:custGeom>
              <a:avLst/>
              <a:gdLst/>
              <a:ahLst/>
              <a:cxnLst/>
              <a:rect l="l" t="t" r="r" b="b"/>
              <a:pathLst>
                <a:path w="3636" h="3730" extrusionOk="0">
                  <a:moveTo>
                    <a:pt x="55" y="0"/>
                  </a:moveTo>
                  <a:lnTo>
                    <a:pt x="55" y="3"/>
                  </a:lnTo>
                  <a:cubicBezTo>
                    <a:pt x="52" y="23"/>
                    <a:pt x="50" y="40"/>
                    <a:pt x="47" y="59"/>
                  </a:cubicBezTo>
                  <a:lnTo>
                    <a:pt x="79" y="30"/>
                  </a:lnTo>
                  <a:lnTo>
                    <a:pt x="55" y="0"/>
                  </a:lnTo>
                  <a:close/>
                  <a:moveTo>
                    <a:pt x="1115" y="1184"/>
                  </a:moveTo>
                  <a:lnTo>
                    <a:pt x="1113" y="1186"/>
                  </a:lnTo>
                  <a:cubicBezTo>
                    <a:pt x="1113" y="1186"/>
                    <a:pt x="1113" y="1187"/>
                    <a:pt x="1114" y="1187"/>
                  </a:cubicBezTo>
                  <a:lnTo>
                    <a:pt x="1114" y="1187"/>
                  </a:lnTo>
                  <a:cubicBezTo>
                    <a:pt x="1114" y="1186"/>
                    <a:pt x="1115" y="1185"/>
                    <a:pt x="1115" y="1184"/>
                  </a:cubicBezTo>
                  <a:close/>
                  <a:moveTo>
                    <a:pt x="126" y="86"/>
                  </a:moveTo>
                  <a:lnTo>
                    <a:pt x="35" y="180"/>
                  </a:lnTo>
                  <a:cubicBezTo>
                    <a:pt x="23" y="300"/>
                    <a:pt x="10" y="418"/>
                    <a:pt x="1" y="533"/>
                  </a:cubicBezTo>
                  <a:cubicBezTo>
                    <a:pt x="207" y="771"/>
                    <a:pt x="418" y="1007"/>
                    <a:pt x="631" y="1240"/>
                  </a:cubicBezTo>
                  <a:cubicBezTo>
                    <a:pt x="683" y="1112"/>
                    <a:pt x="739" y="977"/>
                    <a:pt x="796" y="842"/>
                  </a:cubicBezTo>
                  <a:cubicBezTo>
                    <a:pt x="570" y="592"/>
                    <a:pt x="344" y="342"/>
                    <a:pt x="126" y="86"/>
                  </a:cubicBezTo>
                  <a:close/>
                  <a:moveTo>
                    <a:pt x="1114" y="1187"/>
                  </a:moveTo>
                  <a:lnTo>
                    <a:pt x="1114" y="1187"/>
                  </a:lnTo>
                  <a:cubicBezTo>
                    <a:pt x="1058" y="1323"/>
                    <a:pt x="1004" y="1455"/>
                    <a:pt x="955" y="1584"/>
                  </a:cubicBezTo>
                  <a:cubicBezTo>
                    <a:pt x="1144" y="1785"/>
                    <a:pt x="1336" y="1984"/>
                    <a:pt x="1532" y="2180"/>
                  </a:cubicBezTo>
                  <a:cubicBezTo>
                    <a:pt x="2067" y="2715"/>
                    <a:pt x="2620" y="3231"/>
                    <a:pt x="3189" y="3729"/>
                  </a:cubicBezTo>
                  <a:cubicBezTo>
                    <a:pt x="3334" y="3692"/>
                    <a:pt x="3484" y="3651"/>
                    <a:pt x="3636" y="3606"/>
                  </a:cubicBezTo>
                  <a:cubicBezTo>
                    <a:pt x="3005" y="3064"/>
                    <a:pt x="2399" y="2494"/>
                    <a:pt x="1812" y="1903"/>
                  </a:cubicBezTo>
                  <a:cubicBezTo>
                    <a:pt x="1577" y="1668"/>
                    <a:pt x="1344" y="1427"/>
                    <a:pt x="1114" y="1187"/>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0">
              <a:extLst>
                <a:ext uri="{FF2B5EF4-FFF2-40B4-BE49-F238E27FC236}">
                  <a16:creationId xmlns:a16="http://schemas.microsoft.com/office/drawing/2014/main" id="{B8E478A5-2C00-8174-7B14-4051821AEE0C}"/>
                </a:ext>
              </a:extLst>
            </p:cNvPr>
            <p:cNvSpPr/>
            <p:nvPr/>
          </p:nvSpPr>
          <p:spPr>
            <a:xfrm>
              <a:off x="4814350" y="969175"/>
              <a:ext cx="12075" cy="18550"/>
            </a:xfrm>
            <a:custGeom>
              <a:avLst/>
              <a:gdLst/>
              <a:ahLst/>
              <a:cxnLst/>
              <a:rect l="l" t="t" r="r" b="b"/>
              <a:pathLst>
                <a:path w="483" h="742" extrusionOk="0">
                  <a:moveTo>
                    <a:pt x="165" y="0"/>
                  </a:moveTo>
                  <a:cubicBezTo>
                    <a:pt x="106" y="135"/>
                    <a:pt x="52" y="268"/>
                    <a:pt x="1" y="398"/>
                  </a:cubicBezTo>
                  <a:cubicBezTo>
                    <a:pt x="106" y="513"/>
                    <a:pt x="214" y="629"/>
                    <a:pt x="320" y="742"/>
                  </a:cubicBezTo>
                  <a:cubicBezTo>
                    <a:pt x="372" y="614"/>
                    <a:pt x="426" y="479"/>
                    <a:pt x="482" y="342"/>
                  </a:cubicBezTo>
                  <a:cubicBezTo>
                    <a:pt x="376" y="229"/>
                    <a:pt x="271" y="116"/>
                    <a:pt x="165" y="0"/>
                  </a:cubicBezTo>
                  <a:close/>
                </a:path>
              </a:pathLst>
            </a:custGeom>
            <a:solidFill>
              <a:srgbClr val="DB98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0">
              <a:extLst>
                <a:ext uri="{FF2B5EF4-FFF2-40B4-BE49-F238E27FC236}">
                  <a16:creationId xmlns:a16="http://schemas.microsoft.com/office/drawing/2014/main" id="{F0D452FA-116D-95C3-42CB-98918EA9192D}"/>
                </a:ext>
              </a:extLst>
            </p:cNvPr>
            <p:cNvSpPr/>
            <p:nvPr/>
          </p:nvSpPr>
          <p:spPr>
            <a:xfrm>
              <a:off x="4881975" y="1043250"/>
              <a:ext cx="80250" cy="56425"/>
            </a:xfrm>
            <a:custGeom>
              <a:avLst/>
              <a:gdLst/>
              <a:ahLst/>
              <a:cxnLst/>
              <a:rect l="l" t="t" r="r" b="b"/>
              <a:pathLst>
                <a:path w="3210" h="2257" extrusionOk="0">
                  <a:moveTo>
                    <a:pt x="534" y="0"/>
                  </a:moveTo>
                  <a:cubicBezTo>
                    <a:pt x="352" y="20"/>
                    <a:pt x="175" y="40"/>
                    <a:pt x="1" y="54"/>
                  </a:cubicBezTo>
                  <a:cubicBezTo>
                    <a:pt x="465" y="454"/>
                    <a:pt x="944" y="837"/>
                    <a:pt x="1432" y="1205"/>
                  </a:cubicBezTo>
                  <a:cubicBezTo>
                    <a:pt x="1925" y="1574"/>
                    <a:pt x="2431" y="1930"/>
                    <a:pt x="2954" y="2256"/>
                  </a:cubicBezTo>
                  <a:lnTo>
                    <a:pt x="3209" y="2003"/>
                  </a:lnTo>
                  <a:cubicBezTo>
                    <a:pt x="2677" y="1662"/>
                    <a:pt x="2161" y="1294"/>
                    <a:pt x="1658" y="906"/>
                  </a:cubicBezTo>
                  <a:cubicBezTo>
                    <a:pt x="1275" y="614"/>
                    <a:pt x="899" y="312"/>
                    <a:pt x="5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0">
              <a:extLst>
                <a:ext uri="{FF2B5EF4-FFF2-40B4-BE49-F238E27FC236}">
                  <a16:creationId xmlns:a16="http://schemas.microsoft.com/office/drawing/2014/main" id="{26DDF765-5EBF-5BB8-2F18-591A45068742}"/>
                </a:ext>
              </a:extLst>
            </p:cNvPr>
            <p:cNvSpPr/>
            <p:nvPr/>
          </p:nvSpPr>
          <p:spPr>
            <a:xfrm>
              <a:off x="4881975" y="1043250"/>
              <a:ext cx="13350" cy="1375"/>
            </a:xfrm>
            <a:custGeom>
              <a:avLst/>
              <a:gdLst/>
              <a:ahLst/>
              <a:cxnLst/>
              <a:rect l="l" t="t" r="r" b="b"/>
              <a:pathLst>
                <a:path w="534" h="55" extrusionOk="0">
                  <a:moveTo>
                    <a:pt x="531" y="0"/>
                  </a:moveTo>
                  <a:cubicBezTo>
                    <a:pt x="352" y="20"/>
                    <a:pt x="175" y="40"/>
                    <a:pt x="1" y="54"/>
                  </a:cubicBezTo>
                  <a:cubicBezTo>
                    <a:pt x="175" y="40"/>
                    <a:pt x="352" y="20"/>
                    <a:pt x="534" y="0"/>
                  </a:cubicBez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0">
              <a:extLst>
                <a:ext uri="{FF2B5EF4-FFF2-40B4-BE49-F238E27FC236}">
                  <a16:creationId xmlns:a16="http://schemas.microsoft.com/office/drawing/2014/main" id="{76C857BA-202D-6272-EBC8-FACA90470958}"/>
                </a:ext>
              </a:extLst>
            </p:cNvPr>
            <p:cNvSpPr/>
            <p:nvPr/>
          </p:nvSpPr>
          <p:spPr>
            <a:xfrm>
              <a:off x="4878250" y="1038200"/>
              <a:ext cx="17025" cy="6350"/>
            </a:xfrm>
            <a:custGeom>
              <a:avLst/>
              <a:gdLst/>
              <a:ahLst/>
              <a:cxnLst/>
              <a:rect l="l" t="t" r="r" b="b"/>
              <a:pathLst>
                <a:path w="681" h="254" extrusionOk="0">
                  <a:moveTo>
                    <a:pt x="447" y="1"/>
                  </a:moveTo>
                  <a:lnTo>
                    <a:pt x="447" y="3"/>
                  </a:lnTo>
                  <a:cubicBezTo>
                    <a:pt x="295" y="48"/>
                    <a:pt x="147" y="87"/>
                    <a:pt x="0" y="126"/>
                  </a:cubicBezTo>
                  <a:lnTo>
                    <a:pt x="150" y="254"/>
                  </a:lnTo>
                  <a:cubicBezTo>
                    <a:pt x="322" y="239"/>
                    <a:pt x="498" y="222"/>
                    <a:pt x="680" y="200"/>
                  </a:cubicBezTo>
                  <a:cubicBezTo>
                    <a:pt x="602" y="134"/>
                    <a:pt x="523" y="67"/>
                    <a:pt x="447" y="1"/>
                  </a:cubicBez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0">
              <a:extLst>
                <a:ext uri="{FF2B5EF4-FFF2-40B4-BE49-F238E27FC236}">
                  <a16:creationId xmlns:a16="http://schemas.microsoft.com/office/drawing/2014/main" id="{BB302005-FBCC-2663-7648-0A3A7E419F37}"/>
                </a:ext>
              </a:extLst>
            </p:cNvPr>
            <p:cNvSpPr/>
            <p:nvPr/>
          </p:nvSpPr>
          <p:spPr>
            <a:xfrm>
              <a:off x="5040750" y="995075"/>
              <a:ext cx="8300" cy="12475"/>
            </a:xfrm>
            <a:custGeom>
              <a:avLst/>
              <a:gdLst/>
              <a:ahLst/>
              <a:cxnLst/>
              <a:rect l="l" t="t" r="r" b="b"/>
              <a:pathLst>
                <a:path w="332" h="499" extrusionOk="0">
                  <a:moveTo>
                    <a:pt x="0" y="0"/>
                  </a:moveTo>
                  <a:cubicBezTo>
                    <a:pt x="106" y="165"/>
                    <a:pt x="206" y="332"/>
                    <a:pt x="307" y="499"/>
                  </a:cubicBezTo>
                  <a:lnTo>
                    <a:pt x="332" y="474"/>
                  </a:lnTo>
                  <a:cubicBezTo>
                    <a:pt x="224" y="315"/>
                    <a:pt x="113" y="157"/>
                    <a:pt x="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0">
              <a:extLst>
                <a:ext uri="{FF2B5EF4-FFF2-40B4-BE49-F238E27FC236}">
                  <a16:creationId xmlns:a16="http://schemas.microsoft.com/office/drawing/2014/main" id="{EECA3C69-C8FF-B20A-C54D-9F3D4B85BBBA}"/>
                </a:ext>
              </a:extLst>
            </p:cNvPr>
            <p:cNvSpPr/>
            <p:nvPr/>
          </p:nvSpPr>
          <p:spPr>
            <a:xfrm>
              <a:off x="5040750" y="995075"/>
              <a:ext cx="25" cy="25"/>
            </a:xfrm>
            <a:custGeom>
              <a:avLst/>
              <a:gdLst/>
              <a:ahLst/>
              <a:cxnLst/>
              <a:rect l="l" t="t" r="r" b="b"/>
              <a:pathLst>
                <a:path w="1" h="1" extrusionOk="0">
                  <a:moveTo>
                    <a:pt x="0" y="0"/>
                  </a:moveTo>
                  <a:lnTo>
                    <a:pt x="0" y="0"/>
                  </a:lnTo>
                  <a:lnTo>
                    <a:pt x="0" y="0"/>
                  </a:lnTo>
                  <a:lnTo>
                    <a:pt x="0" y="0"/>
                  </a:lnTo>
                  <a:close/>
                </a:path>
              </a:pathLst>
            </a:custGeom>
            <a:solidFill>
              <a:srgbClr val="D29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0">
              <a:extLst>
                <a:ext uri="{FF2B5EF4-FFF2-40B4-BE49-F238E27FC236}">
                  <a16:creationId xmlns:a16="http://schemas.microsoft.com/office/drawing/2014/main" id="{6E1BCED5-DDE6-B771-3EB6-87D01EBD2FA3}"/>
                </a:ext>
              </a:extLst>
            </p:cNvPr>
            <p:cNvSpPr/>
            <p:nvPr/>
          </p:nvSpPr>
          <p:spPr>
            <a:xfrm>
              <a:off x="4957950" y="1008450"/>
              <a:ext cx="131775" cy="129375"/>
            </a:xfrm>
            <a:custGeom>
              <a:avLst/>
              <a:gdLst/>
              <a:ahLst/>
              <a:cxnLst/>
              <a:rect l="l" t="t" r="r" b="b"/>
              <a:pathLst>
                <a:path w="5271" h="5175" extrusionOk="0">
                  <a:moveTo>
                    <a:pt x="3680" y="0"/>
                  </a:moveTo>
                  <a:cubicBezTo>
                    <a:pt x="3681" y="1"/>
                    <a:pt x="3681" y="1"/>
                    <a:pt x="3681" y="2"/>
                  </a:cubicBezTo>
                  <a:lnTo>
                    <a:pt x="3681" y="2"/>
                  </a:lnTo>
                  <a:lnTo>
                    <a:pt x="3683" y="0"/>
                  </a:lnTo>
                  <a:close/>
                  <a:moveTo>
                    <a:pt x="5222" y="3385"/>
                  </a:moveTo>
                  <a:lnTo>
                    <a:pt x="5219" y="3388"/>
                  </a:lnTo>
                  <a:cubicBezTo>
                    <a:pt x="5219" y="3388"/>
                    <a:pt x="5219" y="3388"/>
                    <a:pt x="5219" y="3388"/>
                  </a:cubicBezTo>
                  <a:lnTo>
                    <a:pt x="5219" y="3388"/>
                  </a:lnTo>
                  <a:lnTo>
                    <a:pt x="5222" y="3385"/>
                  </a:lnTo>
                  <a:close/>
                  <a:moveTo>
                    <a:pt x="3681" y="2"/>
                  </a:moveTo>
                  <a:lnTo>
                    <a:pt x="3656" y="27"/>
                  </a:lnTo>
                  <a:cubicBezTo>
                    <a:pt x="3906" y="452"/>
                    <a:pt x="4142" y="887"/>
                    <a:pt x="4355" y="1328"/>
                  </a:cubicBezTo>
                  <a:cubicBezTo>
                    <a:pt x="4655" y="1969"/>
                    <a:pt x="4917" y="2639"/>
                    <a:pt x="5016" y="3329"/>
                  </a:cubicBezTo>
                  <a:cubicBezTo>
                    <a:pt x="5018" y="3358"/>
                    <a:pt x="5023" y="3390"/>
                    <a:pt x="5025" y="3420"/>
                  </a:cubicBezTo>
                  <a:lnTo>
                    <a:pt x="5197" y="3250"/>
                  </a:lnTo>
                  <a:cubicBezTo>
                    <a:pt x="5131" y="2909"/>
                    <a:pt x="5030" y="2578"/>
                    <a:pt x="4900" y="2259"/>
                  </a:cubicBezTo>
                  <a:cubicBezTo>
                    <a:pt x="4768" y="1925"/>
                    <a:pt x="4618" y="1598"/>
                    <a:pt x="4449" y="1282"/>
                  </a:cubicBezTo>
                  <a:cubicBezTo>
                    <a:pt x="4216" y="840"/>
                    <a:pt x="3958" y="414"/>
                    <a:pt x="3681" y="2"/>
                  </a:cubicBezTo>
                  <a:close/>
                  <a:moveTo>
                    <a:pt x="254" y="3447"/>
                  </a:moveTo>
                  <a:lnTo>
                    <a:pt x="254" y="3449"/>
                  </a:lnTo>
                  <a:lnTo>
                    <a:pt x="1" y="3702"/>
                  </a:lnTo>
                  <a:cubicBezTo>
                    <a:pt x="57" y="3739"/>
                    <a:pt x="116" y="3773"/>
                    <a:pt x="175" y="3810"/>
                  </a:cubicBezTo>
                  <a:cubicBezTo>
                    <a:pt x="789" y="4183"/>
                    <a:pt x="1429" y="4522"/>
                    <a:pt x="2107" y="4785"/>
                  </a:cubicBezTo>
                  <a:cubicBezTo>
                    <a:pt x="2446" y="4920"/>
                    <a:pt x="2794" y="5028"/>
                    <a:pt x="3153" y="5104"/>
                  </a:cubicBezTo>
                  <a:cubicBezTo>
                    <a:pt x="3204" y="5114"/>
                    <a:pt x="3253" y="5121"/>
                    <a:pt x="3305" y="5131"/>
                  </a:cubicBezTo>
                  <a:lnTo>
                    <a:pt x="3486" y="4947"/>
                  </a:lnTo>
                  <a:lnTo>
                    <a:pt x="3543" y="4890"/>
                  </a:lnTo>
                  <a:cubicBezTo>
                    <a:pt x="3432" y="4875"/>
                    <a:pt x="3320" y="4853"/>
                    <a:pt x="3209" y="4829"/>
                  </a:cubicBezTo>
                  <a:cubicBezTo>
                    <a:pt x="2870" y="4748"/>
                    <a:pt x="2539" y="4637"/>
                    <a:pt x="2220" y="4500"/>
                  </a:cubicBezTo>
                  <a:cubicBezTo>
                    <a:pt x="1577" y="4227"/>
                    <a:pt x="956" y="3884"/>
                    <a:pt x="357" y="3511"/>
                  </a:cubicBezTo>
                  <a:lnTo>
                    <a:pt x="254" y="3447"/>
                  </a:lnTo>
                  <a:close/>
                  <a:moveTo>
                    <a:pt x="5219" y="3388"/>
                  </a:moveTo>
                  <a:lnTo>
                    <a:pt x="5040" y="3570"/>
                  </a:lnTo>
                  <a:cubicBezTo>
                    <a:pt x="5055" y="3832"/>
                    <a:pt x="5033" y="4092"/>
                    <a:pt x="4937" y="4323"/>
                  </a:cubicBezTo>
                  <a:cubicBezTo>
                    <a:pt x="4878" y="4470"/>
                    <a:pt x="4778" y="4600"/>
                    <a:pt x="4652" y="4696"/>
                  </a:cubicBezTo>
                  <a:cubicBezTo>
                    <a:pt x="4522" y="4789"/>
                    <a:pt x="4373" y="4853"/>
                    <a:pt x="4215" y="4883"/>
                  </a:cubicBezTo>
                  <a:cubicBezTo>
                    <a:pt x="4105" y="4905"/>
                    <a:pt x="3992" y="4915"/>
                    <a:pt x="3879" y="4915"/>
                  </a:cubicBezTo>
                  <a:cubicBezTo>
                    <a:pt x="3823" y="4915"/>
                    <a:pt x="3766" y="4912"/>
                    <a:pt x="3710" y="4907"/>
                  </a:cubicBezTo>
                  <a:lnTo>
                    <a:pt x="3580" y="5040"/>
                  </a:lnTo>
                  <a:lnTo>
                    <a:pt x="3467" y="5153"/>
                  </a:lnTo>
                  <a:cubicBezTo>
                    <a:pt x="3582" y="5168"/>
                    <a:pt x="3700" y="5175"/>
                    <a:pt x="3815" y="5175"/>
                  </a:cubicBezTo>
                  <a:cubicBezTo>
                    <a:pt x="3968" y="5175"/>
                    <a:pt x="4120" y="5160"/>
                    <a:pt x="4267" y="5131"/>
                  </a:cubicBezTo>
                  <a:cubicBezTo>
                    <a:pt x="4458" y="5089"/>
                    <a:pt x="4640" y="5006"/>
                    <a:pt x="4797" y="4885"/>
                  </a:cubicBezTo>
                  <a:cubicBezTo>
                    <a:pt x="4952" y="4760"/>
                    <a:pt x="5072" y="4596"/>
                    <a:pt x="5143" y="4409"/>
                  </a:cubicBezTo>
                  <a:cubicBezTo>
                    <a:pt x="5271" y="4073"/>
                    <a:pt x="5266" y="3722"/>
                    <a:pt x="5219" y="338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0">
              <a:extLst>
                <a:ext uri="{FF2B5EF4-FFF2-40B4-BE49-F238E27FC236}">
                  <a16:creationId xmlns:a16="http://schemas.microsoft.com/office/drawing/2014/main" id="{9C60FBDD-6ABB-8125-C93F-A8ABC81740EA}"/>
                </a:ext>
              </a:extLst>
            </p:cNvPr>
            <p:cNvSpPr/>
            <p:nvPr/>
          </p:nvSpPr>
          <p:spPr>
            <a:xfrm>
              <a:off x="5087925" y="996850"/>
              <a:ext cx="94850" cy="96250"/>
            </a:xfrm>
            <a:custGeom>
              <a:avLst/>
              <a:gdLst/>
              <a:ahLst/>
              <a:cxnLst/>
              <a:rect l="l" t="t" r="r" b="b"/>
              <a:pathLst>
                <a:path w="3794" h="3850" extrusionOk="0">
                  <a:moveTo>
                    <a:pt x="3793" y="1"/>
                  </a:moveTo>
                  <a:lnTo>
                    <a:pt x="3793" y="1"/>
                  </a:lnTo>
                  <a:cubicBezTo>
                    <a:pt x="3376" y="398"/>
                    <a:pt x="2961" y="801"/>
                    <a:pt x="2549" y="1203"/>
                  </a:cubicBezTo>
                  <a:lnTo>
                    <a:pt x="2603" y="1228"/>
                  </a:lnTo>
                  <a:cubicBezTo>
                    <a:pt x="3000" y="820"/>
                    <a:pt x="3398" y="410"/>
                    <a:pt x="3793" y="1"/>
                  </a:cubicBezTo>
                  <a:close/>
                  <a:moveTo>
                    <a:pt x="2291" y="1454"/>
                  </a:moveTo>
                  <a:cubicBezTo>
                    <a:pt x="1869" y="1866"/>
                    <a:pt x="1447" y="2278"/>
                    <a:pt x="1027" y="2693"/>
                  </a:cubicBezTo>
                  <a:lnTo>
                    <a:pt x="1" y="3712"/>
                  </a:lnTo>
                  <a:cubicBezTo>
                    <a:pt x="3" y="3729"/>
                    <a:pt x="6" y="3746"/>
                    <a:pt x="8" y="3761"/>
                  </a:cubicBezTo>
                  <a:cubicBezTo>
                    <a:pt x="13" y="3793"/>
                    <a:pt x="18" y="3820"/>
                    <a:pt x="23" y="3849"/>
                  </a:cubicBezTo>
                  <a:lnTo>
                    <a:pt x="1098" y="2764"/>
                  </a:lnTo>
                  <a:cubicBezTo>
                    <a:pt x="1518" y="2337"/>
                    <a:pt x="1937" y="1910"/>
                    <a:pt x="2357" y="1483"/>
                  </a:cubicBezTo>
                  <a:lnTo>
                    <a:pt x="2291" y="145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0">
              <a:extLst>
                <a:ext uri="{FF2B5EF4-FFF2-40B4-BE49-F238E27FC236}">
                  <a16:creationId xmlns:a16="http://schemas.microsoft.com/office/drawing/2014/main" id="{90075FF7-25F0-C3E5-14DB-43E468E585D8}"/>
                </a:ext>
              </a:extLst>
            </p:cNvPr>
            <p:cNvSpPr/>
            <p:nvPr/>
          </p:nvSpPr>
          <p:spPr>
            <a:xfrm>
              <a:off x="5145175" y="1026925"/>
              <a:ext cx="7825" cy="7075"/>
            </a:xfrm>
            <a:custGeom>
              <a:avLst/>
              <a:gdLst/>
              <a:ahLst/>
              <a:cxnLst/>
              <a:rect l="l" t="t" r="r" b="b"/>
              <a:pathLst>
                <a:path w="313" h="283" extrusionOk="0">
                  <a:moveTo>
                    <a:pt x="256" y="0"/>
                  </a:moveTo>
                  <a:lnTo>
                    <a:pt x="1" y="251"/>
                  </a:lnTo>
                  <a:lnTo>
                    <a:pt x="65" y="283"/>
                  </a:lnTo>
                  <a:lnTo>
                    <a:pt x="313" y="30"/>
                  </a:lnTo>
                  <a:lnTo>
                    <a:pt x="256" y="3"/>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0">
              <a:extLst>
                <a:ext uri="{FF2B5EF4-FFF2-40B4-BE49-F238E27FC236}">
                  <a16:creationId xmlns:a16="http://schemas.microsoft.com/office/drawing/2014/main" id="{3DDC2083-B7E8-4A45-2924-FE30BD4BAA9F}"/>
                </a:ext>
              </a:extLst>
            </p:cNvPr>
            <p:cNvSpPr/>
            <p:nvPr/>
          </p:nvSpPr>
          <p:spPr>
            <a:xfrm>
              <a:off x="4909900" y="1094000"/>
              <a:ext cx="174075" cy="175700"/>
            </a:xfrm>
            <a:custGeom>
              <a:avLst/>
              <a:gdLst/>
              <a:ahLst/>
              <a:cxnLst/>
              <a:rect l="l" t="t" r="r" b="b"/>
              <a:pathLst>
                <a:path w="6963" h="7028" extrusionOk="0">
                  <a:moveTo>
                    <a:pt x="6950" y="0"/>
                  </a:moveTo>
                  <a:lnTo>
                    <a:pt x="5467" y="1473"/>
                  </a:lnTo>
                  <a:cubicBezTo>
                    <a:pt x="5521" y="1480"/>
                    <a:pt x="5578" y="1485"/>
                    <a:pt x="5634" y="1490"/>
                  </a:cubicBezTo>
                  <a:lnTo>
                    <a:pt x="6962" y="150"/>
                  </a:lnTo>
                  <a:cubicBezTo>
                    <a:pt x="6960" y="101"/>
                    <a:pt x="6955" y="52"/>
                    <a:pt x="6950" y="0"/>
                  </a:cubicBezTo>
                  <a:close/>
                  <a:moveTo>
                    <a:pt x="5227" y="1709"/>
                  </a:moveTo>
                  <a:lnTo>
                    <a:pt x="2691" y="4264"/>
                  </a:lnTo>
                  <a:lnTo>
                    <a:pt x="1341" y="5641"/>
                  </a:lnTo>
                  <a:lnTo>
                    <a:pt x="1" y="7028"/>
                  </a:lnTo>
                  <a:lnTo>
                    <a:pt x="1388" y="5688"/>
                  </a:lnTo>
                  <a:lnTo>
                    <a:pt x="2765" y="4338"/>
                  </a:lnTo>
                  <a:lnTo>
                    <a:pt x="5391" y="1733"/>
                  </a:lnTo>
                  <a:cubicBezTo>
                    <a:pt x="5335" y="1726"/>
                    <a:pt x="5281" y="1719"/>
                    <a:pt x="5229" y="170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0">
              <a:extLst>
                <a:ext uri="{FF2B5EF4-FFF2-40B4-BE49-F238E27FC236}">
                  <a16:creationId xmlns:a16="http://schemas.microsoft.com/office/drawing/2014/main" id="{D4A17DAA-C2AD-8881-5B1F-265E395AFC03}"/>
                </a:ext>
              </a:extLst>
            </p:cNvPr>
            <p:cNvSpPr/>
            <p:nvPr/>
          </p:nvSpPr>
          <p:spPr>
            <a:xfrm>
              <a:off x="5040550" y="1089625"/>
              <a:ext cx="47950" cy="47650"/>
            </a:xfrm>
            <a:custGeom>
              <a:avLst/>
              <a:gdLst/>
              <a:ahLst/>
              <a:cxnLst/>
              <a:rect l="l" t="t" r="r" b="b"/>
              <a:pathLst>
                <a:path w="1918" h="1906" extrusionOk="0">
                  <a:moveTo>
                    <a:pt x="1896" y="1"/>
                  </a:moveTo>
                  <a:lnTo>
                    <a:pt x="1724" y="173"/>
                  </a:lnTo>
                  <a:cubicBezTo>
                    <a:pt x="1729" y="222"/>
                    <a:pt x="1734" y="273"/>
                    <a:pt x="1736" y="323"/>
                  </a:cubicBezTo>
                  <a:lnTo>
                    <a:pt x="1918" y="138"/>
                  </a:lnTo>
                  <a:cubicBezTo>
                    <a:pt x="1915" y="109"/>
                    <a:pt x="1910" y="80"/>
                    <a:pt x="1906" y="50"/>
                  </a:cubicBezTo>
                  <a:cubicBezTo>
                    <a:pt x="1903" y="35"/>
                    <a:pt x="1901" y="18"/>
                    <a:pt x="1896" y="1"/>
                  </a:cubicBezTo>
                  <a:close/>
                  <a:moveTo>
                    <a:pt x="239" y="1643"/>
                  </a:moveTo>
                  <a:lnTo>
                    <a:pt x="185" y="1700"/>
                  </a:lnTo>
                  <a:lnTo>
                    <a:pt x="1" y="1884"/>
                  </a:lnTo>
                  <a:cubicBezTo>
                    <a:pt x="55" y="1891"/>
                    <a:pt x="109" y="1901"/>
                    <a:pt x="163" y="1906"/>
                  </a:cubicBezTo>
                  <a:lnTo>
                    <a:pt x="276" y="1793"/>
                  </a:lnTo>
                  <a:lnTo>
                    <a:pt x="408" y="1660"/>
                  </a:lnTo>
                  <a:cubicBezTo>
                    <a:pt x="352" y="1658"/>
                    <a:pt x="295" y="1650"/>
                    <a:pt x="239" y="164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0">
              <a:extLst>
                <a:ext uri="{FF2B5EF4-FFF2-40B4-BE49-F238E27FC236}">
                  <a16:creationId xmlns:a16="http://schemas.microsoft.com/office/drawing/2014/main" id="{F541B48D-598B-CE52-4358-156A9A097811}"/>
                </a:ext>
              </a:extLst>
            </p:cNvPr>
            <p:cNvSpPr/>
            <p:nvPr/>
          </p:nvSpPr>
          <p:spPr>
            <a:xfrm>
              <a:off x="5049025" y="915175"/>
              <a:ext cx="93050" cy="93300"/>
            </a:xfrm>
            <a:custGeom>
              <a:avLst/>
              <a:gdLst/>
              <a:ahLst/>
              <a:cxnLst/>
              <a:rect l="l" t="t" r="r" b="b"/>
              <a:pathLst>
                <a:path w="3722" h="3732" extrusionOk="0">
                  <a:moveTo>
                    <a:pt x="3722" y="0"/>
                  </a:moveTo>
                  <a:lnTo>
                    <a:pt x="1039" y="2642"/>
                  </a:lnTo>
                  <a:lnTo>
                    <a:pt x="1085" y="2676"/>
                  </a:lnTo>
                  <a:lnTo>
                    <a:pt x="3722" y="0"/>
                  </a:lnTo>
                  <a:close/>
                  <a:moveTo>
                    <a:pt x="771" y="2904"/>
                  </a:moveTo>
                  <a:lnTo>
                    <a:pt x="761" y="2914"/>
                  </a:lnTo>
                  <a:lnTo>
                    <a:pt x="1" y="3670"/>
                  </a:lnTo>
                  <a:lnTo>
                    <a:pt x="40" y="3731"/>
                  </a:lnTo>
                  <a:lnTo>
                    <a:pt x="808" y="2958"/>
                  </a:lnTo>
                  <a:lnTo>
                    <a:pt x="823" y="2943"/>
                  </a:lnTo>
                  <a:lnTo>
                    <a:pt x="771" y="29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0">
              <a:extLst>
                <a:ext uri="{FF2B5EF4-FFF2-40B4-BE49-F238E27FC236}">
                  <a16:creationId xmlns:a16="http://schemas.microsoft.com/office/drawing/2014/main" id="{3EC6BA17-22DF-B440-8D58-4536238094A7}"/>
                </a:ext>
              </a:extLst>
            </p:cNvPr>
            <p:cNvSpPr/>
            <p:nvPr/>
          </p:nvSpPr>
          <p:spPr>
            <a:xfrm>
              <a:off x="5068300" y="981200"/>
              <a:ext cx="7925" cy="7525"/>
            </a:xfrm>
            <a:custGeom>
              <a:avLst/>
              <a:gdLst/>
              <a:ahLst/>
              <a:cxnLst/>
              <a:rect l="l" t="t" r="r" b="b"/>
              <a:pathLst>
                <a:path w="317" h="301" extrusionOk="0">
                  <a:moveTo>
                    <a:pt x="268" y="1"/>
                  </a:moveTo>
                  <a:lnTo>
                    <a:pt x="0" y="263"/>
                  </a:lnTo>
                  <a:lnTo>
                    <a:pt x="54" y="300"/>
                  </a:lnTo>
                  <a:lnTo>
                    <a:pt x="317" y="35"/>
                  </a:lnTo>
                  <a:lnTo>
                    <a:pt x="2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a:extLst>
                <a:ext uri="{FF2B5EF4-FFF2-40B4-BE49-F238E27FC236}">
                  <a16:creationId xmlns:a16="http://schemas.microsoft.com/office/drawing/2014/main" id="{211BF00E-8094-9AE0-6B05-20FAB7574819}"/>
                </a:ext>
              </a:extLst>
            </p:cNvPr>
            <p:cNvSpPr/>
            <p:nvPr/>
          </p:nvSpPr>
          <p:spPr>
            <a:xfrm>
              <a:off x="4554900" y="1007525"/>
              <a:ext cx="494525" cy="494825"/>
            </a:xfrm>
            <a:custGeom>
              <a:avLst/>
              <a:gdLst/>
              <a:ahLst/>
              <a:cxnLst/>
              <a:rect l="l" t="t" r="r" b="b"/>
              <a:pathLst>
                <a:path w="19781" h="19793" extrusionOk="0">
                  <a:moveTo>
                    <a:pt x="19741" y="1"/>
                  </a:moveTo>
                  <a:lnTo>
                    <a:pt x="17586" y="2146"/>
                  </a:lnTo>
                  <a:lnTo>
                    <a:pt x="16292" y="3432"/>
                  </a:lnTo>
                  <a:cubicBezTo>
                    <a:pt x="16319" y="3449"/>
                    <a:pt x="16349" y="3469"/>
                    <a:pt x="16376" y="3486"/>
                  </a:cubicBezTo>
                  <a:lnTo>
                    <a:pt x="17647" y="2210"/>
                  </a:lnTo>
                  <a:lnTo>
                    <a:pt x="19780" y="64"/>
                  </a:lnTo>
                  <a:lnTo>
                    <a:pt x="19743" y="3"/>
                  </a:lnTo>
                  <a:lnTo>
                    <a:pt x="19741" y="1"/>
                  </a:lnTo>
                  <a:close/>
                  <a:moveTo>
                    <a:pt x="16037" y="3685"/>
                  </a:moveTo>
                  <a:lnTo>
                    <a:pt x="11697" y="8003"/>
                  </a:lnTo>
                  <a:lnTo>
                    <a:pt x="5840" y="13889"/>
                  </a:lnTo>
                  <a:lnTo>
                    <a:pt x="2914" y="16832"/>
                  </a:lnTo>
                  <a:lnTo>
                    <a:pt x="1" y="19793"/>
                  </a:lnTo>
                  <a:lnTo>
                    <a:pt x="2958" y="16879"/>
                  </a:lnTo>
                  <a:lnTo>
                    <a:pt x="5902" y="13950"/>
                  </a:lnTo>
                  <a:lnTo>
                    <a:pt x="11790" y="8096"/>
                  </a:lnTo>
                  <a:lnTo>
                    <a:pt x="16123" y="3739"/>
                  </a:lnTo>
                  <a:lnTo>
                    <a:pt x="16037" y="368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a:extLst>
                <a:ext uri="{FF2B5EF4-FFF2-40B4-BE49-F238E27FC236}">
                  <a16:creationId xmlns:a16="http://schemas.microsoft.com/office/drawing/2014/main" id="{DCD0A634-743F-BE6E-282D-3D626E446A80}"/>
                </a:ext>
              </a:extLst>
            </p:cNvPr>
            <p:cNvSpPr/>
            <p:nvPr/>
          </p:nvSpPr>
          <p:spPr>
            <a:xfrm>
              <a:off x="4955800" y="1006925"/>
              <a:ext cx="94225" cy="94100"/>
            </a:xfrm>
            <a:custGeom>
              <a:avLst/>
              <a:gdLst/>
              <a:ahLst/>
              <a:cxnLst/>
              <a:rect l="l" t="t" r="r" b="b"/>
              <a:pathLst>
                <a:path w="3769" h="3764" extrusionOk="0">
                  <a:moveTo>
                    <a:pt x="3730" y="0"/>
                  </a:moveTo>
                  <a:lnTo>
                    <a:pt x="3705" y="25"/>
                  </a:lnTo>
                  <a:lnTo>
                    <a:pt x="3742" y="86"/>
                  </a:lnTo>
                  <a:lnTo>
                    <a:pt x="3769" y="59"/>
                  </a:lnTo>
                  <a:lnTo>
                    <a:pt x="3730" y="0"/>
                  </a:lnTo>
                  <a:close/>
                  <a:moveTo>
                    <a:pt x="256" y="3456"/>
                  </a:moveTo>
                  <a:lnTo>
                    <a:pt x="1" y="3709"/>
                  </a:lnTo>
                  <a:lnTo>
                    <a:pt x="87" y="3763"/>
                  </a:lnTo>
                  <a:lnTo>
                    <a:pt x="340" y="3510"/>
                  </a:lnTo>
                  <a:cubicBezTo>
                    <a:pt x="313" y="3493"/>
                    <a:pt x="283" y="3473"/>
                    <a:pt x="256" y="345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0">
              <a:extLst>
                <a:ext uri="{FF2B5EF4-FFF2-40B4-BE49-F238E27FC236}">
                  <a16:creationId xmlns:a16="http://schemas.microsoft.com/office/drawing/2014/main" id="{973A58E0-D039-49C7-6DE8-4EA58D38BFBE}"/>
                </a:ext>
              </a:extLst>
            </p:cNvPr>
            <p:cNvSpPr/>
            <p:nvPr/>
          </p:nvSpPr>
          <p:spPr>
            <a:xfrm>
              <a:off x="4464025" y="1232075"/>
              <a:ext cx="234075" cy="234075"/>
            </a:xfrm>
            <a:custGeom>
              <a:avLst/>
              <a:gdLst/>
              <a:ahLst/>
              <a:cxnLst/>
              <a:rect l="l" t="t" r="r" b="b"/>
              <a:pathLst>
                <a:path w="9363" h="9363" extrusionOk="0">
                  <a:moveTo>
                    <a:pt x="9362" y="0"/>
                  </a:moveTo>
                  <a:lnTo>
                    <a:pt x="9362" y="0"/>
                  </a:lnTo>
                  <a:cubicBezTo>
                    <a:pt x="8562" y="761"/>
                    <a:pt x="7774" y="1532"/>
                    <a:pt x="6986" y="2305"/>
                  </a:cubicBezTo>
                  <a:lnTo>
                    <a:pt x="4635" y="4635"/>
                  </a:lnTo>
                  <a:lnTo>
                    <a:pt x="2305" y="6986"/>
                  </a:lnTo>
                  <a:lnTo>
                    <a:pt x="1147" y="8169"/>
                  </a:lnTo>
                  <a:lnTo>
                    <a:pt x="0" y="9362"/>
                  </a:lnTo>
                  <a:lnTo>
                    <a:pt x="1193" y="8216"/>
                  </a:lnTo>
                  <a:lnTo>
                    <a:pt x="2376" y="7057"/>
                  </a:lnTo>
                  <a:lnTo>
                    <a:pt x="4728" y="4728"/>
                  </a:lnTo>
                  <a:lnTo>
                    <a:pt x="7057" y="2376"/>
                  </a:lnTo>
                  <a:cubicBezTo>
                    <a:pt x="7831" y="1588"/>
                    <a:pt x="8601" y="798"/>
                    <a:pt x="93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0">
              <a:extLst>
                <a:ext uri="{FF2B5EF4-FFF2-40B4-BE49-F238E27FC236}">
                  <a16:creationId xmlns:a16="http://schemas.microsoft.com/office/drawing/2014/main" id="{3DC85CB7-0C69-8BCB-7BFD-F3E20EDE0011}"/>
                </a:ext>
              </a:extLst>
            </p:cNvPr>
            <p:cNvSpPr/>
            <p:nvPr/>
          </p:nvSpPr>
          <p:spPr>
            <a:xfrm>
              <a:off x="4556800" y="955675"/>
              <a:ext cx="238075" cy="238175"/>
            </a:xfrm>
            <a:custGeom>
              <a:avLst/>
              <a:gdLst/>
              <a:ahLst/>
              <a:cxnLst/>
              <a:rect l="l" t="t" r="r" b="b"/>
              <a:pathLst>
                <a:path w="9523" h="9527" extrusionOk="0">
                  <a:moveTo>
                    <a:pt x="9471" y="0"/>
                  </a:moveTo>
                  <a:cubicBezTo>
                    <a:pt x="9471" y="1"/>
                    <a:pt x="9472" y="1"/>
                    <a:pt x="9472" y="2"/>
                  </a:cubicBezTo>
                  <a:lnTo>
                    <a:pt x="9472" y="2"/>
                  </a:lnTo>
                  <a:cubicBezTo>
                    <a:pt x="9472" y="1"/>
                    <a:pt x="9473" y="1"/>
                    <a:pt x="9473" y="0"/>
                  </a:cubicBezTo>
                  <a:close/>
                  <a:moveTo>
                    <a:pt x="9472" y="2"/>
                  </a:moveTo>
                  <a:cubicBezTo>
                    <a:pt x="9180" y="288"/>
                    <a:pt x="8889" y="573"/>
                    <a:pt x="8599" y="860"/>
                  </a:cubicBezTo>
                  <a:lnTo>
                    <a:pt x="5710" y="3727"/>
                  </a:lnTo>
                  <a:lnTo>
                    <a:pt x="2843" y="6613"/>
                  </a:lnTo>
                  <a:lnTo>
                    <a:pt x="1417" y="8064"/>
                  </a:lnTo>
                  <a:lnTo>
                    <a:pt x="1" y="9527"/>
                  </a:lnTo>
                  <a:lnTo>
                    <a:pt x="1461" y="8111"/>
                  </a:lnTo>
                  <a:lnTo>
                    <a:pt x="2914" y="6684"/>
                  </a:lnTo>
                  <a:lnTo>
                    <a:pt x="5801" y="3817"/>
                  </a:lnTo>
                  <a:lnTo>
                    <a:pt x="8668" y="931"/>
                  </a:lnTo>
                  <a:cubicBezTo>
                    <a:pt x="8953" y="641"/>
                    <a:pt x="9238" y="351"/>
                    <a:pt x="9522" y="62"/>
                  </a:cubicBezTo>
                  <a:cubicBezTo>
                    <a:pt x="9506" y="40"/>
                    <a:pt x="9489" y="21"/>
                    <a:pt x="9472" y="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0">
              <a:extLst>
                <a:ext uri="{FF2B5EF4-FFF2-40B4-BE49-F238E27FC236}">
                  <a16:creationId xmlns:a16="http://schemas.microsoft.com/office/drawing/2014/main" id="{5A02171A-8A2E-40C5-71CF-9BA35F38A2BE}"/>
                </a:ext>
              </a:extLst>
            </p:cNvPr>
            <p:cNvSpPr/>
            <p:nvPr/>
          </p:nvSpPr>
          <p:spPr>
            <a:xfrm>
              <a:off x="4800500" y="931975"/>
              <a:ext cx="18375" cy="18325"/>
            </a:xfrm>
            <a:custGeom>
              <a:avLst/>
              <a:gdLst/>
              <a:ahLst/>
              <a:cxnLst/>
              <a:rect l="l" t="t" r="r" b="b"/>
              <a:pathLst>
                <a:path w="735" h="733" extrusionOk="0">
                  <a:moveTo>
                    <a:pt x="692" y="1"/>
                  </a:moveTo>
                  <a:cubicBezTo>
                    <a:pt x="462" y="227"/>
                    <a:pt x="231" y="453"/>
                    <a:pt x="0" y="676"/>
                  </a:cubicBezTo>
                  <a:lnTo>
                    <a:pt x="47" y="732"/>
                  </a:lnTo>
                  <a:cubicBezTo>
                    <a:pt x="278" y="499"/>
                    <a:pt x="506" y="264"/>
                    <a:pt x="734" y="30"/>
                  </a:cubicBezTo>
                  <a:lnTo>
                    <a:pt x="692" y="1"/>
                  </a:lnTo>
                  <a:close/>
                </a:path>
              </a:pathLst>
            </a:custGeom>
            <a:solidFill>
              <a:srgbClr val="E19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0">
              <a:extLst>
                <a:ext uri="{FF2B5EF4-FFF2-40B4-BE49-F238E27FC236}">
                  <a16:creationId xmlns:a16="http://schemas.microsoft.com/office/drawing/2014/main" id="{2FB3A3C1-B85E-F291-3202-DA0D7D96912E}"/>
                </a:ext>
              </a:extLst>
            </p:cNvPr>
            <p:cNvSpPr/>
            <p:nvPr/>
          </p:nvSpPr>
          <p:spPr>
            <a:xfrm>
              <a:off x="4817800" y="906100"/>
              <a:ext cx="26775" cy="26650"/>
            </a:xfrm>
            <a:custGeom>
              <a:avLst/>
              <a:gdLst/>
              <a:ahLst/>
              <a:cxnLst/>
              <a:rect l="l" t="t" r="r" b="b"/>
              <a:pathLst>
                <a:path w="1071" h="1066" extrusionOk="0">
                  <a:moveTo>
                    <a:pt x="1071" y="0"/>
                  </a:moveTo>
                  <a:lnTo>
                    <a:pt x="1071" y="0"/>
                  </a:lnTo>
                  <a:cubicBezTo>
                    <a:pt x="712" y="344"/>
                    <a:pt x="356" y="690"/>
                    <a:pt x="0" y="1036"/>
                  </a:cubicBezTo>
                  <a:lnTo>
                    <a:pt x="42" y="1065"/>
                  </a:lnTo>
                  <a:cubicBezTo>
                    <a:pt x="386" y="712"/>
                    <a:pt x="729" y="356"/>
                    <a:pt x="1071" y="0"/>
                  </a:cubicBezTo>
                  <a:close/>
                </a:path>
              </a:pathLst>
            </a:custGeom>
            <a:solidFill>
              <a:srgbClr val="FF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0">
              <a:extLst>
                <a:ext uri="{FF2B5EF4-FFF2-40B4-BE49-F238E27FC236}">
                  <a16:creationId xmlns:a16="http://schemas.microsoft.com/office/drawing/2014/main" id="{16C73C9E-0A02-2F3A-CF8D-8B72156B7DF5}"/>
                </a:ext>
              </a:extLst>
            </p:cNvPr>
            <p:cNvSpPr/>
            <p:nvPr/>
          </p:nvSpPr>
          <p:spPr>
            <a:xfrm>
              <a:off x="4793625" y="949600"/>
              <a:ext cx="6150" cy="7625"/>
            </a:xfrm>
            <a:custGeom>
              <a:avLst/>
              <a:gdLst/>
              <a:ahLst/>
              <a:cxnLst/>
              <a:rect l="l" t="t" r="r" b="b"/>
              <a:pathLst>
                <a:path w="246" h="305" extrusionOk="0">
                  <a:moveTo>
                    <a:pt x="246" y="0"/>
                  </a:moveTo>
                  <a:cubicBezTo>
                    <a:pt x="246" y="1"/>
                    <a:pt x="245" y="2"/>
                    <a:pt x="245" y="3"/>
                  </a:cubicBezTo>
                  <a:lnTo>
                    <a:pt x="245" y="3"/>
                  </a:lnTo>
                  <a:cubicBezTo>
                    <a:pt x="245" y="3"/>
                    <a:pt x="246" y="3"/>
                    <a:pt x="246" y="3"/>
                  </a:cubicBezTo>
                  <a:lnTo>
                    <a:pt x="246" y="0"/>
                  </a:lnTo>
                  <a:close/>
                  <a:moveTo>
                    <a:pt x="245" y="3"/>
                  </a:moveTo>
                  <a:lnTo>
                    <a:pt x="245" y="3"/>
                  </a:lnTo>
                  <a:cubicBezTo>
                    <a:pt x="162" y="82"/>
                    <a:pt x="81" y="163"/>
                    <a:pt x="0" y="243"/>
                  </a:cubicBezTo>
                  <a:cubicBezTo>
                    <a:pt x="17" y="263"/>
                    <a:pt x="35" y="283"/>
                    <a:pt x="52" y="305"/>
                  </a:cubicBezTo>
                  <a:lnTo>
                    <a:pt x="231" y="121"/>
                  </a:lnTo>
                  <a:cubicBezTo>
                    <a:pt x="236" y="82"/>
                    <a:pt x="241" y="44"/>
                    <a:pt x="245" y="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0">
              <a:extLst>
                <a:ext uri="{FF2B5EF4-FFF2-40B4-BE49-F238E27FC236}">
                  <a16:creationId xmlns:a16="http://schemas.microsoft.com/office/drawing/2014/main" id="{C6B33ADC-B381-B6F3-E2E7-B8F12D52C1B7}"/>
                </a:ext>
              </a:extLst>
            </p:cNvPr>
            <p:cNvSpPr/>
            <p:nvPr/>
          </p:nvSpPr>
          <p:spPr>
            <a:xfrm>
              <a:off x="4799375" y="948850"/>
              <a:ext cx="2375" cy="3775"/>
            </a:xfrm>
            <a:custGeom>
              <a:avLst/>
              <a:gdLst/>
              <a:ahLst/>
              <a:cxnLst/>
              <a:rect l="l" t="t" r="r" b="b"/>
              <a:pathLst>
                <a:path w="95" h="151" extrusionOk="0">
                  <a:moveTo>
                    <a:pt x="45" y="1"/>
                  </a:moveTo>
                  <a:lnTo>
                    <a:pt x="16" y="33"/>
                  </a:lnTo>
                  <a:cubicBezTo>
                    <a:pt x="11" y="72"/>
                    <a:pt x="6" y="111"/>
                    <a:pt x="1" y="151"/>
                  </a:cubicBezTo>
                  <a:lnTo>
                    <a:pt x="94" y="57"/>
                  </a:lnTo>
                  <a:lnTo>
                    <a:pt x="48" y="3"/>
                  </a:lnTo>
                  <a:lnTo>
                    <a:pt x="45" y="1"/>
                  </a:lnTo>
                  <a:close/>
                </a:path>
              </a:pathLst>
            </a:custGeom>
            <a:solidFill>
              <a:srgbClr val="EABB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0">
              <a:extLst>
                <a:ext uri="{FF2B5EF4-FFF2-40B4-BE49-F238E27FC236}">
                  <a16:creationId xmlns:a16="http://schemas.microsoft.com/office/drawing/2014/main" id="{CF955CC5-0B0A-3822-87DF-12474C302297}"/>
                </a:ext>
              </a:extLst>
            </p:cNvPr>
            <p:cNvSpPr/>
            <p:nvPr/>
          </p:nvSpPr>
          <p:spPr>
            <a:xfrm>
              <a:off x="4319800" y="921975"/>
              <a:ext cx="360000" cy="360075"/>
            </a:xfrm>
            <a:custGeom>
              <a:avLst/>
              <a:gdLst/>
              <a:ahLst/>
              <a:cxnLst/>
              <a:rect l="l" t="t" r="r" b="b"/>
              <a:pathLst>
                <a:path w="14400" h="14403" extrusionOk="0">
                  <a:moveTo>
                    <a:pt x="14400" y="1"/>
                  </a:moveTo>
                  <a:lnTo>
                    <a:pt x="12576" y="1778"/>
                  </a:lnTo>
                  <a:lnTo>
                    <a:pt x="10764" y="3565"/>
                  </a:lnTo>
                  <a:lnTo>
                    <a:pt x="7154" y="7156"/>
                  </a:lnTo>
                  <a:lnTo>
                    <a:pt x="3563" y="10765"/>
                  </a:lnTo>
                  <a:lnTo>
                    <a:pt x="1778" y="12579"/>
                  </a:lnTo>
                  <a:lnTo>
                    <a:pt x="1" y="14402"/>
                  </a:lnTo>
                  <a:lnTo>
                    <a:pt x="1822" y="12625"/>
                  </a:lnTo>
                  <a:lnTo>
                    <a:pt x="3636" y="10838"/>
                  </a:lnTo>
                  <a:lnTo>
                    <a:pt x="7247" y="7247"/>
                  </a:lnTo>
                  <a:lnTo>
                    <a:pt x="10836" y="3639"/>
                  </a:lnTo>
                  <a:lnTo>
                    <a:pt x="12623" y="1825"/>
                  </a:lnTo>
                  <a:lnTo>
                    <a:pt x="1440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0">
              <a:extLst>
                <a:ext uri="{FF2B5EF4-FFF2-40B4-BE49-F238E27FC236}">
                  <a16:creationId xmlns:a16="http://schemas.microsoft.com/office/drawing/2014/main" id="{067A1360-06C5-C4D5-5930-032072B7CD2B}"/>
                </a:ext>
              </a:extLst>
            </p:cNvPr>
            <p:cNvSpPr/>
            <p:nvPr/>
          </p:nvSpPr>
          <p:spPr>
            <a:xfrm>
              <a:off x="4029925" y="812700"/>
              <a:ext cx="648525" cy="648600"/>
            </a:xfrm>
            <a:custGeom>
              <a:avLst/>
              <a:gdLst/>
              <a:ahLst/>
              <a:cxnLst/>
              <a:rect l="l" t="t" r="r" b="b"/>
              <a:pathLst>
                <a:path w="25941" h="25944" extrusionOk="0">
                  <a:moveTo>
                    <a:pt x="25941" y="0"/>
                  </a:moveTo>
                  <a:lnTo>
                    <a:pt x="22676" y="3221"/>
                  </a:lnTo>
                  <a:lnTo>
                    <a:pt x="19426" y="6456"/>
                  </a:lnTo>
                  <a:lnTo>
                    <a:pt x="12924" y="12924"/>
                  </a:lnTo>
                  <a:lnTo>
                    <a:pt x="6453" y="19426"/>
                  </a:lnTo>
                  <a:lnTo>
                    <a:pt x="3218" y="22676"/>
                  </a:lnTo>
                  <a:lnTo>
                    <a:pt x="0" y="25943"/>
                  </a:lnTo>
                  <a:lnTo>
                    <a:pt x="0" y="25943"/>
                  </a:lnTo>
                  <a:lnTo>
                    <a:pt x="3265" y="22723"/>
                  </a:lnTo>
                  <a:lnTo>
                    <a:pt x="6517" y="19488"/>
                  </a:lnTo>
                  <a:lnTo>
                    <a:pt x="13017" y="13017"/>
                  </a:lnTo>
                  <a:lnTo>
                    <a:pt x="19488" y="6517"/>
                  </a:lnTo>
                  <a:lnTo>
                    <a:pt x="22720" y="3265"/>
                  </a:lnTo>
                  <a:lnTo>
                    <a:pt x="259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5" name="Google Shape;245;p30">
            <a:extLst>
              <a:ext uri="{FF2B5EF4-FFF2-40B4-BE49-F238E27FC236}">
                <a16:creationId xmlns:a16="http://schemas.microsoft.com/office/drawing/2014/main" id="{6F022C81-9111-ECF9-E020-2734AAB0FA98}"/>
              </a:ext>
            </a:extLst>
          </p:cNvPr>
          <p:cNvSpPr txBox="1">
            <a:spLocks noGrp="1"/>
          </p:cNvSpPr>
          <p:nvPr>
            <p:ph type="title" idx="4294967295"/>
          </p:nvPr>
        </p:nvSpPr>
        <p:spPr>
          <a:xfrm>
            <a:off x="301345" y="1647638"/>
            <a:ext cx="5067093" cy="5718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400" dirty="0">
                <a:solidFill>
                  <a:schemeClr val="lt1"/>
                </a:solidFill>
                <a:latin typeface="Abadi" panose="020F0502020204030204" pitchFamily="34" charset="0"/>
              </a:rPr>
              <a:t>Any Questions?</a:t>
            </a:r>
            <a:endParaRPr sz="5400" dirty="0">
              <a:solidFill>
                <a:schemeClr val="lt1"/>
              </a:solidFill>
              <a:latin typeface="Abadi" panose="020F0502020204030204" pitchFamily="34" charset="0"/>
            </a:endParaRPr>
          </a:p>
        </p:txBody>
      </p:sp>
      <p:sp>
        <p:nvSpPr>
          <p:cNvPr id="246" name="Google Shape;246;p30">
            <a:extLst>
              <a:ext uri="{FF2B5EF4-FFF2-40B4-BE49-F238E27FC236}">
                <a16:creationId xmlns:a16="http://schemas.microsoft.com/office/drawing/2014/main" id="{CAFA1300-AE11-2B83-F4AF-589CCBA58A1A}"/>
              </a:ext>
            </a:extLst>
          </p:cNvPr>
          <p:cNvSpPr txBox="1">
            <a:spLocks noGrp="1"/>
          </p:cNvSpPr>
          <p:nvPr>
            <p:ph type="body" idx="4294967295"/>
          </p:nvPr>
        </p:nvSpPr>
        <p:spPr>
          <a:xfrm>
            <a:off x="635976" y="1119925"/>
            <a:ext cx="7788000" cy="36951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1200"/>
              </a:spcBef>
              <a:spcAft>
                <a:spcPts val="0"/>
              </a:spcAft>
              <a:buClr>
                <a:schemeClr val="accent1"/>
              </a:buClr>
              <a:buSzPts val="1800"/>
              <a:buChar char="●"/>
            </a:pPr>
            <a:endParaRPr>
              <a:solidFill>
                <a:schemeClr val="accent1"/>
              </a:solidFill>
            </a:endParaRPr>
          </a:p>
          <a:p>
            <a:pPr marL="457200" lvl="0" indent="0" algn="l" rtl="0">
              <a:lnSpc>
                <a:spcPct val="100000"/>
              </a:lnSpc>
              <a:spcBef>
                <a:spcPts val="1200"/>
              </a:spcBef>
              <a:spcAft>
                <a:spcPts val="1600"/>
              </a:spcAft>
              <a:buNone/>
            </a:pPr>
            <a:endParaRPr>
              <a:solidFill>
                <a:schemeClr val="accent1"/>
              </a:solidFill>
            </a:endParaRPr>
          </a:p>
        </p:txBody>
      </p:sp>
    </p:spTree>
    <p:extLst>
      <p:ext uri="{BB962C8B-B14F-4D97-AF65-F5344CB8AC3E}">
        <p14:creationId xmlns:p14="http://schemas.microsoft.com/office/powerpoint/2010/main" val="4244464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CE451-547E-401B-FA54-A2727E19BCB8}"/>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9D5C489F-F237-2116-C5A1-BE52B77C34FD}"/>
              </a:ext>
            </a:extLst>
          </p:cNvPr>
          <p:cNvSpPr>
            <a:spLocks noGrp="1"/>
          </p:cNvSpPr>
          <p:nvPr>
            <p:ph type="body" idx="1"/>
          </p:nvPr>
        </p:nvSpPr>
        <p:spPr/>
        <p:txBody>
          <a:bodyPr/>
          <a:lstStyle/>
          <a:p>
            <a:r>
              <a:rPr lang="en-US" i="1" dirty="0">
                <a:effectLst/>
              </a:rPr>
              <a:t>2024 NFL Standings &amp; Team Stats</a:t>
            </a:r>
            <a:r>
              <a:rPr lang="en-US" dirty="0">
                <a:effectLst/>
              </a:rPr>
              <a:t>. Pro. (n.d.). </a:t>
            </a:r>
            <a:r>
              <a:rPr lang="en-US" dirty="0">
                <a:effectLst/>
                <a:hlinkClick r:id="rId2"/>
              </a:rPr>
              <a:t>https://www.pro-football-reference.com/years/2024/#kicking</a:t>
            </a:r>
            <a:r>
              <a:rPr lang="en-US" dirty="0">
                <a:effectLst/>
              </a:rPr>
              <a:t>  </a:t>
            </a:r>
          </a:p>
          <a:p>
            <a:r>
              <a:rPr lang="en-US" dirty="0" err="1"/>
              <a:t>SlidesGo</a:t>
            </a:r>
            <a:r>
              <a:rPr lang="en-US" dirty="0"/>
              <a:t> (Slide Template)</a:t>
            </a:r>
          </a:p>
        </p:txBody>
      </p:sp>
    </p:spTree>
    <p:extLst>
      <p:ext uri="{BB962C8B-B14F-4D97-AF65-F5344CB8AC3E}">
        <p14:creationId xmlns:p14="http://schemas.microsoft.com/office/powerpoint/2010/main" val="261325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727"/>
        <p:cNvGrpSpPr/>
        <p:nvPr/>
      </p:nvGrpSpPr>
      <p:grpSpPr>
        <a:xfrm>
          <a:off x="0" y="0"/>
          <a:ext cx="0" cy="0"/>
          <a:chOff x="0" y="0"/>
          <a:chExt cx="0" cy="0"/>
        </a:xfrm>
      </p:grpSpPr>
      <p:sp>
        <p:nvSpPr>
          <p:cNvPr id="1728" name="Google Shape;1728;p63"/>
          <p:cNvSpPr txBox="1">
            <a:spLocks noGrp="1"/>
          </p:cNvSpPr>
          <p:nvPr>
            <p:ph type="title" idx="4294967295"/>
          </p:nvPr>
        </p:nvSpPr>
        <p:spPr>
          <a:xfrm>
            <a:off x="1048350" y="3238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Instructions for use (</a:t>
            </a:r>
            <a:r>
              <a:rPr lang="en">
                <a:latin typeface="Arial"/>
                <a:ea typeface="Arial"/>
                <a:cs typeface="Arial"/>
                <a:sym typeface="Arial"/>
              </a:rPr>
              <a:t>free users)</a:t>
            </a:r>
            <a:endParaRPr>
              <a:solidFill>
                <a:srgbClr val="FFFFFF"/>
              </a:solidFill>
              <a:latin typeface="Arial"/>
              <a:ea typeface="Arial"/>
              <a:cs typeface="Arial"/>
              <a:sym typeface="Arial"/>
            </a:endParaRPr>
          </a:p>
        </p:txBody>
      </p:sp>
      <p:sp>
        <p:nvSpPr>
          <p:cNvPr id="1729" name="Google Shape;1729;p63"/>
          <p:cNvSpPr txBox="1">
            <a:spLocks noGrp="1"/>
          </p:cNvSpPr>
          <p:nvPr>
            <p:ph type="body" idx="4294967295"/>
          </p:nvPr>
        </p:nvSpPr>
        <p:spPr>
          <a:xfrm>
            <a:off x="1048350" y="690275"/>
            <a:ext cx="7047300" cy="440100"/>
          </a:xfrm>
          <a:prstGeom prst="rect">
            <a:avLst/>
          </a:prstGeom>
        </p:spPr>
        <p:txBody>
          <a:bodyPr spcFirstLastPara="1" wrap="square" lIns="91425" tIns="91425" rIns="91425" bIns="91425" anchor="t" anchorCtr="0">
            <a:noAutofit/>
          </a:bodyPr>
          <a:lstStyle/>
          <a:p>
            <a:pPr marL="0" marR="0" lvl="0" indent="0" algn="l" rtl="0">
              <a:lnSpc>
                <a:spcPct val="115000"/>
              </a:lnSpc>
              <a:spcBef>
                <a:spcPts val="1400"/>
              </a:spcBef>
              <a:spcAft>
                <a:spcPts val="0"/>
              </a:spcAft>
              <a:buNone/>
            </a:pPr>
            <a:r>
              <a:rPr lang="en">
                <a:solidFill>
                  <a:srgbClr val="FFFFFF"/>
                </a:solidFill>
                <a:latin typeface="Arial"/>
                <a:ea typeface="Arial"/>
                <a:cs typeface="Arial"/>
                <a:sym typeface="Arial"/>
              </a:rPr>
              <a:t>In order to use this template, you must credit </a:t>
            </a:r>
            <a:r>
              <a:rPr lang="en" sz="1000" b="1" u="sng">
                <a:solidFill>
                  <a:srgbClr val="869FB2"/>
                </a:solidFill>
                <a:latin typeface="Arial"/>
                <a:ea typeface="Arial"/>
                <a:cs typeface="Arial"/>
                <a:sym typeface="Arial"/>
              </a:rPr>
              <a:t>S</a:t>
            </a:r>
            <a:r>
              <a:rPr lang="en" b="1" u="sng">
                <a:solidFill>
                  <a:srgbClr val="869FB2"/>
                </a:solidFill>
                <a:latin typeface="Arial"/>
                <a:ea typeface="Arial"/>
                <a:cs typeface="Arial"/>
                <a:sym typeface="Arial"/>
                <a:hlinkClick r:id="rId3">
                  <a:extLst>
                    <a:ext uri="{A12FA001-AC4F-418D-AE19-62706E023703}">
                      <ahyp:hlinkClr xmlns:ahyp="http://schemas.microsoft.com/office/drawing/2018/hyperlinkcolor" val="tx"/>
                    </a:ext>
                  </a:extLst>
                </a:hlinkClick>
              </a:rPr>
              <a:t>lidesgo</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by keeping the Thanks slide.</a:t>
            </a:r>
            <a:endParaRPr>
              <a:solidFill>
                <a:srgbClr val="FFFFFF"/>
              </a:solidFill>
              <a:latin typeface="Arial"/>
              <a:ea typeface="Arial"/>
              <a:cs typeface="Arial"/>
              <a:sym typeface="Arial"/>
            </a:endParaRPr>
          </a:p>
          <a:p>
            <a:pPr marL="0" marR="0" lvl="0" indent="0" algn="l" rtl="0">
              <a:lnSpc>
                <a:spcPct val="115000"/>
              </a:lnSpc>
              <a:spcBef>
                <a:spcPts val="1400"/>
              </a:spcBef>
              <a:spcAft>
                <a:spcPts val="0"/>
              </a:spcAft>
              <a:buNone/>
            </a:pPr>
            <a:r>
              <a:rPr lang="en" sz="1000" b="1">
                <a:solidFill>
                  <a:srgbClr val="869FB2"/>
                </a:solidFill>
                <a:latin typeface="Arial"/>
                <a:ea typeface="Arial"/>
                <a:cs typeface="Arial"/>
                <a:sym typeface="Arial"/>
              </a:rPr>
              <a:t>You are allowed to:</a:t>
            </a:r>
            <a:endParaRPr sz="1000" b="1">
              <a:solidFill>
                <a:srgbClr val="869FB2"/>
              </a:solidFill>
              <a:latin typeface="Arial"/>
              <a:ea typeface="Arial"/>
              <a:cs typeface="Arial"/>
              <a:sym typeface="Arial"/>
            </a:endParaRPr>
          </a:p>
          <a:p>
            <a:pPr marL="457200" lvl="0" indent="-292100" algn="l" rtl="0">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Modify this template.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it for both personal and commercial purposes.</a:t>
            </a:r>
            <a:endParaRPr sz="1000">
              <a:solidFill>
                <a:srgbClr val="FFFFFF"/>
              </a:solidFill>
              <a:latin typeface="Arial"/>
              <a:ea typeface="Arial"/>
              <a:cs typeface="Arial"/>
              <a:sym typeface="Arial"/>
            </a:endParaRPr>
          </a:p>
          <a:p>
            <a:pPr marL="0" lvl="0" indent="0" algn="l" rtl="0">
              <a:lnSpc>
                <a:spcPct val="115000"/>
              </a:lnSpc>
              <a:spcBef>
                <a:spcPts val="1400"/>
              </a:spcBef>
              <a:spcAft>
                <a:spcPts val="0"/>
              </a:spcAft>
              <a:buNone/>
            </a:pPr>
            <a:r>
              <a:rPr lang="en" sz="1000" b="1">
                <a:solidFill>
                  <a:srgbClr val="869FB2"/>
                </a:solidFill>
                <a:latin typeface="Arial"/>
                <a:ea typeface="Arial"/>
                <a:cs typeface="Arial"/>
                <a:sym typeface="Arial"/>
              </a:rPr>
              <a:t>You are not allowed to:</a:t>
            </a:r>
            <a:endParaRPr sz="1000" b="1">
              <a:solidFill>
                <a:srgbClr val="869FB2"/>
              </a:solidFill>
              <a:latin typeface="Arial"/>
              <a:ea typeface="Arial"/>
              <a:cs typeface="Arial"/>
              <a:sym typeface="Arial"/>
            </a:endParaRPr>
          </a:p>
          <a:p>
            <a:pPr marL="457200" lvl="0" indent="-292100" algn="l" rtl="0">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Sublicense, sell or rent any of Slidesgo Content (or a modified version of Slidesgo Content).</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any of the elements that are part of this Slidesgo Template in an isolated and separated way from this Template.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Delete the “Thanks” or “Credits” slide.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Register any of the elements that are part of this template as a trademark or logo, or register it as a work in an intellectual property registry or similar.</a:t>
            </a:r>
            <a:endParaRPr sz="1000">
              <a:solidFill>
                <a:srgbClr val="FFFFFF"/>
              </a:solidFill>
              <a:latin typeface="Arial"/>
              <a:ea typeface="Arial"/>
              <a:cs typeface="Arial"/>
              <a:sym typeface="Arial"/>
            </a:endParaRPr>
          </a:p>
          <a:p>
            <a:pPr marL="0" lvl="0" indent="0" algn="l" rtl="0">
              <a:lnSpc>
                <a:spcPct val="115000"/>
              </a:lnSpc>
              <a:spcBef>
                <a:spcPts val="0"/>
              </a:spcBef>
              <a:spcAft>
                <a:spcPts val="0"/>
              </a:spcAft>
              <a:buNone/>
            </a:pPr>
            <a:endParaRPr sz="1000">
              <a:solidFill>
                <a:srgbClr val="FFFFFF"/>
              </a:solidFill>
              <a:latin typeface="Arial"/>
              <a:ea typeface="Arial"/>
              <a:cs typeface="Arial"/>
              <a:sym typeface="Arial"/>
            </a:endParaRPr>
          </a:p>
          <a:p>
            <a:pPr marL="0" lvl="0" indent="0" algn="ctr" rtl="0">
              <a:spcBef>
                <a:spcPts val="0"/>
              </a:spcBef>
              <a:spcAft>
                <a:spcPts val="0"/>
              </a:spcAft>
              <a:buNone/>
            </a:pPr>
            <a:endParaRPr sz="1000">
              <a:solidFill>
                <a:srgbClr val="435D74"/>
              </a:solidFill>
              <a:latin typeface="Arial"/>
              <a:ea typeface="Arial"/>
              <a:cs typeface="Arial"/>
              <a:sym typeface="Arial"/>
            </a:endParaRPr>
          </a:p>
          <a:p>
            <a:pPr marL="0" lvl="0" indent="0" algn="ctr" rtl="0">
              <a:spcBef>
                <a:spcPts val="0"/>
              </a:spcBef>
              <a:spcAft>
                <a:spcPts val="0"/>
              </a:spcAft>
              <a:buNone/>
            </a:pPr>
            <a:endParaRPr sz="1300">
              <a:solidFill>
                <a:srgbClr val="435D74"/>
              </a:solidFill>
              <a:latin typeface="Arial"/>
              <a:ea typeface="Arial"/>
              <a:cs typeface="Arial"/>
              <a:sym typeface="Arial"/>
            </a:endParaRPr>
          </a:p>
          <a:p>
            <a:pPr marL="0" lvl="0" indent="0" algn="l" rtl="0">
              <a:spcBef>
                <a:spcPts val="0"/>
              </a:spcBef>
              <a:spcAft>
                <a:spcPts val="0"/>
              </a:spcAft>
              <a:buNone/>
            </a:pPr>
            <a:endParaRPr sz="1300">
              <a:solidFill>
                <a:srgbClr val="435D74"/>
              </a:solidFill>
              <a:latin typeface="Arial"/>
              <a:ea typeface="Arial"/>
              <a:cs typeface="Arial"/>
              <a:sym typeface="Arial"/>
            </a:endParaRPr>
          </a:p>
        </p:txBody>
      </p:sp>
      <p:sp>
        <p:nvSpPr>
          <p:cNvPr id="1730" name="Google Shape;1730;p63"/>
          <p:cNvSpPr txBox="1"/>
          <p:nvPr/>
        </p:nvSpPr>
        <p:spPr>
          <a:xfrm>
            <a:off x="1048350" y="4314290"/>
            <a:ext cx="7047300" cy="440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rgbClr val="FFFFFF"/>
                </a:solidFill>
              </a:rPr>
              <a:t>For more information about editing slides, please </a:t>
            </a:r>
            <a:r>
              <a:rPr lang="en" sz="900">
                <a:solidFill>
                  <a:srgbClr val="FFFFFF"/>
                </a:solidFill>
              </a:rPr>
              <a:t>read </a:t>
            </a:r>
            <a:r>
              <a:rPr lang="en" sz="1000">
                <a:solidFill>
                  <a:srgbClr val="FFFFFF"/>
                </a:solidFill>
              </a:rPr>
              <a:t>our FAQs or visit Slidesgo School:</a:t>
            </a:r>
            <a:endParaRPr sz="1000">
              <a:solidFill>
                <a:srgbClr val="FFFFFF"/>
              </a:solidFill>
            </a:endParaRPr>
          </a:p>
          <a:p>
            <a:pPr marL="0" lvl="0" indent="0" algn="ctr" rtl="0">
              <a:lnSpc>
                <a:spcPct val="115000"/>
              </a:lnSpc>
              <a:spcBef>
                <a:spcPts val="0"/>
              </a:spcBef>
              <a:spcAft>
                <a:spcPts val="0"/>
              </a:spcAft>
              <a:buNone/>
            </a:pPr>
            <a:r>
              <a:rPr lang="en" sz="1000" u="sng">
                <a:solidFill>
                  <a:srgbClr val="869FB2"/>
                </a:solidFill>
                <a:hlinkClick r:id="rId4">
                  <a:extLst>
                    <a:ext uri="{A12FA001-AC4F-418D-AE19-62706E023703}">
                      <ahyp:hlinkClr xmlns:ahyp="http://schemas.microsoft.com/office/drawing/2018/hyperlinkcolo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xmlns:ahyp="http://schemas.microsoft.com/office/drawing/2018/hyperlinkcolor" val="tx"/>
                    </a:ext>
                  </a:extLst>
                </a:hlinkClick>
              </a:rPr>
              <a:t>https://slidesgo.com/slidesgo-school</a:t>
            </a:r>
            <a:endParaRPr sz="1000" u="sng">
              <a:solidFill>
                <a:srgbClr val="869FB2"/>
              </a:solidFill>
            </a:endParaRPr>
          </a:p>
        </p:txBody>
      </p:sp>
    </p:spTree>
  </p:cSld>
  <p:clrMapOvr>
    <a:masterClrMapping/>
  </p:clrMapOvr>
</p:sld>
</file>

<file path=ppt/theme/theme1.xml><?xml version="1.0" encoding="utf-8"?>
<a:theme xmlns:a="http://schemas.openxmlformats.org/drawingml/2006/main" name="American Football Annual Championship MK Campaign by Slidesgo">
  <a:themeElements>
    <a:clrScheme name="Simple Light">
      <a:dk1>
        <a:srgbClr val="25100B"/>
      </a:dk1>
      <a:lt1>
        <a:srgbClr val="FFFFFF"/>
      </a:lt1>
      <a:dk2>
        <a:srgbClr val="595959"/>
      </a:dk2>
      <a:lt2>
        <a:srgbClr val="EEEEEE"/>
      </a:lt2>
      <a:accent1>
        <a:srgbClr val="1D2C52"/>
      </a:accent1>
      <a:accent2>
        <a:srgbClr val="B85C4F"/>
      </a:accent2>
      <a:accent3>
        <a:srgbClr val="DEAF6B"/>
      </a:accent3>
      <a:accent4>
        <a:srgbClr val="B6D6C7"/>
      </a:accent4>
      <a:accent5>
        <a:srgbClr val="90A364"/>
      </a:accent5>
      <a:accent6>
        <a:srgbClr val="8C463D"/>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1450</TotalTime>
  <Words>1722</Words>
  <Application>Microsoft Office PowerPoint</Application>
  <PresentationFormat>On-screen Show (16:9)</PresentationFormat>
  <Paragraphs>180</Paragraphs>
  <Slides>24</Slides>
  <Notes>21</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24</vt:i4>
      </vt:variant>
    </vt:vector>
  </HeadingPairs>
  <TitlesOfParts>
    <vt:vector size="40" baseType="lpstr">
      <vt:lpstr>Fira Sans Extra Condensed Medium</vt:lpstr>
      <vt:lpstr>Cambria Math</vt:lpstr>
      <vt:lpstr>Big Shoulders Display</vt:lpstr>
      <vt:lpstr>Nunito Sans SemiBold</vt:lpstr>
      <vt:lpstr>Abadi</vt:lpstr>
      <vt:lpstr>Aptos</vt:lpstr>
      <vt:lpstr>Nunito Sans Light</vt:lpstr>
      <vt:lpstr>Arial</vt:lpstr>
      <vt:lpstr>Proxima Nova Semibold</vt:lpstr>
      <vt:lpstr>Roboto Condensed Light</vt:lpstr>
      <vt:lpstr>Cambria</vt:lpstr>
      <vt:lpstr>Nunito Sans</vt:lpstr>
      <vt:lpstr>Proxima Nova</vt:lpstr>
      <vt:lpstr>Nunito Light</vt:lpstr>
      <vt:lpstr>American Football Annual Championship MK Campaign by Slidesgo</vt:lpstr>
      <vt:lpstr>Slidesgo Final Pages</vt:lpstr>
      <vt:lpstr>Bayesian analysis of field goal attempts in American football</vt:lpstr>
      <vt:lpstr>Introduction/Motivation</vt:lpstr>
      <vt:lpstr>Introduction/Motivation</vt:lpstr>
      <vt:lpstr>Methods</vt:lpstr>
      <vt:lpstr>Initial Data</vt:lpstr>
      <vt:lpstr>Modeling Field Goal Attempts &amp; Success</vt:lpstr>
      <vt:lpstr>Modeling Field Goal Attempts &amp; Success</vt:lpstr>
      <vt:lpstr>Modeling Field Goal Attempts &amp; Success</vt:lpstr>
      <vt:lpstr>Modeling Field Goal Attempts &amp; Success</vt:lpstr>
      <vt:lpstr>Modeling Field Goal Attempts &amp; Success</vt:lpstr>
      <vt:lpstr>Modeling Field Goal Attempts &amp; Success</vt:lpstr>
      <vt:lpstr>Modeling Field Goal Attempts &amp; Success</vt:lpstr>
      <vt:lpstr>Modeling Field Goal Attempts &amp; Success</vt:lpstr>
      <vt:lpstr>Modeling Field Goal Attempts &amp; Success</vt:lpstr>
      <vt:lpstr>Important Pseudo-Code</vt:lpstr>
      <vt:lpstr>Important Pseudo-Code</vt:lpstr>
      <vt:lpstr>Results  </vt:lpstr>
      <vt:lpstr>Results  </vt:lpstr>
      <vt:lpstr>Results  </vt:lpstr>
      <vt:lpstr>Discussion</vt:lpstr>
      <vt:lpstr>Limitations</vt:lpstr>
      <vt:lpstr>Any Questions?</vt:lpstr>
      <vt:lpstr>References</vt:lpstr>
      <vt:lpstr>Instructions for use (free users)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Gavin T Murray</cp:lastModifiedBy>
  <cp:revision>6</cp:revision>
  <dcterms:modified xsi:type="dcterms:W3CDTF">2025-05-01T01:52:53Z</dcterms:modified>
</cp:coreProperties>
</file>